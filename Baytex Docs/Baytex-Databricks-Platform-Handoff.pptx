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4"/>
  </p:sldMasterIdLst>
  <p:notesMasterIdLst>
    <p:notesMasterId r:id="rId23"/>
  </p:notesMasterIdLst>
  <p:handoutMasterIdLst>
    <p:handoutMasterId r:id="rId24"/>
  </p:handout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x="12192000" cy="6858000"/>
  <p:notesSz cx="6858000" cy="9144000"/>
  <p:embeddedFontLst>
    <p:embeddedFont>
      <p:font typeface="Consolas" panose="020B0609020204030204" pitchFamily="49" charset="0"/>
      <p:regular r:id="rId25"/>
      <p:bold r:id="rId26"/>
      <p:italic r:id="rId27"/>
      <p:boldItalic r:id="rId28"/>
    </p:embeddedFont>
  </p:embeddedFont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579B9CD-802C-473F-9F97-086834FC461A}">
          <p14:sldIdLst>
            <p14:sldId id="256"/>
          </p14:sldIdLst>
        </p14:section>
        <p14:section name="Platform Overview" id="{7AFCD8F7-7399-481C-94D7-790F79EA6FC9}">
          <p14:sldIdLst>
            <p14:sldId id="257"/>
            <p14:sldId id="258"/>
            <p14:sldId id="259"/>
            <p14:sldId id="260"/>
            <p14:sldId id="261"/>
            <p14:sldId id="262"/>
          </p14:sldIdLst>
        </p14:section>
        <p14:section name="How It Works" id="{6887A50D-2936-4A5F-BDE9-39957CFEC604}">
          <p14:sldIdLst>
            <p14:sldId id="263"/>
            <p14:sldId id="264"/>
            <p14:sldId id="265"/>
            <p14:sldId id="266"/>
            <p14:sldId id="267"/>
            <p14:sldId id="268"/>
            <p14:sldId id="269"/>
          </p14:sldIdLst>
        </p14:section>
        <p14:section name="Handover and Next Steps" id="{A41858FC-A519-4B0C-83E7-D1AE944672E5}">
          <p14:sldIdLst>
            <p14:sldId id="270"/>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CACE4"/>
    <a:srgbClr val="F68D2E"/>
    <a:srgbClr val="9AA338"/>
    <a:srgbClr val="50152C"/>
    <a:srgbClr val="52595F"/>
    <a:srgbClr val="F2CB0A"/>
    <a:srgbClr val="EA4335"/>
    <a:srgbClr val="007DB6"/>
    <a:srgbClr val="231F20"/>
    <a:srgbClr val="2F3C4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2.fntdata"/><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1.fnt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font" Target="fonts/font4.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3.fntdata"/><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0C4F6B0-6A1B-6821-B9E3-98583655B97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a:extLst>
              <a:ext uri="{FF2B5EF4-FFF2-40B4-BE49-F238E27FC236}">
                <a16:creationId xmlns:a16="http://schemas.microsoft.com/office/drawing/2014/main" id="{E6FC3996-7732-9394-5F5C-9E626A5CE7E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A697925-7656-4E7F-9098-4A1AF661C3A6}" type="datetimeFigureOut">
              <a:rPr lang="en-CA" smtClean="0"/>
              <a:t>2026-10-28</a:t>
            </a:fld>
            <a:endParaRPr lang="en-CA"/>
          </a:p>
        </p:txBody>
      </p:sp>
      <p:sp>
        <p:nvSpPr>
          <p:cNvPr id="4" name="Footer Placeholder 3">
            <a:extLst>
              <a:ext uri="{FF2B5EF4-FFF2-40B4-BE49-F238E27FC236}">
                <a16:creationId xmlns:a16="http://schemas.microsoft.com/office/drawing/2014/main" id="{00E3F538-FC26-496D-32DA-8ABAC402B4D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5" name="Slide Number Placeholder 4">
            <a:extLst>
              <a:ext uri="{FF2B5EF4-FFF2-40B4-BE49-F238E27FC236}">
                <a16:creationId xmlns:a16="http://schemas.microsoft.com/office/drawing/2014/main" id="{62458ECF-E384-CC31-0A4D-8E2153AD74E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A082A47-20FF-4F66-B646-86885D1508BB}" type="slidenum">
              <a:rPr lang="en-CA" smtClean="0"/>
              <a:t>‹#›</a:t>
            </a:fld>
            <a:endParaRPr lang="en-CA"/>
          </a:p>
        </p:txBody>
      </p:sp>
    </p:spTree>
    <p:extLst>
      <p:ext uri="{BB962C8B-B14F-4D97-AF65-F5344CB8AC3E}">
        <p14:creationId xmlns:p14="http://schemas.microsoft.com/office/powerpoint/2010/main" val="28989765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805210-3E64-4289-8589-04F19A297A7A}" type="datetimeFigureOut">
              <a:rPr lang="fr-CA" smtClean="0"/>
              <a:t>2026-10-28</a:t>
            </a:fld>
            <a:endParaRPr lang="fr-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E70809-8F3F-483B-8AEB-E027D49EB959}" type="slidenum">
              <a:rPr lang="fr-CA" smtClean="0"/>
              <a:t>‹#›</a:t>
            </a:fld>
            <a:endParaRPr lang="fr-CA"/>
          </a:p>
        </p:txBody>
      </p:sp>
    </p:spTree>
    <p:extLst>
      <p:ext uri="{BB962C8B-B14F-4D97-AF65-F5344CB8AC3E}">
        <p14:creationId xmlns:p14="http://schemas.microsoft.com/office/powerpoint/2010/main" val="2326380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deck summarises the Azure Databricks platform AMTRA built for Baytex with Terraform, as it stands on the main branch: what each environment contains, how traffic flows, how changes are deployed, and who owns each part.</a:t>
            </a:r>
            <a:endParaRPr lang="en-CA"/>
          </a:p>
        </p:txBody>
      </p:sp>
      <p:sp>
        <p:nvSpPr>
          <p:cNvPr id="4" name="Slide Number Placeholder 3"/>
          <p:cNvSpPr>
            <a:spLocks noGrp="1"/>
          </p:cNvSpPr>
          <p:nvPr>
            <p:ph type="sldNum" sz="quarter" idx="5"/>
          </p:nvPr>
        </p:nvSpPr>
        <p:spPr/>
        <p:txBody>
          <a:bodyPr/>
          <a:lstStyle/>
          <a:p>
            <a:fld id="{68E70809-8F3F-483B-8AEB-E027D49EB959}" type="slidenum">
              <a:rPr lang="fr-CA" smtClean="0"/>
              <a:t>1</a:t>
            </a:fld>
            <a:endParaRPr lang="fr-CA"/>
          </a:p>
        </p:txBody>
      </p:sp>
    </p:spTree>
    <p:extLst>
      <p:ext uri="{BB962C8B-B14F-4D97-AF65-F5344CB8AC3E}">
        <p14:creationId xmlns:p14="http://schemas.microsoft.com/office/powerpoint/2010/main" val="37279257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Section 1: what was built, the architecture, the contents of each environment and the address ranges.</a:t>
            </a:r>
            <a:endParaRPr lang="en-CA"/>
          </a:p>
        </p:txBody>
      </p:sp>
      <p:sp>
        <p:nvSpPr>
          <p:cNvPr id="4" name="Slide Number Placeholder 3"/>
          <p:cNvSpPr>
            <a:spLocks noGrp="1"/>
          </p:cNvSpPr>
          <p:nvPr>
            <p:ph type="sldNum" sz="quarter" idx="5"/>
          </p:nvPr>
        </p:nvSpPr>
        <p:spPr/>
        <p:txBody>
          <a:bodyPr/>
          <a:lstStyle/>
          <a:p>
            <a:fld id="{68E70809-8F3F-483B-8AEB-E027D49EB959}" type="slidenum">
              <a:rPr lang="fr-CA" smtClean="0"/>
              <a:t>2</a:t>
            </a:fld>
            <a:endParaRPr lang="fr-CA"/>
          </a:p>
        </p:txBody>
      </p:sp>
    </p:spTree>
    <p:extLst>
      <p:ext uri="{BB962C8B-B14F-4D97-AF65-F5344CB8AC3E}">
        <p14:creationId xmlns:p14="http://schemas.microsoft.com/office/powerpoint/2010/main" val="29235717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Three environments from one codebase. The 13 on-premises databases (6 SQL Server, 7 Oracle) are reachable from serverless compute through the HAProxy tier. Five GitHub Actions workflows cover pull request checks, state backend setup, deploy, destroy and state unlock.</a:t>
            </a:r>
          </a:p>
        </p:txBody>
      </p:sp>
      <p:sp>
        <p:nvSpPr>
          <p:cNvPr id="4" name="Slide Number Placeholder 3"/>
          <p:cNvSpPr>
            <a:spLocks noGrp="1"/>
          </p:cNvSpPr>
          <p:nvPr>
            <p:ph type="sldNum" sz="quarter" idx="5"/>
          </p:nvPr>
        </p:nvSpPr>
        <p:spPr/>
        <p:txBody>
          <a:bodyPr/>
          <a:lstStyle/>
          <a:p>
            <a:fld id="{68E70809-8F3F-483B-8AEB-E027D49EB959}" type="slidenum">
              <a:rPr lang="fr-CA" smtClean="0"/>
              <a:t>3</a:t>
            </a:fld>
            <a:endParaRPr lang="fr-CA"/>
          </a:p>
        </p:txBody>
      </p:sp>
    </p:spTree>
    <p:extLst>
      <p:ext uri="{BB962C8B-B14F-4D97-AF65-F5344CB8AC3E}">
        <p14:creationId xmlns:p14="http://schemas.microsoft.com/office/powerpoint/2010/main" val="34165597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Each environment is its own spoke in its own subscription. Baytex creates the peering to the existing hub, which provides the Cisco firewall, the VPN to on-premises networks and DNS. The Databricks account, the Unity Catalog metastore and serverless compute already exist; each environment adds its own Network Connectivity Configuration (NCC).</a:t>
            </a:r>
            <a:endParaRPr lang="en-CA"/>
          </a:p>
        </p:txBody>
      </p:sp>
      <p:sp>
        <p:nvSpPr>
          <p:cNvPr id="4" name="Slide Number Placeholder 3"/>
          <p:cNvSpPr>
            <a:spLocks noGrp="1"/>
          </p:cNvSpPr>
          <p:nvPr>
            <p:ph type="sldNum" sz="quarter" idx="5"/>
          </p:nvPr>
        </p:nvSpPr>
        <p:spPr/>
        <p:txBody>
          <a:bodyPr/>
          <a:lstStyle/>
          <a:p>
            <a:fld id="{68E70809-8F3F-483B-8AEB-E027D49EB959}" type="slidenum">
              <a:rPr lang="fr-CA" smtClean="0"/>
              <a:t>4</a:t>
            </a:fld>
            <a:endParaRPr lang="fr-CA"/>
          </a:p>
        </p:txBody>
      </p:sp>
    </p:spTree>
    <p:extLst>
      <p:ext uri="{BB962C8B-B14F-4D97-AF65-F5344CB8AC3E}">
        <p14:creationId xmlns:p14="http://schemas.microsoft.com/office/powerpoint/2010/main" val="25668858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One environment in detail; dev, test and prod are identical apart from their address ranges. Classic compute (orange) reaches the internet and the Databricks control plane through the NAT Gateway, and on-premises databases and other spokes through the hub firewall over the VNet peering. Serverless compute (plum) reaches on-premises databases through NCC private endpoints, the Private Link Services and the HAProxy VMs, whose subnet sends all traffic to the firewall. Storage is reached only through private endpoints.</a:t>
            </a:r>
            <a:endParaRPr lang="en-CA"/>
          </a:p>
        </p:txBody>
      </p:sp>
      <p:sp>
        <p:nvSpPr>
          <p:cNvPr id="4" name="Slide Number Placeholder 3"/>
          <p:cNvSpPr>
            <a:spLocks noGrp="1"/>
          </p:cNvSpPr>
          <p:nvPr>
            <p:ph type="sldNum" sz="quarter" idx="5"/>
          </p:nvPr>
        </p:nvSpPr>
        <p:spPr/>
        <p:txBody>
          <a:bodyPr/>
          <a:lstStyle/>
          <a:p>
            <a:fld id="{68E70809-8F3F-483B-8AEB-E027D49EB959}" type="slidenum">
              <a:rPr lang="fr-CA" smtClean="0"/>
              <a:t>5</a:t>
            </a:fld>
            <a:endParaRPr lang="fr-CA"/>
          </a:p>
        </p:txBody>
      </p:sp>
    </p:spTree>
    <p:extLst>
      <p:ext uri="{BB962C8B-B14F-4D97-AF65-F5344CB8AC3E}">
        <p14:creationId xmlns:p14="http://schemas.microsoft.com/office/powerpoint/2010/main" val="157211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Every environment gets the same six building blocks from the same Terraform modules. The two load balancers exist because Azure allows at most 8 Private Link Services per load balancer, and there are 13 databases.</a:t>
            </a:r>
            <a:endParaRPr lang="en-CA"/>
          </a:p>
        </p:txBody>
      </p:sp>
      <p:sp>
        <p:nvSpPr>
          <p:cNvPr id="4" name="Slide Number Placeholder 3"/>
          <p:cNvSpPr>
            <a:spLocks noGrp="1"/>
          </p:cNvSpPr>
          <p:nvPr>
            <p:ph type="sldNum" sz="quarter" idx="5"/>
          </p:nvPr>
        </p:nvSpPr>
        <p:spPr/>
        <p:txBody>
          <a:bodyPr/>
          <a:lstStyle/>
          <a:p>
            <a:fld id="{68E70809-8F3F-483B-8AEB-E027D49EB959}" type="slidenum">
              <a:rPr lang="fr-CA" smtClean="0"/>
              <a:t>6</a:t>
            </a:fld>
            <a:endParaRPr lang="fr-CA"/>
          </a:p>
        </p:txBody>
      </p:sp>
    </p:spTree>
    <p:extLst>
      <p:ext uri="{BB962C8B-B14F-4D97-AF65-F5344CB8AC3E}">
        <p14:creationId xmlns:p14="http://schemas.microsoft.com/office/powerpoint/2010/main" val="35437236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Address ranges are fixed per environment. The values are held in each environment’s terraform.tfvars in the repository.</a:t>
            </a:r>
            <a:endParaRPr lang="en-CA"/>
          </a:p>
        </p:txBody>
      </p:sp>
      <p:sp>
        <p:nvSpPr>
          <p:cNvPr id="4" name="Slide Number Placeholder 3"/>
          <p:cNvSpPr>
            <a:spLocks noGrp="1"/>
          </p:cNvSpPr>
          <p:nvPr>
            <p:ph type="sldNum" sz="quarter" idx="5"/>
          </p:nvPr>
        </p:nvSpPr>
        <p:spPr/>
        <p:txBody>
          <a:bodyPr/>
          <a:lstStyle/>
          <a:p>
            <a:fld id="{68E70809-8F3F-483B-8AEB-E027D49EB959}" type="slidenum">
              <a:rPr lang="fr-CA" smtClean="0"/>
              <a:t>7</a:t>
            </a:fld>
            <a:endParaRPr lang="fr-CA"/>
          </a:p>
        </p:txBody>
      </p:sp>
    </p:spTree>
    <p:extLst>
      <p:ext uri="{BB962C8B-B14F-4D97-AF65-F5344CB8AC3E}">
        <p14:creationId xmlns:p14="http://schemas.microsoft.com/office/powerpoint/2010/main" val="7177539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Section 2: how traffic flows, the security controls, how changes are deployed and how the platform runs day to day.</a:t>
            </a:r>
            <a:endParaRPr lang="en-CA"/>
          </a:p>
        </p:txBody>
      </p:sp>
      <p:sp>
        <p:nvSpPr>
          <p:cNvPr id="4" name="Slide Number Placeholder 3"/>
          <p:cNvSpPr>
            <a:spLocks noGrp="1"/>
          </p:cNvSpPr>
          <p:nvPr>
            <p:ph type="sldNum" sz="quarter" idx="5"/>
          </p:nvPr>
        </p:nvSpPr>
        <p:spPr/>
        <p:txBody>
          <a:bodyPr/>
          <a:lstStyle/>
          <a:p>
            <a:fld id="{68E70809-8F3F-483B-8AEB-E027D49EB959}" type="slidenum">
              <a:rPr lang="fr-CA" smtClean="0"/>
              <a:t>8</a:t>
            </a:fld>
            <a:endParaRPr lang="fr-CA"/>
          </a:p>
        </p:txBody>
      </p:sp>
    </p:spTree>
    <p:extLst>
      <p:ext uri="{BB962C8B-B14F-4D97-AF65-F5344CB8AC3E}">
        <p14:creationId xmlns:p14="http://schemas.microsoft.com/office/powerpoint/2010/main" val="11894612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Classic compute reaches on-premises databases directly through the hub firewall. Serverless compute runs outside the spoke, so it reaches them through the NCC private endpoint, a Private Link Service, the load balancer and HAProxy. Both kinds of compute reach data storage only through private endpoints.</a:t>
            </a:r>
            <a:endParaRPr lang="en-CA"/>
          </a:p>
        </p:txBody>
      </p:sp>
      <p:sp>
        <p:nvSpPr>
          <p:cNvPr id="4" name="Slide Number Placeholder 3"/>
          <p:cNvSpPr>
            <a:spLocks noGrp="1"/>
          </p:cNvSpPr>
          <p:nvPr>
            <p:ph type="sldNum" sz="quarter" idx="5"/>
          </p:nvPr>
        </p:nvSpPr>
        <p:spPr/>
        <p:txBody>
          <a:bodyPr/>
          <a:lstStyle/>
          <a:p>
            <a:fld id="{68E70809-8F3F-483B-8AEB-E027D49EB959}" type="slidenum">
              <a:rPr lang="fr-CA" smtClean="0"/>
              <a:t>9</a:t>
            </a:fld>
            <a:endParaRPr lang="fr-CA"/>
          </a:p>
        </p:txBody>
      </p:sp>
    </p:spTree>
    <p:extLst>
      <p:ext uri="{BB962C8B-B14F-4D97-AF65-F5344CB8AC3E}">
        <p14:creationId xmlns:p14="http://schemas.microsoft.com/office/powerpoint/2010/main" val="22634344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Serverless compute runs in Databricks’ own network, so it reaches on-premises databases through the platform: an NCC private endpoint rule per database, a Private Link Service on one of two internal load balancers (Azure allows 8 per load balancer), and the two HAProxy VMs, which forward through the hub firewall and VPN.</a:t>
            </a:r>
            <a:endParaRPr lang="en-CA"/>
          </a:p>
        </p:txBody>
      </p:sp>
      <p:sp>
        <p:nvSpPr>
          <p:cNvPr id="4" name="Slide Number Placeholder 3"/>
          <p:cNvSpPr>
            <a:spLocks noGrp="1"/>
          </p:cNvSpPr>
          <p:nvPr>
            <p:ph type="sldNum" sz="quarter" idx="5"/>
          </p:nvPr>
        </p:nvSpPr>
        <p:spPr/>
        <p:txBody>
          <a:bodyPr/>
          <a:lstStyle/>
          <a:p>
            <a:fld id="{68E70809-8F3F-483B-8AEB-E027D49EB959}" type="slidenum">
              <a:rPr lang="fr-CA" smtClean="0"/>
              <a:t>10</a:t>
            </a:fld>
            <a:endParaRPr lang="fr-CA"/>
          </a:p>
        </p:txBody>
      </p:sp>
    </p:spTree>
    <p:extLst>
      <p:ext uri="{BB962C8B-B14F-4D97-AF65-F5344CB8AC3E}">
        <p14:creationId xmlns:p14="http://schemas.microsoft.com/office/powerpoint/2010/main" val="3929914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Classic compute reaches the storage account through the spoke private endpoints; serverless compute through NCC private endpoints. Unity Catalog reaches it through the platform’s storage credential, backed by the data Access Connector, and the external location over the unity-catalog container. Both objects are isolated to the environment’s workspace.</a:t>
            </a:r>
            <a:endParaRPr lang="en-CA"/>
          </a:p>
        </p:txBody>
      </p:sp>
      <p:sp>
        <p:nvSpPr>
          <p:cNvPr id="4" name="Slide Number Placeholder 3"/>
          <p:cNvSpPr>
            <a:spLocks noGrp="1"/>
          </p:cNvSpPr>
          <p:nvPr>
            <p:ph type="sldNum" sz="quarter" idx="5"/>
          </p:nvPr>
        </p:nvSpPr>
        <p:spPr/>
        <p:txBody>
          <a:bodyPr/>
          <a:lstStyle/>
          <a:p>
            <a:fld id="{68E70809-8F3F-483B-8AEB-E027D49EB959}" type="slidenum">
              <a:rPr lang="fr-CA" smtClean="0"/>
              <a:t>11</a:t>
            </a:fld>
            <a:endParaRPr lang="fr-CA"/>
          </a:p>
        </p:txBody>
      </p:sp>
    </p:spTree>
    <p:extLst>
      <p:ext uri="{BB962C8B-B14F-4D97-AF65-F5344CB8AC3E}">
        <p14:creationId xmlns:p14="http://schemas.microsoft.com/office/powerpoint/2010/main" val="16785158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Security controls built into every environment by default.</a:t>
            </a:r>
            <a:endParaRPr lang="en-CA"/>
          </a:p>
        </p:txBody>
      </p:sp>
      <p:sp>
        <p:nvSpPr>
          <p:cNvPr id="4" name="Slide Number Placeholder 3"/>
          <p:cNvSpPr>
            <a:spLocks noGrp="1"/>
          </p:cNvSpPr>
          <p:nvPr>
            <p:ph type="sldNum" sz="quarter" idx="5"/>
          </p:nvPr>
        </p:nvSpPr>
        <p:spPr/>
        <p:txBody>
          <a:bodyPr/>
          <a:lstStyle/>
          <a:p>
            <a:fld id="{68E70809-8F3F-483B-8AEB-E027D49EB959}" type="slidenum">
              <a:rPr lang="fr-CA" smtClean="0"/>
              <a:t>12</a:t>
            </a:fld>
            <a:endParaRPr lang="fr-CA"/>
          </a:p>
        </p:txBody>
      </p:sp>
    </p:spTree>
    <p:extLst>
      <p:ext uri="{BB962C8B-B14F-4D97-AF65-F5344CB8AC3E}">
        <p14:creationId xmlns:p14="http://schemas.microsoft.com/office/powerpoint/2010/main" val="36535634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Changes go through the pipelines: a plan, a reviewer’s approval, then an apply that uses exactly the approved plan. Each run uploads its plan, logs and outputs as evidence. After each deploy, the pipeline approves the Databricks private endpoint connections whose names match the NCC rules.</a:t>
            </a:r>
            <a:endParaRPr lang="en-CA"/>
          </a:p>
        </p:txBody>
      </p:sp>
      <p:sp>
        <p:nvSpPr>
          <p:cNvPr id="4" name="Slide Number Placeholder 3"/>
          <p:cNvSpPr>
            <a:spLocks noGrp="1"/>
          </p:cNvSpPr>
          <p:nvPr>
            <p:ph type="sldNum" sz="quarter" idx="5"/>
          </p:nvPr>
        </p:nvSpPr>
        <p:spPr/>
        <p:txBody>
          <a:bodyPr/>
          <a:lstStyle/>
          <a:p>
            <a:fld id="{68E70809-8F3F-483B-8AEB-E027D49EB959}" type="slidenum">
              <a:rPr lang="fr-CA" smtClean="0"/>
              <a:t>13</a:t>
            </a:fld>
            <a:endParaRPr lang="fr-CA"/>
          </a:p>
        </p:txBody>
      </p:sp>
    </p:spTree>
    <p:extLst>
      <p:ext uri="{BB962C8B-B14F-4D97-AF65-F5344CB8AC3E}">
        <p14:creationId xmlns:p14="http://schemas.microsoft.com/office/powerpoint/2010/main" val="34106128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Day-to-day operation. Patching is automatic and staggered, so serverless access to on-premises databases stays up while each VM is updated.</a:t>
            </a:r>
            <a:endParaRPr lang="en-CA"/>
          </a:p>
        </p:txBody>
      </p:sp>
      <p:sp>
        <p:nvSpPr>
          <p:cNvPr id="4" name="Slide Number Placeholder 3"/>
          <p:cNvSpPr>
            <a:spLocks noGrp="1"/>
          </p:cNvSpPr>
          <p:nvPr>
            <p:ph type="sldNum" sz="quarter" idx="5"/>
          </p:nvPr>
        </p:nvSpPr>
        <p:spPr/>
        <p:txBody>
          <a:bodyPr/>
          <a:lstStyle/>
          <a:p>
            <a:fld id="{68E70809-8F3F-483B-8AEB-E027D49EB959}" type="slidenum">
              <a:rPr lang="fr-CA" smtClean="0"/>
              <a:t>14</a:t>
            </a:fld>
            <a:endParaRPr lang="fr-CA"/>
          </a:p>
        </p:txBody>
      </p:sp>
    </p:spTree>
    <p:extLst>
      <p:ext uri="{BB962C8B-B14F-4D97-AF65-F5344CB8AC3E}">
        <p14:creationId xmlns:p14="http://schemas.microsoft.com/office/powerpoint/2010/main" val="11340505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Section 3: who owns each part, the steps Baytex completes, and where the documentation lives.</a:t>
            </a:r>
            <a:endParaRPr lang="en-CA"/>
          </a:p>
        </p:txBody>
      </p:sp>
      <p:sp>
        <p:nvSpPr>
          <p:cNvPr id="4" name="Slide Number Placeholder 3"/>
          <p:cNvSpPr>
            <a:spLocks noGrp="1"/>
          </p:cNvSpPr>
          <p:nvPr>
            <p:ph type="sldNum" sz="quarter" idx="5"/>
          </p:nvPr>
        </p:nvSpPr>
        <p:spPr/>
        <p:txBody>
          <a:bodyPr/>
          <a:lstStyle/>
          <a:p>
            <a:fld id="{68E70809-8F3F-483B-8AEB-E027D49EB959}" type="slidenum">
              <a:rPr lang="fr-CA" smtClean="0"/>
              <a:t>15</a:t>
            </a:fld>
            <a:endParaRPr lang="fr-CA"/>
          </a:p>
        </p:txBody>
      </p:sp>
    </p:spTree>
    <p:extLst>
      <p:ext uri="{BB962C8B-B14F-4D97-AF65-F5344CB8AC3E}">
        <p14:creationId xmlns:p14="http://schemas.microsoft.com/office/powerpoint/2010/main" val="24563241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Ownership boundaries as documented in docs/architecture-and-boundaries.md.</a:t>
            </a:r>
            <a:endParaRPr lang="en-CA"/>
          </a:p>
        </p:txBody>
      </p:sp>
      <p:sp>
        <p:nvSpPr>
          <p:cNvPr id="4" name="Slide Number Placeholder 3"/>
          <p:cNvSpPr>
            <a:spLocks noGrp="1"/>
          </p:cNvSpPr>
          <p:nvPr>
            <p:ph type="sldNum" sz="quarter" idx="5"/>
          </p:nvPr>
        </p:nvSpPr>
        <p:spPr/>
        <p:txBody>
          <a:bodyPr/>
          <a:lstStyle/>
          <a:p>
            <a:fld id="{68E70809-8F3F-483B-8AEB-E027D49EB959}" type="slidenum">
              <a:rPr lang="fr-CA" smtClean="0"/>
              <a:t>16</a:t>
            </a:fld>
            <a:endParaRPr lang="fr-CA"/>
          </a:p>
        </p:txBody>
      </p:sp>
    </p:spTree>
    <p:extLst>
      <p:ext uri="{BB962C8B-B14F-4D97-AF65-F5344CB8AC3E}">
        <p14:creationId xmlns:p14="http://schemas.microsoft.com/office/powerpoint/2010/main" val="29606127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remaining steps Baytex completes for each environment, and where each document lives. The documents are in the docs folder of the repository, and the DR, backup and change control documents are in the Baytex Docs folder.</a:t>
            </a:r>
            <a:endParaRPr lang="en-CA"/>
          </a:p>
        </p:txBody>
      </p:sp>
      <p:sp>
        <p:nvSpPr>
          <p:cNvPr id="4" name="Slide Number Placeholder 3"/>
          <p:cNvSpPr>
            <a:spLocks noGrp="1"/>
          </p:cNvSpPr>
          <p:nvPr>
            <p:ph type="sldNum" sz="quarter" idx="5"/>
          </p:nvPr>
        </p:nvSpPr>
        <p:spPr/>
        <p:txBody>
          <a:bodyPr/>
          <a:lstStyle/>
          <a:p>
            <a:fld id="{68E70809-8F3F-483B-8AEB-E027D49EB959}" type="slidenum">
              <a:rPr lang="fr-CA" smtClean="0"/>
              <a:t>17</a:t>
            </a:fld>
            <a:endParaRPr lang="fr-CA"/>
          </a:p>
        </p:txBody>
      </p:sp>
    </p:spTree>
    <p:extLst>
      <p:ext uri="{BB962C8B-B14F-4D97-AF65-F5344CB8AC3E}">
        <p14:creationId xmlns:p14="http://schemas.microsoft.com/office/powerpoint/2010/main" val="32820021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Questions and discussion.</a:t>
            </a:r>
          </a:p>
        </p:txBody>
      </p:sp>
      <p:sp>
        <p:nvSpPr>
          <p:cNvPr id="4" name="Slide Number Placeholder 3"/>
          <p:cNvSpPr>
            <a:spLocks noGrp="1"/>
          </p:cNvSpPr>
          <p:nvPr>
            <p:ph type="sldNum" sz="quarter" idx="5"/>
          </p:nvPr>
        </p:nvSpPr>
        <p:spPr/>
        <p:txBody>
          <a:bodyPr/>
          <a:lstStyle/>
          <a:p>
            <a:fld id="{68E70809-8F3F-483B-8AEB-E027D49EB959}" type="slidenum">
              <a:rPr lang="fr-CA" smtClean="0"/>
              <a:t>18</a:t>
            </a:fld>
            <a:endParaRPr lang="fr-CA"/>
          </a:p>
        </p:txBody>
      </p:sp>
    </p:spTree>
    <p:extLst>
      <p:ext uri="{BB962C8B-B14F-4D97-AF65-F5344CB8AC3E}">
        <p14:creationId xmlns:p14="http://schemas.microsoft.com/office/powerpoint/2010/main" val="100048354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68DEC00-019F-8777-88CD-02F44620FB9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a:fillRect/>
          </a:stretch>
        </p:blipFill>
        <p:spPr>
          <a:xfrm>
            <a:off x="0" y="0"/>
            <a:ext cx="12192000" cy="6858000"/>
          </a:xfrm>
          <a:prstGeom prst="rect">
            <a:avLst/>
          </a:prstGeom>
        </p:spPr>
      </p:pic>
      <p:sp>
        <p:nvSpPr>
          <p:cNvPr id="3" name="Freeform: Shape 2">
            <a:extLst>
              <a:ext uri="{FF2B5EF4-FFF2-40B4-BE49-F238E27FC236}">
                <a16:creationId xmlns:a16="http://schemas.microsoft.com/office/drawing/2014/main" id="{5747F905-52AF-5F12-4B1C-2641C68F6A2D}"/>
              </a:ext>
            </a:extLst>
          </p:cNvPr>
          <p:cNvSpPr/>
          <p:nvPr userDrawn="1"/>
        </p:nvSpPr>
        <p:spPr>
          <a:xfrm flipV="1">
            <a:off x="1" y="0"/>
            <a:ext cx="6285763" cy="5865507"/>
          </a:xfrm>
          <a:custGeom>
            <a:avLst/>
            <a:gdLst>
              <a:gd name="connsiteX0" fmla="*/ 0 w 6285763"/>
              <a:gd name="connsiteY0" fmla="*/ 5865507 h 5865507"/>
              <a:gd name="connsiteX1" fmla="*/ 6285763 w 6285763"/>
              <a:gd name="connsiteY1" fmla="*/ 5865507 h 5865507"/>
              <a:gd name="connsiteX2" fmla="*/ 6285763 w 6285763"/>
              <a:gd name="connsiteY2" fmla="*/ 1340367 h 5865507"/>
              <a:gd name="connsiteX3" fmla="*/ 6285725 w 6285763"/>
              <a:gd name="connsiteY3" fmla="*/ 1340344 h 5865507"/>
              <a:gd name="connsiteX4" fmla="*/ 6285763 w 6285763"/>
              <a:gd name="connsiteY4" fmla="*/ 1339648 h 5865507"/>
              <a:gd name="connsiteX5" fmla="*/ 4792702 w 6285763"/>
              <a:gd name="connsiteY5" fmla="*/ 0 h 5865507"/>
              <a:gd name="connsiteX6" fmla="*/ 4211536 w 6285763"/>
              <a:gd name="connsiteY6" fmla="*/ 105276 h 5865507"/>
              <a:gd name="connsiteX7" fmla="*/ 4182485 w 6285763"/>
              <a:gd name="connsiteY7" fmla="*/ 117834 h 5865507"/>
              <a:gd name="connsiteX8" fmla="*/ 0 w 6285763"/>
              <a:gd name="connsiteY8" fmla="*/ 1405799 h 5865507"/>
              <a:gd name="connsiteX9" fmla="*/ 0 w 6285763"/>
              <a:gd name="connsiteY9" fmla="*/ 5865507 h 5865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285763" h="5865507">
                <a:moveTo>
                  <a:pt x="0" y="5865507"/>
                </a:moveTo>
                <a:lnTo>
                  <a:pt x="6285763" y="5865507"/>
                </a:lnTo>
                <a:lnTo>
                  <a:pt x="6285763" y="1340367"/>
                </a:lnTo>
                <a:lnTo>
                  <a:pt x="6285725" y="1340344"/>
                </a:lnTo>
                <a:lnTo>
                  <a:pt x="6285763" y="1339648"/>
                </a:lnTo>
                <a:cubicBezTo>
                  <a:pt x="6285763" y="599781"/>
                  <a:pt x="5617297" y="0"/>
                  <a:pt x="4792702" y="0"/>
                </a:cubicBezTo>
                <a:cubicBezTo>
                  <a:pt x="4586555" y="0"/>
                  <a:pt x="4390163" y="37486"/>
                  <a:pt x="4211536" y="105276"/>
                </a:cubicBezTo>
                <a:lnTo>
                  <a:pt x="4182485" y="117834"/>
                </a:lnTo>
                <a:lnTo>
                  <a:pt x="0" y="1405799"/>
                </a:lnTo>
                <a:lnTo>
                  <a:pt x="0" y="5865507"/>
                </a:lnTo>
                <a:close/>
              </a:path>
            </a:pathLst>
          </a:custGeom>
          <a:solidFill>
            <a:srgbClr val="50152C">
              <a:alpha val="91000"/>
            </a:srgbClr>
          </a:solidFill>
          <a:ln>
            <a:noFill/>
          </a:ln>
        </p:spPr>
        <p:txBody>
          <a:bodyPr spcFirstLastPara="1" wrap="square" lIns="60950" tIns="30467" rIns="60950" bIns="30467" anchor="t" anchorCtr="0">
            <a:noAutofit/>
          </a:bodyPr>
          <a:lstStyle/>
          <a:p>
            <a:pPr defTabSz="609630">
              <a:buClr>
                <a:srgbClr val="000000"/>
              </a:buClr>
              <a:buSzPts val="1800"/>
            </a:pPr>
            <a:endParaRPr sz="1200" kern="0">
              <a:solidFill>
                <a:srgbClr val="000000"/>
              </a:solidFill>
              <a:latin typeface="Calibri"/>
              <a:ea typeface="Calibri"/>
              <a:cs typeface="Calibri"/>
              <a:sym typeface="Calibri"/>
            </a:endParaRPr>
          </a:p>
        </p:txBody>
      </p:sp>
      <p:sp>
        <p:nvSpPr>
          <p:cNvPr id="4" name="Freeform: Shape 3">
            <a:extLst>
              <a:ext uri="{FF2B5EF4-FFF2-40B4-BE49-F238E27FC236}">
                <a16:creationId xmlns:a16="http://schemas.microsoft.com/office/drawing/2014/main" id="{9DE042FD-8425-63BB-BD22-3C5FFD080E94}"/>
              </a:ext>
            </a:extLst>
          </p:cNvPr>
          <p:cNvSpPr/>
          <p:nvPr userDrawn="1"/>
        </p:nvSpPr>
        <p:spPr>
          <a:xfrm rot="3973945">
            <a:off x="-91213" y="4526979"/>
            <a:ext cx="2873340" cy="3094469"/>
          </a:xfrm>
          <a:custGeom>
            <a:avLst/>
            <a:gdLst>
              <a:gd name="connsiteX0" fmla="*/ 0 w 2873340"/>
              <a:gd name="connsiteY0" fmla="*/ 2384702 h 3094469"/>
              <a:gd name="connsiteX1" fmla="*/ 1692622 w 2873340"/>
              <a:gd name="connsiteY1" fmla="*/ 295905 h 3094469"/>
              <a:gd name="connsiteX2" fmla="*/ 2870552 w 2873340"/>
              <a:gd name="connsiteY2" fmla="*/ 226553 h 3094469"/>
              <a:gd name="connsiteX3" fmla="*/ 2873340 w 2873340"/>
              <a:gd name="connsiteY3" fmla="*/ 229616 h 3094469"/>
              <a:gd name="connsiteX4" fmla="*/ 1611725 w 2873340"/>
              <a:gd name="connsiteY4" fmla="*/ 3094469 h 3094469"/>
              <a:gd name="connsiteX5" fmla="*/ 0 w 2873340"/>
              <a:gd name="connsiteY5" fmla="*/ 2384702 h 3094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73340" h="3094469">
                <a:moveTo>
                  <a:pt x="0" y="2384702"/>
                </a:moveTo>
                <a:lnTo>
                  <a:pt x="1692622" y="295905"/>
                </a:lnTo>
                <a:cubicBezTo>
                  <a:pt x="1992334" y="-73977"/>
                  <a:pt x="2539864" y="-97094"/>
                  <a:pt x="2870552" y="226553"/>
                </a:cubicBezTo>
                <a:lnTo>
                  <a:pt x="2873340" y="229616"/>
                </a:lnTo>
                <a:lnTo>
                  <a:pt x="1611725" y="3094469"/>
                </a:lnTo>
                <a:lnTo>
                  <a:pt x="0" y="2384702"/>
                </a:lnTo>
                <a:close/>
              </a:path>
            </a:pathLst>
          </a:custGeom>
          <a:gradFill>
            <a:gsLst>
              <a:gs pos="6000">
                <a:srgbClr val="EA4335">
                  <a:alpha val="75000"/>
                </a:srgbClr>
              </a:gs>
              <a:gs pos="94000">
                <a:srgbClr val="F2CB0A">
                  <a:alpha val="50000"/>
                </a:srgbClr>
              </a:gs>
            </a:gsLst>
            <a:lin ang="16800000" scaled="0"/>
          </a:gradFill>
          <a:ln w="36040" cap="flat">
            <a:noFill/>
            <a:prstDash val="solid"/>
            <a:miter/>
          </a:ln>
        </p:spPr>
        <p:txBody>
          <a:bodyPr wrap="square" rtlCol="0" anchor="ctr">
            <a:noAutofit/>
          </a:bodyPr>
          <a:lstStyle/>
          <a:p>
            <a:endParaRPr lang="en-CA"/>
          </a:p>
        </p:txBody>
      </p:sp>
      <p:sp>
        <p:nvSpPr>
          <p:cNvPr id="6" name="Title 1">
            <a:extLst>
              <a:ext uri="{FF2B5EF4-FFF2-40B4-BE49-F238E27FC236}">
                <a16:creationId xmlns:a16="http://schemas.microsoft.com/office/drawing/2014/main" id="{B8732774-59C7-2712-E8A3-42CF9E62851F}"/>
              </a:ext>
            </a:extLst>
          </p:cNvPr>
          <p:cNvSpPr>
            <a:spLocks noGrp="1"/>
          </p:cNvSpPr>
          <p:nvPr>
            <p:ph type="title"/>
          </p:nvPr>
        </p:nvSpPr>
        <p:spPr>
          <a:xfrm>
            <a:off x="881110" y="1678839"/>
            <a:ext cx="4752447" cy="1869479"/>
          </a:xfrm>
          <a:prstGeom prst="rect">
            <a:avLst/>
          </a:prstGeom>
          <a:noFill/>
          <a:ln w="34925">
            <a:noFill/>
          </a:ln>
        </p:spPr>
        <p:txBody>
          <a:bodyPr lIns="0" tIns="0" rIns="0" bIns="0" anchor="b">
            <a:normAutofit/>
          </a:bodyPr>
          <a:lstStyle>
            <a:lvl1pPr algn="r">
              <a:defRPr sz="4000" b="0">
                <a:solidFill>
                  <a:schemeClr val="bg1"/>
                </a:solidFill>
              </a:defRPr>
            </a:lvl1pPr>
          </a:lstStyle>
          <a:p>
            <a:r>
              <a:rPr lang="en-US"/>
              <a:t>Click to edit Master title style</a:t>
            </a:r>
            <a:endParaRPr lang="fr-CA"/>
          </a:p>
        </p:txBody>
      </p:sp>
      <p:sp>
        <p:nvSpPr>
          <p:cNvPr id="8" name="Text Placeholder 2">
            <a:extLst>
              <a:ext uri="{FF2B5EF4-FFF2-40B4-BE49-F238E27FC236}">
                <a16:creationId xmlns:a16="http://schemas.microsoft.com/office/drawing/2014/main" id="{F1736680-56CF-43E3-D637-C6D9BE0273AD}"/>
              </a:ext>
            </a:extLst>
          </p:cNvPr>
          <p:cNvSpPr>
            <a:spLocks noGrp="1"/>
          </p:cNvSpPr>
          <p:nvPr>
            <p:ph type="body" idx="1"/>
          </p:nvPr>
        </p:nvSpPr>
        <p:spPr>
          <a:xfrm>
            <a:off x="881110" y="3919869"/>
            <a:ext cx="4752447" cy="1230995"/>
          </a:xfrm>
        </p:spPr>
        <p:txBody>
          <a:bodyPr lIns="0" tIns="0" rIns="0" bIns="0">
            <a:normAutofit/>
          </a:bodyPr>
          <a:lstStyle>
            <a:lvl1pPr marL="0" indent="0" algn="r">
              <a:buNone/>
              <a:defRPr sz="1800">
                <a:solidFill>
                  <a:schemeClr val="bg1"/>
                </a:solidFill>
                <a:latin typeface="Arial" panose="020B0604020202020204" pitchFamily="34" charset="0"/>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10" name="Graphic 9">
            <a:extLst>
              <a:ext uri="{FF2B5EF4-FFF2-40B4-BE49-F238E27FC236}">
                <a16:creationId xmlns:a16="http://schemas.microsoft.com/office/drawing/2014/main" id="{A24267C0-03AB-43DB-3BF2-34A7E9596E2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086543" y="410681"/>
            <a:ext cx="2671348" cy="1104817"/>
          </a:xfrm>
          <a:prstGeom prst="rect">
            <a:avLst/>
          </a:prstGeom>
        </p:spPr>
      </p:pic>
    </p:spTree>
    <p:extLst>
      <p:ext uri="{BB962C8B-B14F-4D97-AF65-F5344CB8AC3E}">
        <p14:creationId xmlns:p14="http://schemas.microsoft.com/office/powerpoint/2010/main" val="29958456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4_Title Sli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68DEC00-019F-8777-88CD-02F44620FB9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a:fillRect/>
          </a:stretch>
        </p:blipFill>
        <p:spPr>
          <a:xfrm>
            <a:off x="0" y="0"/>
            <a:ext cx="12192000" cy="6858000"/>
          </a:xfrm>
          <a:prstGeom prst="rect">
            <a:avLst/>
          </a:prstGeom>
        </p:spPr>
      </p:pic>
      <p:sp>
        <p:nvSpPr>
          <p:cNvPr id="3" name="Freeform: Shape 2">
            <a:extLst>
              <a:ext uri="{FF2B5EF4-FFF2-40B4-BE49-F238E27FC236}">
                <a16:creationId xmlns:a16="http://schemas.microsoft.com/office/drawing/2014/main" id="{5747F905-52AF-5F12-4B1C-2641C68F6A2D}"/>
              </a:ext>
            </a:extLst>
          </p:cNvPr>
          <p:cNvSpPr/>
          <p:nvPr userDrawn="1"/>
        </p:nvSpPr>
        <p:spPr>
          <a:xfrm flipV="1">
            <a:off x="0" y="-156121"/>
            <a:ext cx="6285763" cy="5865507"/>
          </a:xfrm>
          <a:custGeom>
            <a:avLst/>
            <a:gdLst>
              <a:gd name="connsiteX0" fmla="*/ 0 w 6285763"/>
              <a:gd name="connsiteY0" fmla="*/ 5865507 h 5865507"/>
              <a:gd name="connsiteX1" fmla="*/ 6285763 w 6285763"/>
              <a:gd name="connsiteY1" fmla="*/ 5865507 h 5865507"/>
              <a:gd name="connsiteX2" fmla="*/ 6285763 w 6285763"/>
              <a:gd name="connsiteY2" fmla="*/ 1340367 h 5865507"/>
              <a:gd name="connsiteX3" fmla="*/ 6285725 w 6285763"/>
              <a:gd name="connsiteY3" fmla="*/ 1340344 h 5865507"/>
              <a:gd name="connsiteX4" fmla="*/ 6285763 w 6285763"/>
              <a:gd name="connsiteY4" fmla="*/ 1339648 h 5865507"/>
              <a:gd name="connsiteX5" fmla="*/ 4792702 w 6285763"/>
              <a:gd name="connsiteY5" fmla="*/ 0 h 5865507"/>
              <a:gd name="connsiteX6" fmla="*/ 4211536 w 6285763"/>
              <a:gd name="connsiteY6" fmla="*/ 105276 h 5865507"/>
              <a:gd name="connsiteX7" fmla="*/ 4182485 w 6285763"/>
              <a:gd name="connsiteY7" fmla="*/ 117834 h 5865507"/>
              <a:gd name="connsiteX8" fmla="*/ 0 w 6285763"/>
              <a:gd name="connsiteY8" fmla="*/ 1405799 h 5865507"/>
              <a:gd name="connsiteX9" fmla="*/ 0 w 6285763"/>
              <a:gd name="connsiteY9" fmla="*/ 5865507 h 5865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285763" h="5865507">
                <a:moveTo>
                  <a:pt x="0" y="5865507"/>
                </a:moveTo>
                <a:lnTo>
                  <a:pt x="6285763" y="5865507"/>
                </a:lnTo>
                <a:lnTo>
                  <a:pt x="6285763" y="1340367"/>
                </a:lnTo>
                <a:lnTo>
                  <a:pt x="6285725" y="1340344"/>
                </a:lnTo>
                <a:lnTo>
                  <a:pt x="6285763" y="1339648"/>
                </a:lnTo>
                <a:cubicBezTo>
                  <a:pt x="6285763" y="599781"/>
                  <a:pt x="5617297" y="0"/>
                  <a:pt x="4792702" y="0"/>
                </a:cubicBezTo>
                <a:cubicBezTo>
                  <a:pt x="4586555" y="0"/>
                  <a:pt x="4390163" y="37486"/>
                  <a:pt x="4211536" y="105276"/>
                </a:cubicBezTo>
                <a:lnTo>
                  <a:pt x="4182485" y="117834"/>
                </a:lnTo>
                <a:lnTo>
                  <a:pt x="0" y="1405799"/>
                </a:lnTo>
                <a:lnTo>
                  <a:pt x="0" y="5865507"/>
                </a:lnTo>
                <a:close/>
              </a:path>
            </a:pathLst>
          </a:custGeom>
          <a:solidFill>
            <a:srgbClr val="50152C">
              <a:alpha val="91000"/>
            </a:srgbClr>
          </a:solidFill>
          <a:ln>
            <a:noFill/>
          </a:ln>
        </p:spPr>
        <p:txBody>
          <a:bodyPr spcFirstLastPara="1" wrap="square" lIns="60950" tIns="30467" rIns="60950" bIns="30467" anchor="t" anchorCtr="0">
            <a:noAutofit/>
          </a:bodyPr>
          <a:lstStyle/>
          <a:p>
            <a:pPr defTabSz="609630">
              <a:buClr>
                <a:srgbClr val="000000"/>
              </a:buClr>
              <a:buSzPts val="1800"/>
            </a:pPr>
            <a:endParaRPr sz="1200" kern="0">
              <a:solidFill>
                <a:srgbClr val="000000"/>
              </a:solidFill>
              <a:latin typeface="Calibri"/>
              <a:ea typeface="Calibri"/>
              <a:cs typeface="Calibri"/>
              <a:sym typeface="Calibri"/>
            </a:endParaRPr>
          </a:p>
        </p:txBody>
      </p:sp>
      <p:sp>
        <p:nvSpPr>
          <p:cNvPr id="4" name="Freeform: Shape 3">
            <a:extLst>
              <a:ext uri="{FF2B5EF4-FFF2-40B4-BE49-F238E27FC236}">
                <a16:creationId xmlns:a16="http://schemas.microsoft.com/office/drawing/2014/main" id="{9DE042FD-8425-63BB-BD22-3C5FFD080E94}"/>
              </a:ext>
            </a:extLst>
          </p:cNvPr>
          <p:cNvSpPr/>
          <p:nvPr userDrawn="1"/>
        </p:nvSpPr>
        <p:spPr>
          <a:xfrm rot="3973945">
            <a:off x="-91213" y="4526979"/>
            <a:ext cx="2873340" cy="3094469"/>
          </a:xfrm>
          <a:custGeom>
            <a:avLst/>
            <a:gdLst>
              <a:gd name="connsiteX0" fmla="*/ 0 w 2873340"/>
              <a:gd name="connsiteY0" fmla="*/ 2384702 h 3094469"/>
              <a:gd name="connsiteX1" fmla="*/ 1692622 w 2873340"/>
              <a:gd name="connsiteY1" fmla="*/ 295905 h 3094469"/>
              <a:gd name="connsiteX2" fmla="*/ 2870552 w 2873340"/>
              <a:gd name="connsiteY2" fmla="*/ 226553 h 3094469"/>
              <a:gd name="connsiteX3" fmla="*/ 2873340 w 2873340"/>
              <a:gd name="connsiteY3" fmla="*/ 229616 h 3094469"/>
              <a:gd name="connsiteX4" fmla="*/ 1611725 w 2873340"/>
              <a:gd name="connsiteY4" fmla="*/ 3094469 h 3094469"/>
              <a:gd name="connsiteX5" fmla="*/ 0 w 2873340"/>
              <a:gd name="connsiteY5" fmla="*/ 2384702 h 3094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73340" h="3094469">
                <a:moveTo>
                  <a:pt x="0" y="2384702"/>
                </a:moveTo>
                <a:lnTo>
                  <a:pt x="1692622" y="295905"/>
                </a:lnTo>
                <a:cubicBezTo>
                  <a:pt x="1992334" y="-73977"/>
                  <a:pt x="2539864" y="-97094"/>
                  <a:pt x="2870552" y="226553"/>
                </a:cubicBezTo>
                <a:lnTo>
                  <a:pt x="2873340" y="229616"/>
                </a:lnTo>
                <a:lnTo>
                  <a:pt x="1611725" y="3094469"/>
                </a:lnTo>
                <a:lnTo>
                  <a:pt x="0" y="2384702"/>
                </a:lnTo>
                <a:close/>
              </a:path>
            </a:pathLst>
          </a:custGeom>
          <a:gradFill>
            <a:gsLst>
              <a:gs pos="6000">
                <a:srgbClr val="EA4335">
                  <a:alpha val="75000"/>
                </a:srgbClr>
              </a:gs>
              <a:gs pos="94000">
                <a:srgbClr val="F2CB0A">
                  <a:alpha val="50000"/>
                </a:srgbClr>
              </a:gs>
            </a:gsLst>
            <a:lin ang="16800000" scaled="0"/>
          </a:gradFill>
          <a:ln w="36040" cap="flat">
            <a:noFill/>
            <a:prstDash val="solid"/>
            <a:miter/>
          </a:ln>
        </p:spPr>
        <p:txBody>
          <a:bodyPr wrap="square" rtlCol="0" anchor="ctr">
            <a:noAutofit/>
          </a:bodyPr>
          <a:lstStyle/>
          <a:p>
            <a:endParaRPr lang="en-CA"/>
          </a:p>
        </p:txBody>
      </p:sp>
      <p:sp>
        <p:nvSpPr>
          <p:cNvPr id="6" name="Title 1">
            <a:extLst>
              <a:ext uri="{FF2B5EF4-FFF2-40B4-BE49-F238E27FC236}">
                <a16:creationId xmlns:a16="http://schemas.microsoft.com/office/drawing/2014/main" id="{B8732774-59C7-2712-E8A3-42CF9E62851F}"/>
              </a:ext>
            </a:extLst>
          </p:cNvPr>
          <p:cNvSpPr>
            <a:spLocks noGrp="1"/>
          </p:cNvSpPr>
          <p:nvPr>
            <p:ph type="title"/>
          </p:nvPr>
        </p:nvSpPr>
        <p:spPr>
          <a:xfrm>
            <a:off x="881110" y="1678839"/>
            <a:ext cx="4752447" cy="1869479"/>
          </a:xfrm>
          <a:prstGeom prst="rect">
            <a:avLst/>
          </a:prstGeom>
          <a:noFill/>
          <a:ln w="34925">
            <a:noFill/>
          </a:ln>
        </p:spPr>
        <p:txBody>
          <a:bodyPr lIns="0" tIns="0" rIns="0" bIns="0" anchor="b">
            <a:normAutofit/>
          </a:bodyPr>
          <a:lstStyle>
            <a:lvl1pPr algn="r">
              <a:defRPr sz="4000" b="0">
                <a:solidFill>
                  <a:schemeClr val="bg1"/>
                </a:solidFill>
              </a:defRPr>
            </a:lvl1pPr>
          </a:lstStyle>
          <a:p>
            <a:r>
              <a:rPr lang="en-US"/>
              <a:t>Click to edit Master title style</a:t>
            </a:r>
            <a:endParaRPr lang="fr-CA"/>
          </a:p>
        </p:txBody>
      </p:sp>
      <p:sp>
        <p:nvSpPr>
          <p:cNvPr id="8" name="Text Placeholder 2">
            <a:extLst>
              <a:ext uri="{FF2B5EF4-FFF2-40B4-BE49-F238E27FC236}">
                <a16:creationId xmlns:a16="http://schemas.microsoft.com/office/drawing/2014/main" id="{F1736680-56CF-43E3-D637-C6D9BE0273AD}"/>
              </a:ext>
            </a:extLst>
          </p:cNvPr>
          <p:cNvSpPr>
            <a:spLocks noGrp="1"/>
          </p:cNvSpPr>
          <p:nvPr>
            <p:ph type="body" idx="1"/>
          </p:nvPr>
        </p:nvSpPr>
        <p:spPr>
          <a:xfrm>
            <a:off x="881110" y="3919869"/>
            <a:ext cx="4752447" cy="1230995"/>
          </a:xfrm>
        </p:spPr>
        <p:txBody>
          <a:bodyPr lIns="0" tIns="0" rIns="0" bIns="0">
            <a:normAutofit/>
          </a:bodyPr>
          <a:lstStyle>
            <a:lvl1pPr marL="0" indent="0" algn="r">
              <a:buNone/>
              <a:defRPr sz="1800">
                <a:solidFill>
                  <a:schemeClr val="bg1"/>
                </a:solidFill>
                <a:latin typeface="Arial" panose="020B0604020202020204" pitchFamily="34" charset="0"/>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10" name="Graphic 9">
            <a:extLst>
              <a:ext uri="{FF2B5EF4-FFF2-40B4-BE49-F238E27FC236}">
                <a16:creationId xmlns:a16="http://schemas.microsoft.com/office/drawing/2014/main" id="{A24267C0-03AB-43DB-3BF2-34A7E9596E2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937945" y="528273"/>
            <a:ext cx="1942148" cy="803234"/>
          </a:xfrm>
          <a:prstGeom prst="rect">
            <a:avLst/>
          </a:prstGeom>
        </p:spPr>
      </p:pic>
      <p:grpSp>
        <p:nvGrpSpPr>
          <p:cNvPr id="9" name="Group 4">
            <a:extLst>
              <a:ext uri="{FF2B5EF4-FFF2-40B4-BE49-F238E27FC236}">
                <a16:creationId xmlns:a16="http://schemas.microsoft.com/office/drawing/2014/main" id="{3C763421-ABD8-BB01-DDE0-1E1F188B4FA3}"/>
              </a:ext>
            </a:extLst>
          </p:cNvPr>
          <p:cNvGrpSpPr>
            <a:grpSpLocks noChangeAspect="1"/>
          </p:cNvGrpSpPr>
          <p:nvPr userDrawn="1"/>
        </p:nvGrpSpPr>
        <p:grpSpPr bwMode="auto">
          <a:xfrm>
            <a:off x="4048212" y="725764"/>
            <a:ext cx="1585345" cy="599393"/>
            <a:chOff x="2098" y="1500"/>
            <a:chExt cx="3486" cy="1318"/>
          </a:xfrm>
        </p:grpSpPr>
        <p:sp>
          <p:nvSpPr>
            <p:cNvPr id="24" name="Freeform 5">
              <a:extLst>
                <a:ext uri="{FF2B5EF4-FFF2-40B4-BE49-F238E27FC236}">
                  <a16:creationId xmlns:a16="http://schemas.microsoft.com/office/drawing/2014/main" id="{A7BB7D4F-3C04-3A18-E9B7-DA8EB57722FB}"/>
                </a:ext>
              </a:extLst>
            </p:cNvPr>
            <p:cNvSpPr>
              <a:spLocks/>
            </p:cNvSpPr>
            <p:nvPr userDrawn="1"/>
          </p:nvSpPr>
          <p:spPr bwMode="auto">
            <a:xfrm>
              <a:off x="2098" y="1500"/>
              <a:ext cx="1776" cy="1318"/>
            </a:xfrm>
            <a:custGeom>
              <a:avLst/>
              <a:gdLst>
                <a:gd name="T0" fmla="*/ 654 w 748"/>
                <a:gd name="T1" fmla="*/ 0 h 553"/>
                <a:gd name="T2" fmla="*/ 94 w 748"/>
                <a:gd name="T3" fmla="*/ 0 h 553"/>
                <a:gd name="T4" fmla="*/ 0 w 748"/>
                <a:gd name="T5" fmla="*/ 94 h 553"/>
                <a:gd name="T6" fmla="*/ 0 w 748"/>
                <a:gd name="T7" fmla="*/ 459 h 553"/>
                <a:gd name="T8" fmla="*/ 94 w 748"/>
                <a:gd name="T9" fmla="*/ 553 h 553"/>
                <a:gd name="T10" fmla="*/ 513 w 748"/>
                <a:gd name="T11" fmla="*/ 553 h 553"/>
                <a:gd name="T12" fmla="*/ 527 w 748"/>
                <a:gd name="T13" fmla="*/ 485 h 553"/>
                <a:gd name="T14" fmla="*/ 94 w 748"/>
                <a:gd name="T15" fmla="*/ 485 h 553"/>
                <a:gd name="T16" fmla="*/ 68 w 748"/>
                <a:gd name="T17" fmla="*/ 459 h 553"/>
                <a:gd name="T18" fmla="*/ 68 w 748"/>
                <a:gd name="T19" fmla="*/ 94 h 553"/>
                <a:gd name="T20" fmla="*/ 94 w 748"/>
                <a:gd name="T21" fmla="*/ 68 h 553"/>
                <a:gd name="T22" fmla="*/ 654 w 748"/>
                <a:gd name="T23" fmla="*/ 68 h 553"/>
                <a:gd name="T24" fmla="*/ 680 w 748"/>
                <a:gd name="T25" fmla="*/ 94 h 553"/>
                <a:gd name="T26" fmla="*/ 680 w 748"/>
                <a:gd name="T27" fmla="*/ 459 h 553"/>
                <a:gd name="T28" fmla="*/ 654 w 748"/>
                <a:gd name="T29" fmla="*/ 485 h 553"/>
                <a:gd name="T30" fmla="*/ 595 w 748"/>
                <a:gd name="T31" fmla="*/ 485 h 553"/>
                <a:gd name="T32" fmla="*/ 534 w 748"/>
                <a:gd name="T33" fmla="*/ 553 h 553"/>
                <a:gd name="T34" fmla="*/ 654 w 748"/>
                <a:gd name="T35" fmla="*/ 553 h 553"/>
                <a:gd name="T36" fmla="*/ 748 w 748"/>
                <a:gd name="T37" fmla="*/ 459 h 553"/>
                <a:gd name="T38" fmla="*/ 748 w 748"/>
                <a:gd name="T39" fmla="*/ 94 h 553"/>
                <a:gd name="T40" fmla="*/ 654 w 748"/>
                <a:gd name="T41" fmla="*/ 0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48" h="553">
                  <a:moveTo>
                    <a:pt x="654" y="0"/>
                  </a:moveTo>
                  <a:cubicBezTo>
                    <a:pt x="94" y="0"/>
                    <a:pt x="94" y="0"/>
                    <a:pt x="94" y="0"/>
                  </a:cubicBezTo>
                  <a:cubicBezTo>
                    <a:pt x="42" y="0"/>
                    <a:pt x="0" y="42"/>
                    <a:pt x="0" y="94"/>
                  </a:cubicBezTo>
                  <a:cubicBezTo>
                    <a:pt x="0" y="459"/>
                    <a:pt x="0" y="459"/>
                    <a:pt x="0" y="459"/>
                  </a:cubicBezTo>
                  <a:cubicBezTo>
                    <a:pt x="0" y="511"/>
                    <a:pt x="42" y="553"/>
                    <a:pt x="94" y="553"/>
                  </a:cubicBezTo>
                  <a:cubicBezTo>
                    <a:pt x="513" y="553"/>
                    <a:pt x="513" y="553"/>
                    <a:pt x="513" y="553"/>
                  </a:cubicBezTo>
                  <a:cubicBezTo>
                    <a:pt x="524" y="537"/>
                    <a:pt x="536" y="512"/>
                    <a:pt x="527" y="485"/>
                  </a:cubicBezTo>
                  <a:cubicBezTo>
                    <a:pt x="94" y="485"/>
                    <a:pt x="94" y="485"/>
                    <a:pt x="94" y="485"/>
                  </a:cubicBezTo>
                  <a:cubicBezTo>
                    <a:pt x="80" y="485"/>
                    <a:pt x="68" y="473"/>
                    <a:pt x="68" y="459"/>
                  </a:cubicBezTo>
                  <a:cubicBezTo>
                    <a:pt x="68" y="94"/>
                    <a:pt x="68" y="94"/>
                    <a:pt x="68" y="94"/>
                  </a:cubicBezTo>
                  <a:cubicBezTo>
                    <a:pt x="68" y="80"/>
                    <a:pt x="80" y="68"/>
                    <a:pt x="94" y="68"/>
                  </a:cubicBezTo>
                  <a:cubicBezTo>
                    <a:pt x="654" y="68"/>
                    <a:pt x="654" y="68"/>
                    <a:pt x="654" y="68"/>
                  </a:cubicBezTo>
                  <a:cubicBezTo>
                    <a:pt x="668" y="68"/>
                    <a:pt x="680" y="80"/>
                    <a:pt x="680" y="94"/>
                  </a:cubicBezTo>
                  <a:cubicBezTo>
                    <a:pt x="680" y="459"/>
                    <a:pt x="680" y="459"/>
                    <a:pt x="680" y="459"/>
                  </a:cubicBezTo>
                  <a:cubicBezTo>
                    <a:pt x="680" y="473"/>
                    <a:pt x="669" y="485"/>
                    <a:pt x="654" y="485"/>
                  </a:cubicBezTo>
                  <a:cubicBezTo>
                    <a:pt x="595" y="485"/>
                    <a:pt x="595" y="485"/>
                    <a:pt x="595" y="485"/>
                  </a:cubicBezTo>
                  <a:cubicBezTo>
                    <a:pt x="591" y="502"/>
                    <a:pt x="578" y="528"/>
                    <a:pt x="534" y="553"/>
                  </a:cubicBezTo>
                  <a:cubicBezTo>
                    <a:pt x="654" y="553"/>
                    <a:pt x="654" y="553"/>
                    <a:pt x="654" y="553"/>
                  </a:cubicBezTo>
                  <a:cubicBezTo>
                    <a:pt x="706" y="553"/>
                    <a:pt x="748" y="511"/>
                    <a:pt x="748" y="459"/>
                  </a:cubicBezTo>
                  <a:cubicBezTo>
                    <a:pt x="748" y="94"/>
                    <a:pt x="748" y="94"/>
                    <a:pt x="748" y="94"/>
                  </a:cubicBezTo>
                  <a:cubicBezTo>
                    <a:pt x="748" y="42"/>
                    <a:pt x="706" y="0"/>
                    <a:pt x="654" y="0"/>
                  </a:cubicBezTo>
                </a:path>
              </a:pathLst>
            </a:custGeom>
            <a:solidFill>
              <a:srgbClr val="9BA3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a:p>
          </p:txBody>
        </p:sp>
        <p:sp>
          <p:nvSpPr>
            <p:cNvPr id="25" name="Freeform 6">
              <a:extLst>
                <a:ext uri="{FF2B5EF4-FFF2-40B4-BE49-F238E27FC236}">
                  <a16:creationId xmlns:a16="http://schemas.microsoft.com/office/drawing/2014/main" id="{68E74D34-79FC-FABA-7503-5731AEA6E2E3}"/>
                </a:ext>
              </a:extLst>
            </p:cNvPr>
            <p:cNvSpPr>
              <a:spLocks/>
            </p:cNvSpPr>
            <p:nvPr userDrawn="1"/>
          </p:nvSpPr>
          <p:spPr bwMode="auto">
            <a:xfrm>
              <a:off x="2454" y="1864"/>
              <a:ext cx="335" cy="601"/>
            </a:xfrm>
            <a:custGeom>
              <a:avLst/>
              <a:gdLst>
                <a:gd name="T0" fmla="*/ 335 w 335"/>
                <a:gd name="T1" fmla="*/ 98 h 601"/>
                <a:gd name="T2" fmla="*/ 110 w 335"/>
                <a:gd name="T3" fmla="*/ 98 h 601"/>
                <a:gd name="T4" fmla="*/ 110 w 335"/>
                <a:gd name="T5" fmla="*/ 248 h 601"/>
                <a:gd name="T6" fmla="*/ 300 w 335"/>
                <a:gd name="T7" fmla="*/ 248 h 601"/>
                <a:gd name="T8" fmla="*/ 300 w 335"/>
                <a:gd name="T9" fmla="*/ 341 h 601"/>
                <a:gd name="T10" fmla="*/ 110 w 335"/>
                <a:gd name="T11" fmla="*/ 341 h 601"/>
                <a:gd name="T12" fmla="*/ 110 w 335"/>
                <a:gd name="T13" fmla="*/ 601 h 601"/>
                <a:gd name="T14" fmla="*/ 0 w 335"/>
                <a:gd name="T15" fmla="*/ 601 h 601"/>
                <a:gd name="T16" fmla="*/ 0 w 335"/>
                <a:gd name="T17" fmla="*/ 0 h 601"/>
                <a:gd name="T18" fmla="*/ 335 w 335"/>
                <a:gd name="T19" fmla="*/ 0 h 601"/>
                <a:gd name="T20" fmla="*/ 335 w 335"/>
                <a:gd name="T21" fmla="*/ 98 h 6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35" h="601">
                  <a:moveTo>
                    <a:pt x="335" y="98"/>
                  </a:moveTo>
                  <a:lnTo>
                    <a:pt x="110" y="98"/>
                  </a:lnTo>
                  <a:lnTo>
                    <a:pt x="110" y="248"/>
                  </a:lnTo>
                  <a:lnTo>
                    <a:pt x="300" y="248"/>
                  </a:lnTo>
                  <a:lnTo>
                    <a:pt x="300" y="341"/>
                  </a:lnTo>
                  <a:lnTo>
                    <a:pt x="110" y="341"/>
                  </a:lnTo>
                  <a:lnTo>
                    <a:pt x="110" y="601"/>
                  </a:lnTo>
                  <a:lnTo>
                    <a:pt x="0" y="601"/>
                  </a:lnTo>
                  <a:lnTo>
                    <a:pt x="0" y="0"/>
                  </a:lnTo>
                  <a:lnTo>
                    <a:pt x="335" y="0"/>
                  </a:lnTo>
                  <a:lnTo>
                    <a:pt x="335" y="9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a:p>
          </p:txBody>
        </p:sp>
        <p:sp>
          <p:nvSpPr>
            <p:cNvPr id="26" name="Freeform 7">
              <a:extLst>
                <a:ext uri="{FF2B5EF4-FFF2-40B4-BE49-F238E27FC236}">
                  <a16:creationId xmlns:a16="http://schemas.microsoft.com/office/drawing/2014/main" id="{E34D693F-9346-5520-DED0-756235DB231B}"/>
                </a:ext>
              </a:extLst>
            </p:cNvPr>
            <p:cNvSpPr>
              <a:spLocks/>
            </p:cNvSpPr>
            <p:nvPr userDrawn="1"/>
          </p:nvSpPr>
          <p:spPr bwMode="auto">
            <a:xfrm>
              <a:off x="2856" y="1864"/>
              <a:ext cx="192" cy="601"/>
            </a:xfrm>
            <a:custGeom>
              <a:avLst/>
              <a:gdLst>
                <a:gd name="T0" fmla="*/ 83 w 192"/>
                <a:gd name="T1" fmla="*/ 98 h 601"/>
                <a:gd name="T2" fmla="*/ 0 w 192"/>
                <a:gd name="T3" fmla="*/ 98 h 601"/>
                <a:gd name="T4" fmla="*/ 0 w 192"/>
                <a:gd name="T5" fmla="*/ 0 h 601"/>
                <a:gd name="T6" fmla="*/ 192 w 192"/>
                <a:gd name="T7" fmla="*/ 0 h 601"/>
                <a:gd name="T8" fmla="*/ 192 w 192"/>
                <a:gd name="T9" fmla="*/ 601 h 601"/>
                <a:gd name="T10" fmla="*/ 83 w 192"/>
                <a:gd name="T11" fmla="*/ 601 h 601"/>
                <a:gd name="T12" fmla="*/ 83 w 192"/>
                <a:gd name="T13" fmla="*/ 98 h 601"/>
              </a:gdLst>
              <a:ahLst/>
              <a:cxnLst>
                <a:cxn ang="0">
                  <a:pos x="T0" y="T1"/>
                </a:cxn>
                <a:cxn ang="0">
                  <a:pos x="T2" y="T3"/>
                </a:cxn>
                <a:cxn ang="0">
                  <a:pos x="T4" y="T5"/>
                </a:cxn>
                <a:cxn ang="0">
                  <a:pos x="T6" y="T7"/>
                </a:cxn>
                <a:cxn ang="0">
                  <a:pos x="T8" y="T9"/>
                </a:cxn>
                <a:cxn ang="0">
                  <a:pos x="T10" y="T11"/>
                </a:cxn>
                <a:cxn ang="0">
                  <a:pos x="T12" y="T13"/>
                </a:cxn>
              </a:cxnLst>
              <a:rect l="0" t="0" r="r" b="b"/>
              <a:pathLst>
                <a:path w="192" h="601">
                  <a:moveTo>
                    <a:pt x="83" y="98"/>
                  </a:moveTo>
                  <a:lnTo>
                    <a:pt x="0" y="98"/>
                  </a:lnTo>
                  <a:lnTo>
                    <a:pt x="0" y="0"/>
                  </a:lnTo>
                  <a:lnTo>
                    <a:pt x="192" y="0"/>
                  </a:lnTo>
                  <a:lnTo>
                    <a:pt x="192" y="601"/>
                  </a:lnTo>
                  <a:lnTo>
                    <a:pt x="83" y="601"/>
                  </a:lnTo>
                  <a:lnTo>
                    <a:pt x="83" y="9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a:p>
          </p:txBody>
        </p:sp>
        <p:sp>
          <p:nvSpPr>
            <p:cNvPr id="27" name="Freeform 8">
              <a:extLst>
                <a:ext uri="{FF2B5EF4-FFF2-40B4-BE49-F238E27FC236}">
                  <a16:creationId xmlns:a16="http://schemas.microsoft.com/office/drawing/2014/main" id="{3ACDB244-2567-7CF6-0748-98F4048C6558}"/>
                </a:ext>
              </a:extLst>
            </p:cNvPr>
            <p:cNvSpPr>
              <a:spLocks/>
            </p:cNvSpPr>
            <p:nvPr userDrawn="1"/>
          </p:nvSpPr>
          <p:spPr bwMode="auto">
            <a:xfrm>
              <a:off x="3143" y="1852"/>
              <a:ext cx="409" cy="613"/>
            </a:xfrm>
            <a:custGeom>
              <a:avLst/>
              <a:gdLst>
                <a:gd name="T0" fmla="*/ 115 w 172"/>
                <a:gd name="T1" fmla="*/ 152 h 257"/>
                <a:gd name="T2" fmla="*/ 95 w 172"/>
                <a:gd name="T3" fmla="*/ 166 h 257"/>
                <a:gd name="T4" fmla="*/ 74 w 172"/>
                <a:gd name="T5" fmla="*/ 181 h 257"/>
                <a:gd name="T6" fmla="*/ 58 w 172"/>
                <a:gd name="T7" fmla="*/ 197 h 257"/>
                <a:gd name="T8" fmla="*/ 52 w 172"/>
                <a:gd name="T9" fmla="*/ 216 h 257"/>
                <a:gd name="T10" fmla="*/ 172 w 172"/>
                <a:gd name="T11" fmla="*/ 216 h 257"/>
                <a:gd name="T12" fmla="*/ 172 w 172"/>
                <a:gd name="T13" fmla="*/ 257 h 257"/>
                <a:gd name="T14" fmla="*/ 5 w 172"/>
                <a:gd name="T15" fmla="*/ 257 h 257"/>
                <a:gd name="T16" fmla="*/ 5 w 172"/>
                <a:gd name="T17" fmla="*/ 233 h 257"/>
                <a:gd name="T18" fmla="*/ 10 w 172"/>
                <a:gd name="T19" fmla="*/ 198 h 257"/>
                <a:gd name="T20" fmla="*/ 23 w 172"/>
                <a:gd name="T21" fmla="*/ 171 h 257"/>
                <a:gd name="T22" fmla="*/ 45 w 172"/>
                <a:gd name="T23" fmla="*/ 148 h 257"/>
                <a:gd name="T24" fmla="*/ 75 w 172"/>
                <a:gd name="T25" fmla="*/ 126 h 257"/>
                <a:gd name="T26" fmla="*/ 91 w 172"/>
                <a:gd name="T27" fmla="*/ 115 h 257"/>
                <a:gd name="T28" fmla="*/ 106 w 172"/>
                <a:gd name="T29" fmla="*/ 104 h 257"/>
                <a:gd name="T30" fmla="*/ 118 w 172"/>
                <a:gd name="T31" fmla="*/ 90 h 257"/>
                <a:gd name="T32" fmla="*/ 122 w 172"/>
                <a:gd name="T33" fmla="*/ 72 h 257"/>
                <a:gd name="T34" fmla="*/ 114 w 172"/>
                <a:gd name="T35" fmla="*/ 50 h 257"/>
                <a:gd name="T36" fmla="*/ 87 w 172"/>
                <a:gd name="T37" fmla="*/ 41 h 257"/>
                <a:gd name="T38" fmla="*/ 70 w 172"/>
                <a:gd name="T39" fmla="*/ 44 h 257"/>
                <a:gd name="T40" fmla="*/ 53 w 172"/>
                <a:gd name="T41" fmla="*/ 51 h 257"/>
                <a:gd name="T42" fmla="*/ 38 w 172"/>
                <a:gd name="T43" fmla="*/ 62 h 257"/>
                <a:gd name="T44" fmla="*/ 25 w 172"/>
                <a:gd name="T45" fmla="*/ 74 h 257"/>
                <a:gd name="T46" fmla="*/ 0 w 172"/>
                <a:gd name="T47" fmla="*/ 43 h 257"/>
                <a:gd name="T48" fmla="*/ 38 w 172"/>
                <a:gd name="T49" fmla="*/ 11 h 257"/>
                <a:gd name="T50" fmla="*/ 88 w 172"/>
                <a:gd name="T51" fmla="*/ 0 h 257"/>
                <a:gd name="T52" fmla="*/ 120 w 172"/>
                <a:gd name="T53" fmla="*/ 4 h 257"/>
                <a:gd name="T54" fmla="*/ 146 w 172"/>
                <a:gd name="T55" fmla="*/ 16 h 257"/>
                <a:gd name="T56" fmla="*/ 163 w 172"/>
                <a:gd name="T57" fmla="*/ 37 h 257"/>
                <a:gd name="T58" fmla="*/ 169 w 172"/>
                <a:gd name="T59" fmla="*/ 67 h 257"/>
                <a:gd name="T60" fmla="*/ 166 w 172"/>
                <a:gd name="T61" fmla="*/ 93 h 257"/>
                <a:gd name="T62" fmla="*/ 156 w 172"/>
                <a:gd name="T63" fmla="*/ 114 h 257"/>
                <a:gd name="T64" fmla="*/ 139 w 172"/>
                <a:gd name="T65" fmla="*/ 133 h 257"/>
                <a:gd name="T66" fmla="*/ 115 w 172"/>
                <a:gd name="T67" fmla="*/ 152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72" h="257">
                  <a:moveTo>
                    <a:pt x="115" y="152"/>
                  </a:moveTo>
                  <a:cubicBezTo>
                    <a:pt x="109" y="157"/>
                    <a:pt x="102" y="161"/>
                    <a:pt x="95" y="166"/>
                  </a:cubicBezTo>
                  <a:cubicBezTo>
                    <a:pt x="87" y="171"/>
                    <a:pt x="80" y="176"/>
                    <a:pt x="74" y="181"/>
                  </a:cubicBezTo>
                  <a:cubicBezTo>
                    <a:pt x="68" y="186"/>
                    <a:pt x="62" y="191"/>
                    <a:pt x="58" y="197"/>
                  </a:cubicBezTo>
                  <a:cubicBezTo>
                    <a:pt x="54" y="203"/>
                    <a:pt x="52" y="209"/>
                    <a:pt x="52" y="216"/>
                  </a:cubicBezTo>
                  <a:cubicBezTo>
                    <a:pt x="172" y="216"/>
                    <a:pt x="172" y="216"/>
                    <a:pt x="172" y="216"/>
                  </a:cubicBezTo>
                  <a:cubicBezTo>
                    <a:pt x="172" y="257"/>
                    <a:pt x="172" y="257"/>
                    <a:pt x="172" y="257"/>
                  </a:cubicBezTo>
                  <a:cubicBezTo>
                    <a:pt x="5" y="257"/>
                    <a:pt x="5" y="257"/>
                    <a:pt x="5" y="257"/>
                  </a:cubicBezTo>
                  <a:cubicBezTo>
                    <a:pt x="5" y="233"/>
                    <a:pt x="5" y="233"/>
                    <a:pt x="5" y="233"/>
                  </a:cubicBezTo>
                  <a:cubicBezTo>
                    <a:pt x="5" y="220"/>
                    <a:pt x="7" y="208"/>
                    <a:pt x="10" y="198"/>
                  </a:cubicBezTo>
                  <a:cubicBezTo>
                    <a:pt x="13" y="188"/>
                    <a:pt x="17" y="179"/>
                    <a:pt x="23" y="171"/>
                  </a:cubicBezTo>
                  <a:cubicBezTo>
                    <a:pt x="29" y="163"/>
                    <a:pt x="36" y="155"/>
                    <a:pt x="45" y="148"/>
                  </a:cubicBezTo>
                  <a:cubicBezTo>
                    <a:pt x="54" y="141"/>
                    <a:pt x="63" y="133"/>
                    <a:pt x="75" y="126"/>
                  </a:cubicBezTo>
                  <a:cubicBezTo>
                    <a:pt x="80" y="122"/>
                    <a:pt x="86" y="119"/>
                    <a:pt x="91" y="115"/>
                  </a:cubicBezTo>
                  <a:cubicBezTo>
                    <a:pt x="97" y="112"/>
                    <a:pt x="102" y="108"/>
                    <a:pt x="106" y="104"/>
                  </a:cubicBezTo>
                  <a:cubicBezTo>
                    <a:pt x="111" y="100"/>
                    <a:pt x="115" y="95"/>
                    <a:pt x="118" y="90"/>
                  </a:cubicBezTo>
                  <a:cubicBezTo>
                    <a:pt x="120" y="85"/>
                    <a:pt x="122" y="79"/>
                    <a:pt x="122" y="72"/>
                  </a:cubicBezTo>
                  <a:cubicBezTo>
                    <a:pt x="122" y="63"/>
                    <a:pt x="119" y="56"/>
                    <a:pt x="114" y="50"/>
                  </a:cubicBezTo>
                  <a:cubicBezTo>
                    <a:pt x="108" y="44"/>
                    <a:pt x="99" y="41"/>
                    <a:pt x="87" y="41"/>
                  </a:cubicBezTo>
                  <a:cubicBezTo>
                    <a:pt x="82" y="41"/>
                    <a:pt x="76" y="42"/>
                    <a:pt x="70" y="44"/>
                  </a:cubicBezTo>
                  <a:cubicBezTo>
                    <a:pt x="64" y="46"/>
                    <a:pt x="58" y="48"/>
                    <a:pt x="53" y="51"/>
                  </a:cubicBezTo>
                  <a:cubicBezTo>
                    <a:pt x="47" y="55"/>
                    <a:pt x="42" y="58"/>
                    <a:pt x="38" y="62"/>
                  </a:cubicBezTo>
                  <a:cubicBezTo>
                    <a:pt x="33" y="66"/>
                    <a:pt x="29" y="70"/>
                    <a:pt x="25" y="74"/>
                  </a:cubicBezTo>
                  <a:cubicBezTo>
                    <a:pt x="0" y="43"/>
                    <a:pt x="0" y="43"/>
                    <a:pt x="0" y="43"/>
                  </a:cubicBezTo>
                  <a:cubicBezTo>
                    <a:pt x="10" y="30"/>
                    <a:pt x="23" y="19"/>
                    <a:pt x="38" y="11"/>
                  </a:cubicBezTo>
                  <a:cubicBezTo>
                    <a:pt x="54" y="4"/>
                    <a:pt x="70" y="0"/>
                    <a:pt x="88" y="0"/>
                  </a:cubicBezTo>
                  <a:cubicBezTo>
                    <a:pt x="100" y="0"/>
                    <a:pt x="110" y="1"/>
                    <a:pt x="120" y="4"/>
                  </a:cubicBezTo>
                  <a:cubicBezTo>
                    <a:pt x="130" y="6"/>
                    <a:pt x="139" y="10"/>
                    <a:pt x="146" y="16"/>
                  </a:cubicBezTo>
                  <a:cubicBezTo>
                    <a:pt x="153" y="21"/>
                    <a:pt x="159" y="28"/>
                    <a:pt x="163" y="37"/>
                  </a:cubicBezTo>
                  <a:cubicBezTo>
                    <a:pt x="167" y="45"/>
                    <a:pt x="169" y="55"/>
                    <a:pt x="169" y="67"/>
                  </a:cubicBezTo>
                  <a:cubicBezTo>
                    <a:pt x="169" y="77"/>
                    <a:pt x="168" y="86"/>
                    <a:pt x="166" y="93"/>
                  </a:cubicBezTo>
                  <a:cubicBezTo>
                    <a:pt x="164" y="101"/>
                    <a:pt x="160" y="108"/>
                    <a:pt x="156" y="114"/>
                  </a:cubicBezTo>
                  <a:cubicBezTo>
                    <a:pt x="151" y="121"/>
                    <a:pt x="146" y="127"/>
                    <a:pt x="139" y="133"/>
                  </a:cubicBezTo>
                  <a:cubicBezTo>
                    <a:pt x="132" y="139"/>
                    <a:pt x="124" y="145"/>
                    <a:pt x="115" y="15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a:p>
          </p:txBody>
        </p:sp>
        <p:sp>
          <p:nvSpPr>
            <p:cNvPr id="28" name="Rectangle 9">
              <a:extLst>
                <a:ext uri="{FF2B5EF4-FFF2-40B4-BE49-F238E27FC236}">
                  <a16:creationId xmlns:a16="http://schemas.microsoft.com/office/drawing/2014/main" id="{E5FCCF36-E60D-5BC6-F1C5-6FA990F2DDD4}"/>
                </a:ext>
              </a:extLst>
            </p:cNvPr>
            <p:cNvSpPr>
              <a:spLocks noChangeArrowheads="1"/>
            </p:cNvSpPr>
            <p:nvPr userDrawn="1"/>
          </p:nvSpPr>
          <p:spPr bwMode="auto">
            <a:xfrm>
              <a:off x="3979" y="2327"/>
              <a:ext cx="114" cy="1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a:p>
          </p:txBody>
        </p:sp>
        <p:sp>
          <p:nvSpPr>
            <p:cNvPr id="29" name="Freeform 10">
              <a:extLst>
                <a:ext uri="{FF2B5EF4-FFF2-40B4-BE49-F238E27FC236}">
                  <a16:creationId xmlns:a16="http://schemas.microsoft.com/office/drawing/2014/main" id="{72824A8A-9057-8BD1-6FCD-44B554CE7BE3}"/>
                </a:ext>
              </a:extLst>
            </p:cNvPr>
            <p:cNvSpPr>
              <a:spLocks/>
            </p:cNvSpPr>
            <p:nvPr userDrawn="1"/>
          </p:nvSpPr>
          <p:spPr bwMode="auto">
            <a:xfrm>
              <a:off x="4197" y="1988"/>
              <a:ext cx="392" cy="477"/>
            </a:xfrm>
            <a:custGeom>
              <a:avLst/>
              <a:gdLst>
                <a:gd name="T0" fmla="*/ 0 w 165"/>
                <a:gd name="T1" fmla="*/ 200 h 200"/>
                <a:gd name="T2" fmla="*/ 0 w 165"/>
                <a:gd name="T3" fmla="*/ 5 h 200"/>
                <a:gd name="T4" fmla="*/ 45 w 165"/>
                <a:gd name="T5" fmla="*/ 5 h 200"/>
                <a:gd name="T6" fmla="*/ 45 w 165"/>
                <a:gd name="T7" fmla="*/ 14 h 200"/>
                <a:gd name="T8" fmla="*/ 97 w 165"/>
                <a:gd name="T9" fmla="*/ 0 h 200"/>
                <a:gd name="T10" fmla="*/ 165 w 165"/>
                <a:gd name="T11" fmla="*/ 98 h 200"/>
                <a:gd name="T12" fmla="*/ 165 w 165"/>
                <a:gd name="T13" fmla="*/ 200 h 200"/>
                <a:gd name="T14" fmla="*/ 121 w 165"/>
                <a:gd name="T15" fmla="*/ 200 h 200"/>
                <a:gd name="T16" fmla="*/ 121 w 165"/>
                <a:gd name="T17" fmla="*/ 98 h 200"/>
                <a:gd name="T18" fmla="*/ 89 w 165"/>
                <a:gd name="T19" fmla="*/ 42 h 200"/>
                <a:gd name="T20" fmla="*/ 45 w 165"/>
                <a:gd name="T21" fmla="*/ 51 h 200"/>
                <a:gd name="T22" fmla="*/ 45 w 165"/>
                <a:gd name="T23" fmla="*/ 200 h 200"/>
                <a:gd name="T24" fmla="*/ 0 w 165"/>
                <a:gd name="T25" fmla="*/ 20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5" h="200">
                  <a:moveTo>
                    <a:pt x="0" y="200"/>
                  </a:moveTo>
                  <a:cubicBezTo>
                    <a:pt x="0" y="5"/>
                    <a:pt x="0" y="5"/>
                    <a:pt x="0" y="5"/>
                  </a:cubicBezTo>
                  <a:cubicBezTo>
                    <a:pt x="45" y="5"/>
                    <a:pt x="45" y="5"/>
                    <a:pt x="45" y="5"/>
                  </a:cubicBezTo>
                  <a:cubicBezTo>
                    <a:pt x="45" y="14"/>
                    <a:pt x="45" y="14"/>
                    <a:pt x="45" y="14"/>
                  </a:cubicBezTo>
                  <a:cubicBezTo>
                    <a:pt x="45" y="14"/>
                    <a:pt x="76" y="0"/>
                    <a:pt x="97" y="0"/>
                  </a:cubicBezTo>
                  <a:cubicBezTo>
                    <a:pt x="152" y="0"/>
                    <a:pt x="165" y="32"/>
                    <a:pt x="165" y="98"/>
                  </a:cubicBezTo>
                  <a:cubicBezTo>
                    <a:pt x="165" y="200"/>
                    <a:pt x="165" y="200"/>
                    <a:pt x="165" y="200"/>
                  </a:cubicBezTo>
                  <a:cubicBezTo>
                    <a:pt x="121" y="200"/>
                    <a:pt x="121" y="200"/>
                    <a:pt x="121" y="200"/>
                  </a:cubicBezTo>
                  <a:cubicBezTo>
                    <a:pt x="121" y="98"/>
                    <a:pt x="121" y="98"/>
                    <a:pt x="121" y="98"/>
                  </a:cubicBezTo>
                  <a:cubicBezTo>
                    <a:pt x="121" y="61"/>
                    <a:pt x="116" y="42"/>
                    <a:pt x="89" y="42"/>
                  </a:cubicBezTo>
                  <a:cubicBezTo>
                    <a:pt x="72" y="42"/>
                    <a:pt x="45" y="51"/>
                    <a:pt x="45" y="51"/>
                  </a:cubicBezTo>
                  <a:cubicBezTo>
                    <a:pt x="45" y="200"/>
                    <a:pt x="45" y="200"/>
                    <a:pt x="45" y="200"/>
                  </a:cubicBezTo>
                  <a:cubicBezTo>
                    <a:pt x="0" y="200"/>
                    <a:pt x="0" y="200"/>
                    <a:pt x="0" y="20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a:p>
          </p:txBody>
        </p:sp>
        <p:sp>
          <p:nvSpPr>
            <p:cNvPr id="30" name="Freeform 11">
              <a:extLst>
                <a:ext uri="{FF2B5EF4-FFF2-40B4-BE49-F238E27FC236}">
                  <a16:creationId xmlns:a16="http://schemas.microsoft.com/office/drawing/2014/main" id="{B0CD0B6A-A221-7EF5-C7C0-241A59C53D52}"/>
                </a:ext>
              </a:extLst>
            </p:cNvPr>
            <p:cNvSpPr>
              <a:spLocks noEditPoints="1"/>
            </p:cNvSpPr>
            <p:nvPr userDrawn="1"/>
          </p:nvSpPr>
          <p:spPr bwMode="auto">
            <a:xfrm>
              <a:off x="4668" y="1988"/>
              <a:ext cx="399" cy="487"/>
            </a:xfrm>
            <a:custGeom>
              <a:avLst/>
              <a:gdLst>
                <a:gd name="T0" fmla="*/ 123 w 168"/>
                <a:gd name="T1" fmla="*/ 87 h 204"/>
                <a:gd name="T2" fmla="*/ 84 w 168"/>
                <a:gd name="T3" fmla="*/ 40 h 204"/>
                <a:gd name="T4" fmla="*/ 44 w 168"/>
                <a:gd name="T5" fmla="*/ 87 h 204"/>
                <a:gd name="T6" fmla="*/ 123 w 168"/>
                <a:gd name="T7" fmla="*/ 87 h 204"/>
                <a:gd name="T8" fmla="*/ 160 w 168"/>
                <a:gd name="T9" fmla="*/ 160 h 204"/>
                <a:gd name="T10" fmla="*/ 161 w 168"/>
                <a:gd name="T11" fmla="*/ 195 h 204"/>
                <a:gd name="T12" fmla="*/ 82 w 168"/>
                <a:gd name="T13" fmla="*/ 204 h 204"/>
                <a:gd name="T14" fmla="*/ 0 w 168"/>
                <a:gd name="T15" fmla="*/ 104 h 204"/>
                <a:gd name="T16" fmla="*/ 84 w 168"/>
                <a:gd name="T17" fmla="*/ 0 h 204"/>
                <a:gd name="T18" fmla="*/ 168 w 168"/>
                <a:gd name="T19" fmla="*/ 89 h 204"/>
                <a:gd name="T20" fmla="*/ 164 w 168"/>
                <a:gd name="T21" fmla="*/ 121 h 204"/>
                <a:gd name="T22" fmla="*/ 44 w 168"/>
                <a:gd name="T23" fmla="*/ 121 h 204"/>
                <a:gd name="T24" fmla="*/ 88 w 168"/>
                <a:gd name="T25" fmla="*/ 164 h 204"/>
                <a:gd name="T26" fmla="*/ 160 w 168"/>
                <a:gd name="T27" fmla="*/ 160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8" h="204">
                  <a:moveTo>
                    <a:pt x="123" y="87"/>
                  </a:moveTo>
                  <a:cubicBezTo>
                    <a:pt x="123" y="53"/>
                    <a:pt x="112" y="40"/>
                    <a:pt x="84" y="40"/>
                  </a:cubicBezTo>
                  <a:cubicBezTo>
                    <a:pt x="56" y="40"/>
                    <a:pt x="44" y="54"/>
                    <a:pt x="44" y="87"/>
                  </a:cubicBezTo>
                  <a:cubicBezTo>
                    <a:pt x="123" y="87"/>
                    <a:pt x="123" y="87"/>
                    <a:pt x="123" y="87"/>
                  </a:cubicBezTo>
                  <a:close/>
                  <a:moveTo>
                    <a:pt x="160" y="160"/>
                  </a:moveTo>
                  <a:cubicBezTo>
                    <a:pt x="161" y="195"/>
                    <a:pt x="161" y="195"/>
                    <a:pt x="161" y="195"/>
                  </a:cubicBezTo>
                  <a:cubicBezTo>
                    <a:pt x="161" y="195"/>
                    <a:pt x="116" y="204"/>
                    <a:pt x="82" y="204"/>
                  </a:cubicBezTo>
                  <a:cubicBezTo>
                    <a:pt x="22" y="204"/>
                    <a:pt x="0" y="173"/>
                    <a:pt x="0" y="104"/>
                  </a:cubicBezTo>
                  <a:cubicBezTo>
                    <a:pt x="0" y="36"/>
                    <a:pt x="30" y="0"/>
                    <a:pt x="84" y="0"/>
                  </a:cubicBezTo>
                  <a:cubicBezTo>
                    <a:pt x="139" y="0"/>
                    <a:pt x="168" y="28"/>
                    <a:pt x="168" y="89"/>
                  </a:cubicBezTo>
                  <a:cubicBezTo>
                    <a:pt x="164" y="121"/>
                    <a:pt x="164" y="121"/>
                    <a:pt x="164" y="121"/>
                  </a:cubicBezTo>
                  <a:cubicBezTo>
                    <a:pt x="44" y="121"/>
                    <a:pt x="44" y="121"/>
                    <a:pt x="44" y="121"/>
                  </a:cubicBezTo>
                  <a:cubicBezTo>
                    <a:pt x="45" y="150"/>
                    <a:pt x="56" y="164"/>
                    <a:pt x="88" y="164"/>
                  </a:cubicBezTo>
                  <a:cubicBezTo>
                    <a:pt x="120" y="164"/>
                    <a:pt x="160" y="160"/>
                    <a:pt x="160" y="16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a:p>
          </p:txBody>
        </p:sp>
        <p:sp>
          <p:nvSpPr>
            <p:cNvPr id="31" name="Freeform 12">
              <a:extLst>
                <a:ext uri="{FF2B5EF4-FFF2-40B4-BE49-F238E27FC236}">
                  <a16:creationId xmlns:a16="http://schemas.microsoft.com/office/drawing/2014/main" id="{F44E6714-CF68-A306-3682-4BD2CAA08898}"/>
                </a:ext>
              </a:extLst>
            </p:cNvPr>
            <p:cNvSpPr>
              <a:spLocks/>
            </p:cNvSpPr>
            <p:nvPr userDrawn="1"/>
          </p:nvSpPr>
          <p:spPr bwMode="auto">
            <a:xfrm>
              <a:off x="5105" y="1864"/>
              <a:ext cx="294" cy="613"/>
            </a:xfrm>
            <a:custGeom>
              <a:avLst/>
              <a:gdLst>
                <a:gd name="T0" fmla="*/ 70 w 124"/>
                <a:gd name="T1" fmla="*/ 97 h 257"/>
                <a:gd name="T2" fmla="*/ 70 w 124"/>
                <a:gd name="T3" fmla="*/ 177 h 257"/>
                <a:gd name="T4" fmla="*/ 90 w 124"/>
                <a:gd name="T5" fmla="*/ 214 h 257"/>
                <a:gd name="T6" fmla="*/ 122 w 124"/>
                <a:gd name="T7" fmla="*/ 213 h 257"/>
                <a:gd name="T8" fmla="*/ 124 w 124"/>
                <a:gd name="T9" fmla="*/ 251 h 257"/>
                <a:gd name="T10" fmla="*/ 84 w 124"/>
                <a:gd name="T11" fmla="*/ 257 h 257"/>
                <a:gd name="T12" fmla="*/ 25 w 124"/>
                <a:gd name="T13" fmla="*/ 183 h 257"/>
                <a:gd name="T14" fmla="*/ 25 w 124"/>
                <a:gd name="T15" fmla="*/ 97 h 257"/>
                <a:gd name="T16" fmla="*/ 0 w 124"/>
                <a:gd name="T17" fmla="*/ 97 h 257"/>
                <a:gd name="T18" fmla="*/ 0 w 124"/>
                <a:gd name="T19" fmla="*/ 57 h 257"/>
                <a:gd name="T20" fmla="*/ 25 w 124"/>
                <a:gd name="T21" fmla="*/ 57 h 257"/>
                <a:gd name="T22" fmla="*/ 25 w 124"/>
                <a:gd name="T23" fmla="*/ 0 h 257"/>
                <a:gd name="T24" fmla="*/ 69 w 124"/>
                <a:gd name="T25" fmla="*/ 0 h 257"/>
                <a:gd name="T26" fmla="*/ 69 w 124"/>
                <a:gd name="T27" fmla="*/ 57 h 257"/>
                <a:gd name="T28" fmla="*/ 122 w 124"/>
                <a:gd name="T29" fmla="*/ 57 h 257"/>
                <a:gd name="T30" fmla="*/ 122 w 124"/>
                <a:gd name="T31" fmla="*/ 98 h 257"/>
                <a:gd name="T32" fmla="*/ 70 w 124"/>
                <a:gd name="T33" fmla="*/ 97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4" h="257">
                  <a:moveTo>
                    <a:pt x="70" y="97"/>
                  </a:moveTo>
                  <a:cubicBezTo>
                    <a:pt x="70" y="177"/>
                    <a:pt x="70" y="177"/>
                    <a:pt x="70" y="177"/>
                  </a:cubicBezTo>
                  <a:cubicBezTo>
                    <a:pt x="70" y="204"/>
                    <a:pt x="70" y="214"/>
                    <a:pt x="90" y="214"/>
                  </a:cubicBezTo>
                  <a:cubicBezTo>
                    <a:pt x="101" y="214"/>
                    <a:pt x="122" y="213"/>
                    <a:pt x="122" y="213"/>
                  </a:cubicBezTo>
                  <a:cubicBezTo>
                    <a:pt x="124" y="251"/>
                    <a:pt x="124" y="251"/>
                    <a:pt x="124" y="251"/>
                  </a:cubicBezTo>
                  <a:cubicBezTo>
                    <a:pt x="124" y="251"/>
                    <a:pt x="98" y="257"/>
                    <a:pt x="84" y="257"/>
                  </a:cubicBezTo>
                  <a:cubicBezTo>
                    <a:pt x="39" y="257"/>
                    <a:pt x="25" y="240"/>
                    <a:pt x="25" y="183"/>
                  </a:cubicBezTo>
                  <a:cubicBezTo>
                    <a:pt x="25" y="97"/>
                    <a:pt x="25" y="97"/>
                    <a:pt x="25" y="97"/>
                  </a:cubicBezTo>
                  <a:cubicBezTo>
                    <a:pt x="0" y="97"/>
                    <a:pt x="0" y="97"/>
                    <a:pt x="0" y="97"/>
                  </a:cubicBezTo>
                  <a:cubicBezTo>
                    <a:pt x="0" y="57"/>
                    <a:pt x="0" y="57"/>
                    <a:pt x="0" y="57"/>
                  </a:cubicBezTo>
                  <a:cubicBezTo>
                    <a:pt x="25" y="57"/>
                    <a:pt x="25" y="57"/>
                    <a:pt x="25" y="57"/>
                  </a:cubicBezTo>
                  <a:cubicBezTo>
                    <a:pt x="25" y="0"/>
                    <a:pt x="25" y="0"/>
                    <a:pt x="25" y="0"/>
                  </a:cubicBezTo>
                  <a:cubicBezTo>
                    <a:pt x="69" y="0"/>
                    <a:pt x="69" y="0"/>
                    <a:pt x="69" y="0"/>
                  </a:cubicBezTo>
                  <a:cubicBezTo>
                    <a:pt x="69" y="57"/>
                    <a:pt x="69" y="57"/>
                    <a:pt x="69" y="57"/>
                  </a:cubicBezTo>
                  <a:cubicBezTo>
                    <a:pt x="122" y="57"/>
                    <a:pt x="122" y="57"/>
                    <a:pt x="122" y="57"/>
                  </a:cubicBezTo>
                  <a:cubicBezTo>
                    <a:pt x="122" y="98"/>
                    <a:pt x="122" y="98"/>
                    <a:pt x="122" y="98"/>
                  </a:cubicBezTo>
                  <a:cubicBezTo>
                    <a:pt x="70" y="97"/>
                    <a:pt x="70" y="97"/>
                    <a:pt x="70" y="9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a:p>
          </p:txBody>
        </p:sp>
        <p:sp>
          <p:nvSpPr>
            <p:cNvPr id="32" name="Freeform 13">
              <a:extLst>
                <a:ext uri="{FF2B5EF4-FFF2-40B4-BE49-F238E27FC236}">
                  <a16:creationId xmlns:a16="http://schemas.microsoft.com/office/drawing/2014/main" id="{19D16539-8E14-2DEE-B9A2-85E161F395B3}"/>
                </a:ext>
              </a:extLst>
            </p:cNvPr>
            <p:cNvSpPr>
              <a:spLocks/>
            </p:cNvSpPr>
            <p:nvPr userDrawn="1"/>
          </p:nvSpPr>
          <p:spPr bwMode="auto">
            <a:xfrm>
              <a:off x="5399" y="1762"/>
              <a:ext cx="74" cy="102"/>
            </a:xfrm>
            <a:custGeom>
              <a:avLst/>
              <a:gdLst>
                <a:gd name="T0" fmla="*/ 0 w 74"/>
                <a:gd name="T1" fmla="*/ 0 h 102"/>
                <a:gd name="T2" fmla="*/ 74 w 74"/>
                <a:gd name="T3" fmla="*/ 0 h 102"/>
                <a:gd name="T4" fmla="*/ 74 w 74"/>
                <a:gd name="T5" fmla="*/ 14 h 102"/>
                <a:gd name="T6" fmla="*/ 43 w 74"/>
                <a:gd name="T7" fmla="*/ 14 h 102"/>
                <a:gd name="T8" fmla="*/ 43 w 74"/>
                <a:gd name="T9" fmla="*/ 102 h 102"/>
                <a:gd name="T10" fmla="*/ 29 w 74"/>
                <a:gd name="T11" fmla="*/ 102 h 102"/>
                <a:gd name="T12" fmla="*/ 29 w 74"/>
                <a:gd name="T13" fmla="*/ 14 h 102"/>
                <a:gd name="T14" fmla="*/ 0 w 74"/>
                <a:gd name="T15" fmla="*/ 14 h 102"/>
                <a:gd name="T16" fmla="*/ 0 w 74"/>
                <a:gd name="T17"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102">
                  <a:moveTo>
                    <a:pt x="0" y="0"/>
                  </a:moveTo>
                  <a:lnTo>
                    <a:pt x="74" y="0"/>
                  </a:lnTo>
                  <a:lnTo>
                    <a:pt x="74" y="14"/>
                  </a:lnTo>
                  <a:lnTo>
                    <a:pt x="43" y="14"/>
                  </a:lnTo>
                  <a:lnTo>
                    <a:pt x="43" y="102"/>
                  </a:lnTo>
                  <a:lnTo>
                    <a:pt x="29" y="102"/>
                  </a:lnTo>
                  <a:lnTo>
                    <a:pt x="29" y="14"/>
                  </a:lnTo>
                  <a:lnTo>
                    <a:pt x="0" y="14"/>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a:p>
          </p:txBody>
        </p:sp>
        <p:sp>
          <p:nvSpPr>
            <p:cNvPr id="33" name="Freeform 14">
              <a:extLst>
                <a:ext uri="{FF2B5EF4-FFF2-40B4-BE49-F238E27FC236}">
                  <a16:creationId xmlns:a16="http://schemas.microsoft.com/office/drawing/2014/main" id="{81435044-1A6D-D3CD-C01F-42726724C7A3}"/>
                </a:ext>
              </a:extLst>
            </p:cNvPr>
            <p:cNvSpPr>
              <a:spLocks/>
            </p:cNvSpPr>
            <p:nvPr userDrawn="1"/>
          </p:nvSpPr>
          <p:spPr bwMode="auto">
            <a:xfrm>
              <a:off x="5485" y="1762"/>
              <a:ext cx="99" cy="102"/>
            </a:xfrm>
            <a:custGeom>
              <a:avLst/>
              <a:gdLst>
                <a:gd name="T0" fmla="*/ 76 w 99"/>
                <a:gd name="T1" fmla="*/ 0 h 102"/>
                <a:gd name="T2" fmla="*/ 50 w 99"/>
                <a:gd name="T3" fmla="*/ 83 h 102"/>
                <a:gd name="T4" fmla="*/ 23 w 99"/>
                <a:gd name="T5" fmla="*/ 0 h 102"/>
                <a:gd name="T6" fmla="*/ 0 w 99"/>
                <a:gd name="T7" fmla="*/ 0 h 102"/>
                <a:gd name="T8" fmla="*/ 0 w 99"/>
                <a:gd name="T9" fmla="*/ 102 h 102"/>
                <a:gd name="T10" fmla="*/ 14 w 99"/>
                <a:gd name="T11" fmla="*/ 102 h 102"/>
                <a:gd name="T12" fmla="*/ 14 w 99"/>
                <a:gd name="T13" fmla="*/ 17 h 102"/>
                <a:gd name="T14" fmla="*/ 16 w 99"/>
                <a:gd name="T15" fmla="*/ 17 h 102"/>
                <a:gd name="T16" fmla="*/ 42 w 99"/>
                <a:gd name="T17" fmla="*/ 100 h 102"/>
                <a:gd name="T18" fmla="*/ 57 w 99"/>
                <a:gd name="T19" fmla="*/ 100 h 102"/>
                <a:gd name="T20" fmla="*/ 83 w 99"/>
                <a:gd name="T21" fmla="*/ 17 h 102"/>
                <a:gd name="T22" fmla="*/ 85 w 99"/>
                <a:gd name="T23" fmla="*/ 17 h 102"/>
                <a:gd name="T24" fmla="*/ 85 w 99"/>
                <a:gd name="T25" fmla="*/ 102 h 102"/>
                <a:gd name="T26" fmla="*/ 99 w 99"/>
                <a:gd name="T27" fmla="*/ 102 h 102"/>
                <a:gd name="T28" fmla="*/ 99 w 99"/>
                <a:gd name="T29" fmla="*/ 0 h 102"/>
                <a:gd name="T30" fmla="*/ 76 w 99"/>
                <a:gd name="T31"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9" h="102">
                  <a:moveTo>
                    <a:pt x="76" y="0"/>
                  </a:moveTo>
                  <a:lnTo>
                    <a:pt x="50" y="83"/>
                  </a:lnTo>
                  <a:lnTo>
                    <a:pt x="23" y="0"/>
                  </a:lnTo>
                  <a:lnTo>
                    <a:pt x="0" y="0"/>
                  </a:lnTo>
                  <a:lnTo>
                    <a:pt x="0" y="102"/>
                  </a:lnTo>
                  <a:lnTo>
                    <a:pt x="14" y="102"/>
                  </a:lnTo>
                  <a:lnTo>
                    <a:pt x="14" y="17"/>
                  </a:lnTo>
                  <a:lnTo>
                    <a:pt x="16" y="17"/>
                  </a:lnTo>
                  <a:lnTo>
                    <a:pt x="42" y="100"/>
                  </a:lnTo>
                  <a:lnTo>
                    <a:pt x="57" y="100"/>
                  </a:lnTo>
                  <a:lnTo>
                    <a:pt x="83" y="17"/>
                  </a:lnTo>
                  <a:lnTo>
                    <a:pt x="85" y="17"/>
                  </a:lnTo>
                  <a:lnTo>
                    <a:pt x="85" y="102"/>
                  </a:lnTo>
                  <a:lnTo>
                    <a:pt x="99" y="102"/>
                  </a:lnTo>
                  <a:lnTo>
                    <a:pt x="99" y="0"/>
                  </a:lnTo>
                  <a:lnTo>
                    <a:pt x="7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a:p>
          </p:txBody>
        </p:sp>
      </p:grpSp>
    </p:spTree>
    <p:extLst>
      <p:ext uri="{BB962C8B-B14F-4D97-AF65-F5344CB8AC3E}">
        <p14:creationId xmlns:p14="http://schemas.microsoft.com/office/powerpoint/2010/main" val="20891673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F4C10FB-C85E-8D4A-9D74-EC494B30BE78}"/>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 y="0"/>
            <a:ext cx="12192001" cy="6858000"/>
          </a:xfrm>
          <a:prstGeom prst="rect">
            <a:avLst/>
          </a:prstGeom>
        </p:spPr>
      </p:pic>
      <p:sp>
        <p:nvSpPr>
          <p:cNvPr id="3" name="Freeform: Shape 2">
            <a:extLst>
              <a:ext uri="{FF2B5EF4-FFF2-40B4-BE49-F238E27FC236}">
                <a16:creationId xmlns:a16="http://schemas.microsoft.com/office/drawing/2014/main" id="{21361795-59DE-F91C-0144-3F27D6FB34C9}"/>
              </a:ext>
            </a:extLst>
          </p:cNvPr>
          <p:cNvSpPr/>
          <p:nvPr userDrawn="1"/>
        </p:nvSpPr>
        <p:spPr>
          <a:xfrm flipV="1">
            <a:off x="1" y="1"/>
            <a:ext cx="5742839" cy="5462872"/>
          </a:xfrm>
          <a:custGeom>
            <a:avLst/>
            <a:gdLst>
              <a:gd name="connsiteX0" fmla="*/ 0 w 5742839"/>
              <a:gd name="connsiteY0" fmla="*/ 5462872 h 5462872"/>
              <a:gd name="connsiteX1" fmla="*/ 5742839 w 5742839"/>
              <a:gd name="connsiteY1" fmla="*/ 5462872 h 5462872"/>
              <a:gd name="connsiteX2" fmla="*/ 5742839 w 5742839"/>
              <a:gd name="connsiteY2" fmla="*/ 1340367 h 5462872"/>
              <a:gd name="connsiteX3" fmla="*/ 5742801 w 5742839"/>
              <a:gd name="connsiteY3" fmla="*/ 1340344 h 5462872"/>
              <a:gd name="connsiteX4" fmla="*/ 5742839 w 5742839"/>
              <a:gd name="connsiteY4" fmla="*/ 1339648 h 5462872"/>
              <a:gd name="connsiteX5" fmla="*/ 4249778 w 5742839"/>
              <a:gd name="connsiteY5" fmla="*/ 0 h 5462872"/>
              <a:gd name="connsiteX6" fmla="*/ 3668612 w 5742839"/>
              <a:gd name="connsiteY6" fmla="*/ 105276 h 5462872"/>
              <a:gd name="connsiteX7" fmla="*/ 3639561 w 5742839"/>
              <a:gd name="connsiteY7" fmla="*/ 117834 h 5462872"/>
              <a:gd name="connsiteX8" fmla="*/ 0 w 5742839"/>
              <a:gd name="connsiteY8" fmla="*/ 1238609 h 5462872"/>
              <a:gd name="connsiteX9" fmla="*/ 0 w 5742839"/>
              <a:gd name="connsiteY9" fmla="*/ 5462872 h 5462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742839" h="5462872">
                <a:moveTo>
                  <a:pt x="0" y="5462872"/>
                </a:moveTo>
                <a:lnTo>
                  <a:pt x="5742839" y="5462872"/>
                </a:lnTo>
                <a:lnTo>
                  <a:pt x="5742839" y="1340367"/>
                </a:lnTo>
                <a:lnTo>
                  <a:pt x="5742801" y="1340344"/>
                </a:lnTo>
                <a:lnTo>
                  <a:pt x="5742839" y="1339648"/>
                </a:lnTo>
                <a:cubicBezTo>
                  <a:pt x="5742839" y="599781"/>
                  <a:pt x="5074373" y="0"/>
                  <a:pt x="4249778" y="0"/>
                </a:cubicBezTo>
                <a:cubicBezTo>
                  <a:pt x="4043631" y="0"/>
                  <a:pt x="3847239" y="37486"/>
                  <a:pt x="3668612" y="105276"/>
                </a:cubicBezTo>
                <a:lnTo>
                  <a:pt x="3639561" y="117834"/>
                </a:lnTo>
                <a:lnTo>
                  <a:pt x="0" y="1238609"/>
                </a:lnTo>
                <a:lnTo>
                  <a:pt x="0" y="5462872"/>
                </a:lnTo>
                <a:close/>
              </a:path>
            </a:pathLst>
          </a:custGeom>
          <a:solidFill>
            <a:srgbClr val="50152C">
              <a:alpha val="8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CA">
              <a:latin typeface="Arial" panose="020B0604020202020204" pitchFamily="34" charset="0"/>
            </a:endParaRPr>
          </a:p>
        </p:txBody>
      </p:sp>
      <p:sp>
        <p:nvSpPr>
          <p:cNvPr id="33" name="Freeform: Shape 32">
            <a:extLst>
              <a:ext uri="{FF2B5EF4-FFF2-40B4-BE49-F238E27FC236}">
                <a16:creationId xmlns:a16="http://schemas.microsoft.com/office/drawing/2014/main" id="{7E2738E6-8E28-65C7-9758-3CF96C24D33C}"/>
              </a:ext>
            </a:extLst>
          </p:cNvPr>
          <p:cNvSpPr/>
          <p:nvPr userDrawn="1"/>
        </p:nvSpPr>
        <p:spPr>
          <a:xfrm rot="3973945">
            <a:off x="-91213" y="4526979"/>
            <a:ext cx="2873340" cy="3094469"/>
          </a:xfrm>
          <a:custGeom>
            <a:avLst/>
            <a:gdLst>
              <a:gd name="connsiteX0" fmla="*/ 0 w 2873340"/>
              <a:gd name="connsiteY0" fmla="*/ 2384702 h 3094469"/>
              <a:gd name="connsiteX1" fmla="*/ 1692622 w 2873340"/>
              <a:gd name="connsiteY1" fmla="*/ 295905 h 3094469"/>
              <a:gd name="connsiteX2" fmla="*/ 2870552 w 2873340"/>
              <a:gd name="connsiteY2" fmla="*/ 226553 h 3094469"/>
              <a:gd name="connsiteX3" fmla="*/ 2873340 w 2873340"/>
              <a:gd name="connsiteY3" fmla="*/ 229616 h 3094469"/>
              <a:gd name="connsiteX4" fmla="*/ 1611725 w 2873340"/>
              <a:gd name="connsiteY4" fmla="*/ 3094469 h 3094469"/>
              <a:gd name="connsiteX5" fmla="*/ 0 w 2873340"/>
              <a:gd name="connsiteY5" fmla="*/ 2384702 h 3094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73340" h="3094469">
                <a:moveTo>
                  <a:pt x="0" y="2384702"/>
                </a:moveTo>
                <a:lnTo>
                  <a:pt x="1692622" y="295905"/>
                </a:lnTo>
                <a:cubicBezTo>
                  <a:pt x="1992334" y="-73977"/>
                  <a:pt x="2539864" y="-97094"/>
                  <a:pt x="2870552" y="226553"/>
                </a:cubicBezTo>
                <a:lnTo>
                  <a:pt x="2873340" y="229616"/>
                </a:lnTo>
                <a:lnTo>
                  <a:pt x="1611725" y="3094469"/>
                </a:lnTo>
                <a:lnTo>
                  <a:pt x="0" y="2384702"/>
                </a:lnTo>
                <a:close/>
              </a:path>
            </a:pathLst>
          </a:custGeom>
          <a:gradFill>
            <a:gsLst>
              <a:gs pos="6000">
                <a:srgbClr val="EA4335">
                  <a:alpha val="75000"/>
                </a:srgbClr>
              </a:gs>
              <a:gs pos="94000">
                <a:srgbClr val="F2CB0A">
                  <a:alpha val="50000"/>
                </a:srgbClr>
              </a:gs>
            </a:gsLst>
            <a:lin ang="16800000" scaled="0"/>
          </a:gradFill>
          <a:ln w="36040" cap="flat">
            <a:noFill/>
            <a:prstDash val="solid"/>
            <a:miter/>
          </a:ln>
        </p:spPr>
        <p:txBody>
          <a:bodyPr wrap="square" rtlCol="0" anchor="ctr">
            <a:noAutofit/>
          </a:bodyPr>
          <a:lstStyle/>
          <a:p>
            <a:endParaRPr lang="en-CA">
              <a:latin typeface="Arial" panose="020B0604020202020204" pitchFamily="34" charset="0"/>
            </a:endParaRPr>
          </a:p>
        </p:txBody>
      </p:sp>
      <p:sp>
        <p:nvSpPr>
          <p:cNvPr id="37" name="Title 1">
            <a:extLst>
              <a:ext uri="{FF2B5EF4-FFF2-40B4-BE49-F238E27FC236}">
                <a16:creationId xmlns:a16="http://schemas.microsoft.com/office/drawing/2014/main" id="{16E46F8B-A174-DD1B-6921-C4007C256B3C}"/>
              </a:ext>
            </a:extLst>
          </p:cNvPr>
          <p:cNvSpPr>
            <a:spLocks noGrp="1"/>
          </p:cNvSpPr>
          <p:nvPr>
            <p:ph type="title"/>
          </p:nvPr>
        </p:nvSpPr>
        <p:spPr>
          <a:xfrm>
            <a:off x="420439" y="1549623"/>
            <a:ext cx="4586541" cy="1869479"/>
          </a:xfrm>
          <a:prstGeom prst="rect">
            <a:avLst/>
          </a:prstGeom>
          <a:noFill/>
          <a:ln w="34925">
            <a:noFill/>
          </a:ln>
        </p:spPr>
        <p:txBody>
          <a:bodyPr lIns="0" tIns="0" rIns="0" bIns="0" anchor="b">
            <a:normAutofit/>
          </a:bodyPr>
          <a:lstStyle>
            <a:lvl1pPr algn="r">
              <a:defRPr sz="4000" b="0">
                <a:solidFill>
                  <a:schemeClr val="bg1"/>
                </a:solidFill>
              </a:defRPr>
            </a:lvl1pPr>
          </a:lstStyle>
          <a:p>
            <a:r>
              <a:rPr lang="en-US"/>
              <a:t>Click to edit Master title style</a:t>
            </a:r>
            <a:endParaRPr lang="fr-CA"/>
          </a:p>
        </p:txBody>
      </p:sp>
      <p:sp>
        <p:nvSpPr>
          <p:cNvPr id="38" name="Text Placeholder 2">
            <a:extLst>
              <a:ext uri="{FF2B5EF4-FFF2-40B4-BE49-F238E27FC236}">
                <a16:creationId xmlns:a16="http://schemas.microsoft.com/office/drawing/2014/main" id="{5563D903-F772-67D9-6066-0EA683842168}"/>
              </a:ext>
            </a:extLst>
          </p:cNvPr>
          <p:cNvSpPr>
            <a:spLocks noGrp="1"/>
          </p:cNvSpPr>
          <p:nvPr>
            <p:ph type="body" idx="1"/>
          </p:nvPr>
        </p:nvSpPr>
        <p:spPr>
          <a:xfrm>
            <a:off x="420439" y="3726861"/>
            <a:ext cx="4586541" cy="1230995"/>
          </a:xfrm>
        </p:spPr>
        <p:txBody>
          <a:bodyPr lIns="0" tIns="0" rIns="0" bIns="0">
            <a:normAutofit/>
          </a:bodyPr>
          <a:lstStyle>
            <a:lvl1pPr marL="0" indent="0" algn="r">
              <a:buNone/>
              <a:defRPr sz="1800">
                <a:solidFill>
                  <a:schemeClr val="bg1"/>
                </a:solidFill>
                <a:latin typeface="Arial" panose="020B0604020202020204" pitchFamily="34" charset="0"/>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4" name="Graphic 3">
            <a:extLst>
              <a:ext uri="{FF2B5EF4-FFF2-40B4-BE49-F238E27FC236}">
                <a16:creationId xmlns:a16="http://schemas.microsoft.com/office/drawing/2014/main" id="{68BED65C-4197-C230-72B7-B17138AC10D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45003" y="448972"/>
            <a:ext cx="2287718" cy="946155"/>
          </a:xfrm>
          <a:prstGeom prst="rect">
            <a:avLst/>
          </a:prstGeom>
        </p:spPr>
      </p:pic>
    </p:spTree>
    <p:extLst>
      <p:ext uri="{BB962C8B-B14F-4D97-AF65-F5344CB8AC3E}">
        <p14:creationId xmlns:p14="http://schemas.microsoft.com/office/powerpoint/2010/main" val="19819096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4183264-69CD-E55D-58FF-366D29855A2C}"/>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a:fillRect/>
          </a:stretch>
        </p:blipFill>
        <p:spPr>
          <a:xfrm flipH="1">
            <a:off x="0" y="1190"/>
            <a:ext cx="12192000" cy="6855619"/>
          </a:xfrm>
          <a:prstGeom prst="rect">
            <a:avLst/>
          </a:prstGeom>
        </p:spPr>
      </p:pic>
      <p:sp>
        <p:nvSpPr>
          <p:cNvPr id="3" name="Freeform: Shape 2">
            <a:extLst>
              <a:ext uri="{FF2B5EF4-FFF2-40B4-BE49-F238E27FC236}">
                <a16:creationId xmlns:a16="http://schemas.microsoft.com/office/drawing/2014/main" id="{928749F8-4549-F9A5-7C91-14A61A9EB56B}"/>
              </a:ext>
            </a:extLst>
          </p:cNvPr>
          <p:cNvSpPr/>
          <p:nvPr userDrawn="1"/>
        </p:nvSpPr>
        <p:spPr>
          <a:xfrm rot="5400000" flipV="1">
            <a:off x="6399639" y="-965223"/>
            <a:ext cx="4827136" cy="6757587"/>
          </a:xfrm>
          <a:custGeom>
            <a:avLst/>
            <a:gdLst>
              <a:gd name="connsiteX0" fmla="*/ 0 w 4827136"/>
              <a:gd name="connsiteY0" fmla="*/ 1087530 h 6757587"/>
              <a:gd name="connsiteX1" fmla="*/ 0 w 4827136"/>
              <a:gd name="connsiteY1" fmla="*/ 6038849 h 6757587"/>
              <a:gd name="connsiteX2" fmla="*/ 1 w 4827136"/>
              <a:gd name="connsiteY2" fmla="*/ 6038849 h 6757587"/>
              <a:gd name="connsiteX3" fmla="*/ 1 w 4827136"/>
              <a:gd name="connsiteY3" fmla="*/ 6757587 h 6757587"/>
              <a:gd name="connsiteX4" fmla="*/ 4827136 w 4827136"/>
              <a:gd name="connsiteY4" fmla="*/ 6757587 h 6757587"/>
              <a:gd name="connsiteX5" fmla="*/ 4827136 w 4827136"/>
              <a:gd name="connsiteY5" fmla="*/ 1727956 h 6757587"/>
              <a:gd name="connsiteX6" fmla="*/ 4827135 w 4827136"/>
              <a:gd name="connsiteY6" fmla="*/ 1727956 h 6757587"/>
              <a:gd name="connsiteX7" fmla="*/ 4827135 w 4827136"/>
              <a:gd name="connsiteY7" fmla="*/ 1727433 h 6757587"/>
              <a:gd name="connsiteX8" fmla="*/ 4827136 w 4827136"/>
              <a:gd name="connsiteY8" fmla="*/ 1727414 h 6757587"/>
              <a:gd name="connsiteX9" fmla="*/ 4827135 w 4827136"/>
              <a:gd name="connsiteY9" fmla="*/ 1727396 h 6757587"/>
              <a:gd name="connsiteX10" fmla="*/ 4827135 w 4827136"/>
              <a:gd name="connsiteY10" fmla="*/ 1009218 h 6757587"/>
              <a:gd name="connsiteX11" fmla="*/ 4827106 w 4827136"/>
              <a:gd name="connsiteY11" fmla="*/ 1009200 h 6757587"/>
              <a:gd name="connsiteX12" fmla="*/ 4827135 w 4827136"/>
              <a:gd name="connsiteY12" fmla="*/ 1008676 h 6757587"/>
              <a:gd name="connsiteX13" fmla="*/ 3702948 w 4827136"/>
              <a:gd name="connsiteY13" fmla="*/ 0 h 6757587"/>
              <a:gd name="connsiteX14" fmla="*/ 3265364 w 4827136"/>
              <a:gd name="connsiteY14" fmla="*/ 79267 h 6757587"/>
              <a:gd name="connsiteX15" fmla="*/ 3243490 w 4827136"/>
              <a:gd name="connsiteY15" fmla="*/ 88722 h 6757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827136" h="6757587">
                <a:moveTo>
                  <a:pt x="0" y="1087530"/>
                </a:moveTo>
                <a:lnTo>
                  <a:pt x="0" y="6038849"/>
                </a:lnTo>
                <a:lnTo>
                  <a:pt x="1" y="6038849"/>
                </a:lnTo>
                <a:lnTo>
                  <a:pt x="1" y="6757587"/>
                </a:lnTo>
                <a:lnTo>
                  <a:pt x="4827136" y="6757587"/>
                </a:lnTo>
                <a:lnTo>
                  <a:pt x="4827136" y="1727956"/>
                </a:lnTo>
                <a:lnTo>
                  <a:pt x="4827135" y="1727956"/>
                </a:lnTo>
                <a:lnTo>
                  <a:pt x="4827135" y="1727433"/>
                </a:lnTo>
                <a:lnTo>
                  <a:pt x="4827136" y="1727414"/>
                </a:lnTo>
                <a:lnTo>
                  <a:pt x="4827135" y="1727396"/>
                </a:lnTo>
                <a:lnTo>
                  <a:pt x="4827135" y="1009218"/>
                </a:lnTo>
                <a:lnTo>
                  <a:pt x="4827106" y="1009200"/>
                </a:lnTo>
                <a:lnTo>
                  <a:pt x="4827135" y="1008676"/>
                </a:lnTo>
                <a:cubicBezTo>
                  <a:pt x="4827135" y="451600"/>
                  <a:pt x="4323819" y="0"/>
                  <a:pt x="3702948" y="0"/>
                </a:cubicBezTo>
                <a:cubicBezTo>
                  <a:pt x="3547731" y="0"/>
                  <a:pt x="3399860" y="28225"/>
                  <a:pt x="3265364" y="79267"/>
                </a:cubicBezTo>
                <a:lnTo>
                  <a:pt x="3243490" y="88722"/>
                </a:lnTo>
                <a:close/>
              </a:path>
            </a:pathLst>
          </a:custGeom>
          <a:solidFill>
            <a:srgbClr val="50152C">
              <a:alpha val="92000"/>
            </a:srgbClr>
          </a:solidFill>
          <a:ln>
            <a:noFill/>
          </a:ln>
        </p:spPr>
        <p:txBody>
          <a:bodyPr spcFirstLastPara="1" wrap="square" lIns="60950" tIns="30467" rIns="60950" bIns="30467" anchor="t" anchorCtr="0">
            <a:noAutofit/>
          </a:bodyPr>
          <a:lstStyle/>
          <a:p>
            <a:pPr defTabSz="609630">
              <a:buClr>
                <a:srgbClr val="000000"/>
              </a:buClr>
              <a:buSzPts val="1800"/>
            </a:pPr>
            <a:endParaRPr sz="1200" kern="0">
              <a:solidFill>
                <a:srgbClr val="000000"/>
              </a:solidFill>
              <a:latin typeface="Arial" panose="020B0604020202020204" pitchFamily="34" charset="0"/>
              <a:ea typeface="Calibri"/>
              <a:cs typeface="Arial" panose="020B0604020202020204" pitchFamily="34" charset="0"/>
              <a:sym typeface="Calibri"/>
            </a:endParaRPr>
          </a:p>
        </p:txBody>
      </p:sp>
      <p:sp>
        <p:nvSpPr>
          <p:cNvPr id="4" name="Freeform: Shape 3">
            <a:extLst>
              <a:ext uri="{FF2B5EF4-FFF2-40B4-BE49-F238E27FC236}">
                <a16:creationId xmlns:a16="http://schemas.microsoft.com/office/drawing/2014/main" id="{859C935B-CF22-9B96-F8CA-79C197E788D6}"/>
              </a:ext>
            </a:extLst>
          </p:cNvPr>
          <p:cNvSpPr/>
          <p:nvPr userDrawn="1"/>
        </p:nvSpPr>
        <p:spPr>
          <a:xfrm rot="18556041">
            <a:off x="8592972" y="4262425"/>
            <a:ext cx="3609749" cy="3713394"/>
          </a:xfrm>
          <a:custGeom>
            <a:avLst/>
            <a:gdLst>
              <a:gd name="connsiteX0" fmla="*/ 1662796 w 3609749"/>
              <a:gd name="connsiteY0" fmla="*/ 295906 h 3713394"/>
              <a:gd name="connsiteX1" fmla="*/ 3609749 w 3609749"/>
              <a:gd name="connsiteY1" fmla="*/ 2698564 h 3713394"/>
              <a:gd name="connsiteX2" fmla="*/ 2368425 w 3609749"/>
              <a:gd name="connsiteY2" fmla="*/ 3713394 h 3713394"/>
              <a:gd name="connsiteX3" fmla="*/ 0 w 3609749"/>
              <a:gd name="connsiteY3" fmla="*/ 816377 h 3713394"/>
              <a:gd name="connsiteX4" fmla="*/ 421755 w 3609749"/>
              <a:gd name="connsiteY4" fmla="*/ 295906 h 3713394"/>
              <a:gd name="connsiteX5" fmla="*/ 1662796 w 3609749"/>
              <a:gd name="connsiteY5" fmla="*/ 295906 h 3713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09749" h="3713394">
                <a:moveTo>
                  <a:pt x="1662796" y="295906"/>
                </a:moveTo>
                <a:lnTo>
                  <a:pt x="3609749" y="2698564"/>
                </a:lnTo>
                <a:lnTo>
                  <a:pt x="2368425" y="3713394"/>
                </a:lnTo>
                <a:lnTo>
                  <a:pt x="0" y="816377"/>
                </a:lnTo>
                <a:lnTo>
                  <a:pt x="421755" y="295906"/>
                </a:lnTo>
                <a:cubicBezTo>
                  <a:pt x="741449" y="-98635"/>
                  <a:pt x="1343102" y="-98635"/>
                  <a:pt x="1662796" y="295906"/>
                </a:cubicBezTo>
                <a:close/>
              </a:path>
            </a:pathLst>
          </a:custGeom>
          <a:gradFill>
            <a:gsLst>
              <a:gs pos="6000">
                <a:srgbClr val="EA4335">
                  <a:alpha val="90000"/>
                </a:srgbClr>
              </a:gs>
              <a:gs pos="94000">
                <a:srgbClr val="F2CB0A">
                  <a:alpha val="50000"/>
                </a:srgbClr>
              </a:gs>
            </a:gsLst>
            <a:lin ang="16800000" scaled="0"/>
          </a:gradFill>
          <a:ln w="36040" cap="flat">
            <a:noFill/>
            <a:prstDash val="solid"/>
            <a:miter/>
          </a:ln>
        </p:spPr>
        <p:txBody>
          <a:bodyPr wrap="square" rtlCol="0" anchor="ctr">
            <a:noAutofit/>
          </a:bodyPr>
          <a:lstStyle/>
          <a:p>
            <a:endParaRPr lang="en-CA"/>
          </a:p>
        </p:txBody>
      </p:sp>
      <p:sp>
        <p:nvSpPr>
          <p:cNvPr id="6" name="Title 1">
            <a:extLst>
              <a:ext uri="{FF2B5EF4-FFF2-40B4-BE49-F238E27FC236}">
                <a16:creationId xmlns:a16="http://schemas.microsoft.com/office/drawing/2014/main" id="{B6CD06A3-593E-77FC-111B-563A5949BA0F}"/>
              </a:ext>
            </a:extLst>
          </p:cNvPr>
          <p:cNvSpPr>
            <a:spLocks noGrp="1"/>
          </p:cNvSpPr>
          <p:nvPr>
            <p:ph type="title"/>
          </p:nvPr>
        </p:nvSpPr>
        <p:spPr>
          <a:xfrm>
            <a:off x="6477569" y="1643837"/>
            <a:ext cx="4898892" cy="1785163"/>
          </a:xfrm>
          <a:prstGeom prst="rect">
            <a:avLst/>
          </a:prstGeom>
          <a:noFill/>
          <a:ln w="34925">
            <a:noFill/>
          </a:ln>
        </p:spPr>
        <p:txBody>
          <a:bodyPr lIns="0" tIns="0" rIns="0" bIns="0" anchor="b">
            <a:normAutofit/>
          </a:bodyPr>
          <a:lstStyle>
            <a:lvl1pPr algn="r">
              <a:defRPr sz="4000" b="0">
                <a:solidFill>
                  <a:schemeClr val="bg1"/>
                </a:solidFill>
              </a:defRPr>
            </a:lvl1pPr>
          </a:lstStyle>
          <a:p>
            <a:r>
              <a:rPr lang="en-US"/>
              <a:t>Click to edit Master title style</a:t>
            </a:r>
            <a:endParaRPr lang="fr-CA"/>
          </a:p>
        </p:txBody>
      </p:sp>
      <p:sp>
        <p:nvSpPr>
          <p:cNvPr id="7" name="Text Placeholder 2">
            <a:extLst>
              <a:ext uri="{FF2B5EF4-FFF2-40B4-BE49-F238E27FC236}">
                <a16:creationId xmlns:a16="http://schemas.microsoft.com/office/drawing/2014/main" id="{B543EAE6-352D-654C-B8C0-AE62B03D995C}"/>
              </a:ext>
            </a:extLst>
          </p:cNvPr>
          <p:cNvSpPr>
            <a:spLocks noGrp="1"/>
          </p:cNvSpPr>
          <p:nvPr>
            <p:ph type="body" idx="1"/>
          </p:nvPr>
        </p:nvSpPr>
        <p:spPr>
          <a:xfrm>
            <a:off x="6477569" y="3587233"/>
            <a:ext cx="4898892" cy="856907"/>
          </a:xfrm>
        </p:spPr>
        <p:txBody>
          <a:bodyPr lIns="0" tIns="0" rIns="0" bIns="0">
            <a:normAutofit/>
          </a:bodyPr>
          <a:lstStyle>
            <a:lvl1pPr marL="0" indent="0" algn="r">
              <a:buNone/>
              <a:defRPr sz="2000">
                <a:solidFill>
                  <a:schemeClr val="bg1"/>
                </a:solidFill>
                <a:latin typeface="Arial" panose="020B0604020202020204" pitchFamily="34" charset="0"/>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5" name="Graphic 4">
            <a:extLst>
              <a:ext uri="{FF2B5EF4-FFF2-40B4-BE49-F238E27FC236}">
                <a16:creationId xmlns:a16="http://schemas.microsoft.com/office/drawing/2014/main" id="{C7CB149E-0901-16EC-4C47-BDAF80E7B20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153263" y="539449"/>
            <a:ext cx="2287718" cy="946155"/>
          </a:xfrm>
          <a:prstGeom prst="rect">
            <a:avLst/>
          </a:prstGeom>
        </p:spPr>
      </p:pic>
    </p:spTree>
    <p:extLst>
      <p:ext uri="{BB962C8B-B14F-4D97-AF65-F5344CB8AC3E}">
        <p14:creationId xmlns:p14="http://schemas.microsoft.com/office/powerpoint/2010/main" val="27197977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3_Title Sli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786F76E-346F-4934-D7FE-E0E07D3D4E9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Freeform: Shape 2">
            <a:extLst>
              <a:ext uri="{FF2B5EF4-FFF2-40B4-BE49-F238E27FC236}">
                <a16:creationId xmlns:a16="http://schemas.microsoft.com/office/drawing/2014/main" id="{2E9052C4-CABB-714F-DBD9-71317A57173E}"/>
              </a:ext>
            </a:extLst>
          </p:cNvPr>
          <p:cNvSpPr/>
          <p:nvPr userDrawn="1"/>
        </p:nvSpPr>
        <p:spPr>
          <a:xfrm rot="18556041">
            <a:off x="8592972" y="4262425"/>
            <a:ext cx="3609749" cy="3713394"/>
          </a:xfrm>
          <a:custGeom>
            <a:avLst/>
            <a:gdLst>
              <a:gd name="connsiteX0" fmla="*/ 1662796 w 3609749"/>
              <a:gd name="connsiteY0" fmla="*/ 295906 h 3713394"/>
              <a:gd name="connsiteX1" fmla="*/ 3609749 w 3609749"/>
              <a:gd name="connsiteY1" fmla="*/ 2698564 h 3713394"/>
              <a:gd name="connsiteX2" fmla="*/ 2368425 w 3609749"/>
              <a:gd name="connsiteY2" fmla="*/ 3713394 h 3713394"/>
              <a:gd name="connsiteX3" fmla="*/ 0 w 3609749"/>
              <a:gd name="connsiteY3" fmla="*/ 816377 h 3713394"/>
              <a:gd name="connsiteX4" fmla="*/ 421755 w 3609749"/>
              <a:gd name="connsiteY4" fmla="*/ 295906 h 3713394"/>
              <a:gd name="connsiteX5" fmla="*/ 1662796 w 3609749"/>
              <a:gd name="connsiteY5" fmla="*/ 295906 h 3713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09749" h="3713394">
                <a:moveTo>
                  <a:pt x="1662796" y="295906"/>
                </a:moveTo>
                <a:lnTo>
                  <a:pt x="3609749" y="2698564"/>
                </a:lnTo>
                <a:lnTo>
                  <a:pt x="2368425" y="3713394"/>
                </a:lnTo>
                <a:lnTo>
                  <a:pt x="0" y="816377"/>
                </a:lnTo>
                <a:lnTo>
                  <a:pt x="421755" y="295906"/>
                </a:lnTo>
                <a:cubicBezTo>
                  <a:pt x="741449" y="-98635"/>
                  <a:pt x="1343102" y="-98635"/>
                  <a:pt x="1662796" y="295906"/>
                </a:cubicBezTo>
                <a:close/>
              </a:path>
            </a:pathLst>
          </a:custGeom>
          <a:gradFill>
            <a:gsLst>
              <a:gs pos="6000">
                <a:srgbClr val="EA4335">
                  <a:alpha val="75000"/>
                </a:srgbClr>
              </a:gs>
              <a:gs pos="94000">
                <a:srgbClr val="F2CB0A">
                  <a:alpha val="50000"/>
                </a:srgbClr>
              </a:gs>
            </a:gsLst>
            <a:lin ang="16800000" scaled="0"/>
          </a:gradFill>
          <a:ln w="36040" cap="flat">
            <a:noFill/>
            <a:prstDash val="solid"/>
            <a:miter/>
          </a:ln>
        </p:spPr>
        <p:txBody>
          <a:bodyPr wrap="square" rtlCol="0" anchor="ctr">
            <a:noAutofit/>
          </a:bodyPr>
          <a:lstStyle/>
          <a:p>
            <a:endParaRPr lang="en-CA"/>
          </a:p>
        </p:txBody>
      </p:sp>
      <p:sp>
        <p:nvSpPr>
          <p:cNvPr id="6" name="Freeform: Shape 5">
            <a:extLst>
              <a:ext uri="{FF2B5EF4-FFF2-40B4-BE49-F238E27FC236}">
                <a16:creationId xmlns:a16="http://schemas.microsoft.com/office/drawing/2014/main" id="{7E347FBD-10FE-03B3-65F3-5B29B9230F0F}"/>
              </a:ext>
            </a:extLst>
          </p:cNvPr>
          <p:cNvSpPr/>
          <p:nvPr userDrawn="1"/>
        </p:nvSpPr>
        <p:spPr>
          <a:xfrm rot="5400000" flipV="1">
            <a:off x="6759006" y="-605856"/>
            <a:ext cx="4827135" cy="6038848"/>
          </a:xfrm>
          <a:custGeom>
            <a:avLst/>
            <a:gdLst>
              <a:gd name="connsiteX0" fmla="*/ 0 w 4827135"/>
              <a:gd name="connsiteY0" fmla="*/ 1087530 h 6038848"/>
              <a:gd name="connsiteX1" fmla="*/ 0 w 4827135"/>
              <a:gd name="connsiteY1" fmla="*/ 6038848 h 6038848"/>
              <a:gd name="connsiteX2" fmla="*/ 4827135 w 4827135"/>
              <a:gd name="connsiteY2" fmla="*/ 6038848 h 6038848"/>
              <a:gd name="connsiteX3" fmla="*/ 4827135 w 4827135"/>
              <a:gd name="connsiteY3" fmla="*/ 1009218 h 6038848"/>
              <a:gd name="connsiteX4" fmla="*/ 4827106 w 4827135"/>
              <a:gd name="connsiteY4" fmla="*/ 1009200 h 6038848"/>
              <a:gd name="connsiteX5" fmla="*/ 4827135 w 4827135"/>
              <a:gd name="connsiteY5" fmla="*/ 1008676 h 6038848"/>
              <a:gd name="connsiteX6" fmla="*/ 3702948 w 4827135"/>
              <a:gd name="connsiteY6" fmla="*/ 0 h 6038848"/>
              <a:gd name="connsiteX7" fmla="*/ 3265364 w 4827135"/>
              <a:gd name="connsiteY7" fmla="*/ 79267 h 6038848"/>
              <a:gd name="connsiteX8" fmla="*/ 3243490 w 4827135"/>
              <a:gd name="connsiteY8" fmla="*/ 88722 h 6038848"/>
              <a:gd name="connsiteX9" fmla="*/ 0 w 4827135"/>
              <a:gd name="connsiteY9" fmla="*/ 1087530 h 6038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27135" h="6038848">
                <a:moveTo>
                  <a:pt x="0" y="1087530"/>
                </a:moveTo>
                <a:lnTo>
                  <a:pt x="0" y="6038848"/>
                </a:lnTo>
                <a:lnTo>
                  <a:pt x="4827135" y="6038848"/>
                </a:lnTo>
                <a:lnTo>
                  <a:pt x="4827135" y="1009218"/>
                </a:lnTo>
                <a:lnTo>
                  <a:pt x="4827106" y="1009200"/>
                </a:lnTo>
                <a:lnTo>
                  <a:pt x="4827135" y="1008676"/>
                </a:lnTo>
                <a:cubicBezTo>
                  <a:pt x="4827135" y="451600"/>
                  <a:pt x="4323819" y="0"/>
                  <a:pt x="3702948" y="0"/>
                </a:cubicBezTo>
                <a:cubicBezTo>
                  <a:pt x="3547731" y="0"/>
                  <a:pt x="3399860" y="28225"/>
                  <a:pt x="3265364" y="79267"/>
                </a:cubicBezTo>
                <a:lnTo>
                  <a:pt x="3243490" y="88722"/>
                </a:lnTo>
                <a:lnTo>
                  <a:pt x="0" y="1087530"/>
                </a:lnTo>
                <a:close/>
              </a:path>
            </a:pathLst>
          </a:custGeom>
          <a:solidFill>
            <a:srgbClr val="50152C">
              <a:alpha val="72000"/>
            </a:srgbClr>
          </a:solidFill>
          <a:ln>
            <a:noFill/>
          </a:ln>
        </p:spPr>
        <p:txBody>
          <a:bodyPr spcFirstLastPara="1" wrap="square" lIns="60950" tIns="30467" rIns="60950" bIns="30467" anchor="t" anchorCtr="0">
            <a:noAutofit/>
          </a:bodyPr>
          <a:lstStyle/>
          <a:p>
            <a:pPr defTabSz="609630">
              <a:buClr>
                <a:srgbClr val="000000"/>
              </a:buClr>
              <a:buSzPts val="1800"/>
            </a:pPr>
            <a:endParaRPr sz="1200" kern="0">
              <a:solidFill>
                <a:srgbClr val="000000"/>
              </a:solidFill>
              <a:latin typeface="Calibri"/>
              <a:ea typeface="Calibri"/>
              <a:cs typeface="Calibri"/>
              <a:sym typeface="Calibri"/>
            </a:endParaRPr>
          </a:p>
        </p:txBody>
      </p:sp>
      <p:sp>
        <p:nvSpPr>
          <p:cNvPr id="7" name="Title 1">
            <a:extLst>
              <a:ext uri="{FF2B5EF4-FFF2-40B4-BE49-F238E27FC236}">
                <a16:creationId xmlns:a16="http://schemas.microsoft.com/office/drawing/2014/main" id="{13A5D873-F59A-84B1-7464-BA0A84D56920}"/>
              </a:ext>
            </a:extLst>
          </p:cNvPr>
          <p:cNvSpPr>
            <a:spLocks noGrp="1"/>
          </p:cNvSpPr>
          <p:nvPr>
            <p:ph type="title"/>
          </p:nvPr>
        </p:nvSpPr>
        <p:spPr>
          <a:xfrm>
            <a:off x="6868633" y="1535016"/>
            <a:ext cx="4503017" cy="1893984"/>
          </a:xfrm>
          <a:prstGeom prst="rect">
            <a:avLst/>
          </a:prstGeom>
          <a:noFill/>
          <a:ln w="34925">
            <a:noFill/>
          </a:ln>
        </p:spPr>
        <p:txBody>
          <a:bodyPr lIns="0" tIns="0" rIns="0" bIns="0" anchor="b">
            <a:normAutofit/>
          </a:bodyPr>
          <a:lstStyle>
            <a:lvl1pPr algn="r">
              <a:defRPr sz="3600" b="0">
                <a:solidFill>
                  <a:schemeClr val="bg1"/>
                </a:solidFill>
              </a:defRPr>
            </a:lvl1pPr>
          </a:lstStyle>
          <a:p>
            <a:r>
              <a:rPr lang="en-US"/>
              <a:t>Click to edit Master title style</a:t>
            </a:r>
            <a:endParaRPr lang="fr-CA"/>
          </a:p>
        </p:txBody>
      </p:sp>
      <p:sp>
        <p:nvSpPr>
          <p:cNvPr id="8" name="Text Placeholder 2">
            <a:extLst>
              <a:ext uri="{FF2B5EF4-FFF2-40B4-BE49-F238E27FC236}">
                <a16:creationId xmlns:a16="http://schemas.microsoft.com/office/drawing/2014/main" id="{B5FE5C73-10E6-4E24-D28C-1C02728D739F}"/>
              </a:ext>
            </a:extLst>
          </p:cNvPr>
          <p:cNvSpPr>
            <a:spLocks noGrp="1"/>
          </p:cNvSpPr>
          <p:nvPr>
            <p:ph type="body" idx="1"/>
          </p:nvPr>
        </p:nvSpPr>
        <p:spPr>
          <a:xfrm>
            <a:off x="6868633" y="3673361"/>
            <a:ext cx="4503018" cy="856907"/>
          </a:xfrm>
        </p:spPr>
        <p:txBody>
          <a:bodyPr lIns="0" tIns="0" rIns="0" bIns="0">
            <a:normAutofit/>
          </a:bodyPr>
          <a:lstStyle>
            <a:lvl1pPr marL="0" indent="0" algn="r">
              <a:buNone/>
              <a:defRPr sz="1800">
                <a:solidFill>
                  <a:schemeClr val="bg1"/>
                </a:solidFill>
                <a:latin typeface="Arial" panose="020B0604020202020204" pitchFamily="34" charset="0"/>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4" name="Graphic 3">
            <a:extLst>
              <a:ext uri="{FF2B5EF4-FFF2-40B4-BE49-F238E27FC236}">
                <a16:creationId xmlns:a16="http://schemas.microsoft.com/office/drawing/2014/main" id="{AA527E4D-6976-3D13-C320-9A8720AA8FF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083932" y="294431"/>
            <a:ext cx="2287718" cy="946155"/>
          </a:xfrm>
          <a:prstGeom prst="rect">
            <a:avLst/>
          </a:prstGeom>
        </p:spPr>
      </p:pic>
    </p:spTree>
    <p:extLst>
      <p:ext uri="{BB962C8B-B14F-4D97-AF65-F5344CB8AC3E}">
        <p14:creationId xmlns:p14="http://schemas.microsoft.com/office/powerpoint/2010/main" val="8419535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21_Custom Layout">
    <p:bg>
      <p:bgPr>
        <a:solidFill>
          <a:schemeClr val="bg1"/>
        </a:solidFill>
        <a:effectLst/>
      </p:bgPr>
    </p:bg>
    <p:spTree>
      <p:nvGrpSpPr>
        <p:cNvPr id="1" name=""/>
        <p:cNvGrpSpPr/>
        <p:nvPr/>
      </p:nvGrpSpPr>
      <p:grpSpPr>
        <a:xfrm>
          <a:off x="0" y="0"/>
          <a:ext cx="0" cy="0"/>
          <a:chOff x="0" y="0"/>
          <a:chExt cx="0" cy="0"/>
        </a:xfrm>
      </p:grpSpPr>
      <p:pic>
        <p:nvPicPr>
          <p:cNvPr id="5" name="Picture 4" descr="Couple working in the office">
            <a:extLst>
              <a:ext uri="{FF2B5EF4-FFF2-40B4-BE49-F238E27FC236}">
                <a16:creationId xmlns:a16="http://schemas.microsoft.com/office/drawing/2014/main" id="{BFEB1EBE-E65E-0016-3C4D-C996E628329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6377" y="-1206705"/>
            <a:ext cx="12428377" cy="8285584"/>
          </a:xfrm>
          <a:prstGeom prst="rect">
            <a:avLst/>
          </a:prstGeom>
        </p:spPr>
      </p:pic>
      <p:sp>
        <p:nvSpPr>
          <p:cNvPr id="8" name="Freeform: Shape 7">
            <a:extLst>
              <a:ext uri="{FF2B5EF4-FFF2-40B4-BE49-F238E27FC236}">
                <a16:creationId xmlns:a16="http://schemas.microsoft.com/office/drawing/2014/main" id="{FB37ACB8-849B-B366-16ED-EC9FC3F687DB}"/>
              </a:ext>
            </a:extLst>
          </p:cNvPr>
          <p:cNvSpPr/>
          <p:nvPr userDrawn="1"/>
        </p:nvSpPr>
        <p:spPr>
          <a:xfrm rot="5400000" flipV="1">
            <a:off x="7418479" y="9929"/>
            <a:ext cx="4783447" cy="4763589"/>
          </a:xfrm>
          <a:custGeom>
            <a:avLst/>
            <a:gdLst>
              <a:gd name="connsiteX0" fmla="*/ 0 w 4783447"/>
              <a:gd name="connsiteY0" fmla="*/ 1074077 h 4763589"/>
              <a:gd name="connsiteX1" fmla="*/ 0 w 4783447"/>
              <a:gd name="connsiteY1" fmla="*/ 4763589 h 4763589"/>
              <a:gd name="connsiteX2" fmla="*/ 4783447 w 4783447"/>
              <a:gd name="connsiteY2" fmla="*/ 4763589 h 4763589"/>
              <a:gd name="connsiteX3" fmla="*/ 4783447 w 4783447"/>
              <a:gd name="connsiteY3" fmla="*/ 1009218 h 4763589"/>
              <a:gd name="connsiteX4" fmla="*/ 4783418 w 4783447"/>
              <a:gd name="connsiteY4" fmla="*/ 1009199 h 4763589"/>
              <a:gd name="connsiteX5" fmla="*/ 4783447 w 4783447"/>
              <a:gd name="connsiteY5" fmla="*/ 1008676 h 4763589"/>
              <a:gd name="connsiteX6" fmla="*/ 3659260 w 4783447"/>
              <a:gd name="connsiteY6" fmla="*/ 0 h 4763589"/>
              <a:gd name="connsiteX7" fmla="*/ 3221676 w 4783447"/>
              <a:gd name="connsiteY7" fmla="*/ 79267 h 4763589"/>
              <a:gd name="connsiteX8" fmla="*/ 3199802 w 4783447"/>
              <a:gd name="connsiteY8" fmla="*/ 88722 h 4763589"/>
              <a:gd name="connsiteX9" fmla="*/ 0 w 4783447"/>
              <a:gd name="connsiteY9" fmla="*/ 1074077 h 4763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83447" h="4763589">
                <a:moveTo>
                  <a:pt x="0" y="1074077"/>
                </a:moveTo>
                <a:lnTo>
                  <a:pt x="0" y="4763589"/>
                </a:lnTo>
                <a:lnTo>
                  <a:pt x="4783447" y="4763589"/>
                </a:lnTo>
                <a:lnTo>
                  <a:pt x="4783447" y="1009218"/>
                </a:lnTo>
                <a:lnTo>
                  <a:pt x="4783418" y="1009199"/>
                </a:lnTo>
                <a:lnTo>
                  <a:pt x="4783447" y="1008676"/>
                </a:lnTo>
                <a:cubicBezTo>
                  <a:pt x="4783447" y="451600"/>
                  <a:pt x="4280131" y="0"/>
                  <a:pt x="3659260" y="0"/>
                </a:cubicBezTo>
                <a:cubicBezTo>
                  <a:pt x="3504043" y="0"/>
                  <a:pt x="3356172" y="28225"/>
                  <a:pt x="3221676" y="79267"/>
                </a:cubicBezTo>
                <a:lnTo>
                  <a:pt x="3199802" y="88722"/>
                </a:lnTo>
                <a:lnTo>
                  <a:pt x="0" y="1074077"/>
                </a:lnTo>
                <a:close/>
              </a:path>
            </a:pathLst>
          </a:custGeom>
          <a:solidFill>
            <a:srgbClr val="50152C">
              <a:alpha val="88000"/>
            </a:srgbClr>
          </a:solidFill>
          <a:ln>
            <a:noFill/>
          </a:ln>
        </p:spPr>
        <p:txBody>
          <a:bodyPr spcFirstLastPara="1" wrap="square" lIns="60950" tIns="30467" rIns="60950" bIns="30467" anchor="t" anchorCtr="0">
            <a:noAutofit/>
          </a:bodyPr>
          <a:lstStyle/>
          <a:p>
            <a:pPr marL="0" marR="0" lvl="0" indent="0" algn="l" defTabSz="609630" rtl="0" eaLnBrk="1" fontAlgn="auto" latinLnBrk="0" hangingPunct="1">
              <a:lnSpc>
                <a:spcPct val="100000"/>
              </a:lnSpc>
              <a:spcBef>
                <a:spcPts val="0"/>
              </a:spcBef>
              <a:spcAft>
                <a:spcPts val="0"/>
              </a:spcAft>
              <a:buClr>
                <a:srgbClr val="000000"/>
              </a:buClr>
              <a:buSzPts val="1800"/>
              <a:buFontTx/>
              <a:buNone/>
              <a:tabLst/>
              <a:defRPr/>
            </a:pPr>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33" name="Freeform: Shape 32">
            <a:extLst>
              <a:ext uri="{FF2B5EF4-FFF2-40B4-BE49-F238E27FC236}">
                <a16:creationId xmlns:a16="http://schemas.microsoft.com/office/drawing/2014/main" id="{CD3EA6DF-7CFC-8C7F-AC87-8F2B5BEFF459}"/>
              </a:ext>
            </a:extLst>
          </p:cNvPr>
          <p:cNvSpPr/>
          <p:nvPr userDrawn="1"/>
        </p:nvSpPr>
        <p:spPr>
          <a:xfrm rot="18556041">
            <a:off x="9636876" y="4837497"/>
            <a:ext cx="2756876" cy="2682090"/>
          </a:xfrm>
          <a:custGeom>
            <a:avLst/>
            <a:gdLst>
              <a:gd name="connsiteX0" fmla="*/ 1591554 w 2756876"/>
              <a:gd name="connsiteY0" fmla="*/ 295906 h 2682090"/>
              <a:gd name="connsiteX1" fmla="*/ 2756876 w 2756876"/>
              <a:gd name="connsiteY1" fmla="*/ 1733984 h 2682090"/>
              <a:gd name="connsiteX2" fmla="*/ 1597171 w 2756876"/>
              <a:gd name="connsiteY2" fmla="*/ 2682090 h 2682090"/>
              <a:gd name="connsiteX3" fmla="*/ 0 w 2756876"/>
              <a:gd name="connsiteY3" fmla="*/ 728458 h 2682090"/>
              <a:gd name="connsiteX4" fmla="*/ 350512 w 2756876"/>
              <a:gd name="connsiteY4" fmla="*/ 295905 h 2682090"/>
              <a:gd name="connsiteX5" fmla="*/ 1591554 w 2756876"/>
              <a:gd name="connsiteY5" fmla="*/ 295906 h 2682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56876" h="2682090">
                <a:moveTo>
                  <a:pt x="1591554" y="295906"/>
                </a:moveTo>
                <a:lnTo>
                  <a:pt x="2756876" y="1733984"/>
                </a:lnTo>
                <a:lnTo>
                  <a:pt x="1597171" y="2682090"/>
                </a:lnTo>
                <a:lnTo>
                  <a:pt x="0" y="728458"/>
                </a:lnTo>
                <a:lnTo>
                  <a:pt x="350512" y="295905"/>
                </a:lnTo>
                <a:cubicBezTo>
                  <a:pt x="670206" y="-98636"/>
                  <a:pt x="1271860" y="-98635"/>
                  <a:pt x="1591554" y="295906"/>
                </a:cubicBezTo>
                <a:close/>
              </a:path>
            </a:pathLst>
          </a:custGeom>
          <a:gradFill>
            <a:gsLst>
              <a:gs pos="6000">
                <a:srgbClr val="EA4335">
                  <a:alpha val="75000"/>
                </a:srgbClr>
              </a:gs>
              <a:gs pos="94000">
                <a:srgbClr val="F2CB0A">
                  <a:alpha val="50000"/>
                </a:srgbClr>
              </a:gs>
            </a:gsLst>
            <a:lin ang="16800000" scaled="0"/>
          </a:gradFill>
          <a:ln w="3604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667CEEB-B972-429A-DE8E-8AA790177AC7}"/>
              </a:ext>
            </a:extLst>
          </p:cNvPr>
          <p:cNvSpPr>
            <a:spLocks noGrp="1"/>
          </p:cNvSpPr>
          <p:nvPr>
            <p:ph type="title"/>
          </p:nvPr>
        </p:nvSpPr>
        <p:spPr>
          <a:xfrm>
            <a:off x="8199118" y="2281020"/>
            <a:ext cx="3440295" cy="997196"/>
          </a:xfrm>
          <a:prstGeom prst="rect">
            <a:avLst/>
          </a:prstGeom>
          <a:noFill/>
          <a:ln w="34925">
            <a:noFill/>
          </a:ln>
        </p:spPr>
        <p:txBody>
          <a:bodyPr wrap="square" lIns="0" tIns="0" rIns="0" bIns="0" anchor="b">
            <a:spAutoFit/>
          </a:bodyPr>
          <a:lstStyle>
            <a:lvl1pPr algn="r">
              <a:defRPr sz="3600" b="0">
                <a:latin typeface="Arial" panose="020B0604020202020204" pitchFamily="34" charset="0"/>
                <a:cs typeface="Arial" panose="020B0604020202020204" pitchFamily="34" charset="0"/>
              </a:defRPr>
            </a:lvl1pPr>
          </a:lstStyle>
          <a:p>
            <a:r>
              <a:rPr lang="en-US"/>
              <a:t>Click to edit Master title style</a:t>
            </a:r>
            <a:endParaRPr lang="fr-CA"/>
          </a:p>
        </p:txBody>
      </p:sp>
      <p:sp>
        <p:nvSpPr>
          <p:cNvPr id="22" name="Text Placeholder 2">
            <a:extLst>
              <a:ext uri="{FF2B5EF4-FFF2-40B4-BE49-F238E27FC236}">
                <a16:creationId xmlns:a16="http://schemas.microsoft.com/office/drawing/2014/main" id="{4BA097B5-6ED8-72CE-BA03-77BF18209956}"/>
              </a:ext>
            </a:extLst>
          </p:cNvPr>
          <p:cNvSpPr>
            <a:spLocks noGrp="1"/>
          </p:cNvSpPr>
          <p:nvPr>
            <p:ph type="body" idx="1"/>
          </p:nvPr>
        </p:nvSpPr>
        <p:spPr>
          <a:xfrm>
            <a:off x="8199120" y="3481820"/>
            <a:ext cx="3440294" cy="978032"/>
          </a:xfrm>
        </p:spPr>
        <p:txBody>
          <a:bodyPr lIns="0" tIns="0" rIns="0" bIns="0">
            <a:normAutofit/>
          </a:bodyPr>
          <a:lstStyle>
            <a:lvl1pPr marL="0" indent="0" algn="r">
              <a:buNone/>
              <a:defRPr sz="1800">
                <a:solidFill>
                  <a:schemeClr val="bg1"/>
                </a:solidFill>
                <a:latin typeface="Arial" panose="020B0604020202020204" pitchFamily="34" charset="0"/>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3" name="Graphic 2">
            <a:extLst>
              <a:ext uri="{FF2B5EF4-FFF2-40B4-BE49-F238E27FC236}">
                <a16:creationId xmlns:a16="http://schemas.microsoft.com/office/drawing/2014/main" id="{B116C106-7038-4D4E-3FF9-7EDD8B1E1D8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513222" y="861787"/>
            <a:ext cx="2287718" cy="946155"/>
          </a:xfrm>
          <a:prstGeom prst="rect">
            <a:avLst/>
          </a:prstGeom>
        </p:spPr>
      </p:pic>
    </p:spTree>
    <p:extLst>
      <p:ext uri="{BB962C8B-B14F-4D97-AF65-F5344CB8AC3E}">
        <p14:creationId xmlns:p14="http://schemas.microsoft.com/office/powerpoint/2010/main" val="42085717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22_Custom Layout">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9CE76B7-8C56-F897-FFA5-88A79ACDE5B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a:fillRect/>
          </a:stretch>
        </p:blipFill>
        <p:spPr>
          <a:xfrm flipH="1">
            <a:off x="-3" y="0"/>
            <a:ext cx="12191999" cy="6858000"/>
          </a:xfrm>
          <a:prstGeom prst="rect">
            <a:avLst/>
          </a:prstGeom>
        </p:spPr>
      </p:pic>
      <p:sp>
        <p:nvSpPr>
          <p:cNvPr id="21" name="Freeform: Shape 20">
            <a:extLst>
              <a:ext uri="{FF2B5EF4-FFF2-40B4-BE49-F238E27FC236}">
                <a16:creationId xmlns:a16="http://schemas.microsoft.com/office/drawing/2014/main" id="{69761056-D89B-CF6C-B18D-4A608F4B6BC5}"/>
              </a:ext>
            </a:extLst>
          </p:cNvPr>
          <p:cNvSpPr/>
          <p:nvPr userDrawn="1"/>
        </p:nvSpPr>
        <p:spPr>
          <a:xfrm rot="5400000" flipV="1">
            <a:off x="7418479" y="9929"/>
            <a:ext cx="4783447" cy="4763589"/>
          </a:xfrm>
          <a:custGeom>
            <a:avLst/>
            <a:gdLst>
              <a:gd name="connsiteX0" fmla="*/ 0 w 4783447"/>
              <a:gd name="connsiteY0" fmla="*/ 1074077 h 4763589"/>
              <a:gd name="connsiteX1" fmla="*/ 0 w 4783447"/>
              <a:gd name="connsiteY1" fmla="*/ 4763589 h 4763589"/>
              <a:gd name="connsiteX2" fmla="*/ 4783447 w 4783447"/>
              <a:gd name="connsiteY2" fmla="*/ 4763589 h 4763589"/>
              <a:gd name="connsiteX3" fmla="*/ 4783447 w 4783447"/>
              <a:gd name="connsiteY3" fmla="*/ 1009218 h 4763589"/>
              <a:gd name="connsiteX4" fmla="*/ 4783418 w 4783447"/>
              <a:gd name="connsiteY4" fmla="*/ 1009199 h 4763589"/>
              <a:gd name="connsiteX5" fmla="*/ 4783447 w 4783447"/>
              <a:gd name="connsiteY5" fmla="*/ 1008676 h 4763589"/>
              <a:gd name="connsiteX6" fmla="*/ 3659260 w 4783447"/>
              <a:gd name="connsiteY6" fmla="*/ 0 h 4763589"/>
              <a:gd name="connsiteX7" fmla="*/ 3221676 w 4783447"/>
              <a:gd name="connsiteY7" fmla="*/ 79267 h 4763589"/>
              <a:gd name="connsiteX8" fmla="*/ 3199802 w 4783447"/>
              <a:gd name="connsiteY8" fmla="*/ 88722 h 4763589"/>
              <a:gd name="connsiteX9" fmla="*/ 0 w 4783447"/>
              <a:gd name="connsiteY9" fmla="*/ 1074077 h 4763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83447" h="4763589">
                <a:moveTo>
                  <a:pt x="0" y="1074077"/>
                </a:moveTo>
                <a:lnTo>
                  <a:pt x="0" y="4763589"/>
                </a:lnTo>
                <a:lnTo>
                  <a:pt x="4783447" y="4763589"/>
                </a:lnTo>
                <a:lnTo>
                  <a:pt x="4783447" y="1009218"/>
                </a:lnTo>
                <a:lnTo>
                  <a:pt x="4783418" y="1009199"/>
                </a:lnTo>
                <a:lnTo>
                  <a:pt x="4783447" y="1008676"/>
                </a:lnTo>
                <a:cubicBezTo>
                  <a:pt x="4783447" y="451600"/>
                  <a:pt x="4280131" y="0"/>
                  <a:pt x="3659260" y="0"/>
                </a:cubicBezTo>
                <a:cubicBezTo>
                  <a:pt x="3504043" y="0"/>
                  <a:pt x="3356172" y="28225"/>
                  <a:pt x="3221676" y="79267"/>
                </a:cubicBezTo>
                <a:lnTo>
                  <a:pt x="3199802" y="88722"/>
                </a:lnTo>
                <a:lnTo>
                  <a:pt x="0" y="1074077"/>
                </a:lnTo>
                <a:close/>
              </a:path>
            </a:pathLst>
          </a:custGeom>
          <a:solidFill>
            <a:srgbClr val="50152C">
              <a:alpha val="88000"/>
            </a:srgbClr>
          </a:solidFill>
          <a:ln>
            <a:noFill/>
          </a:ln>
        </p:spPr>
        <p:txBody>
          <a:bodyPr spcFirstLastPara="1" wrap="square" lIns="60950" tIns="30467" rIns="60950" bIns="30467" anchor="t" anchorCtr="0">
            <a:noAutofit/>
          </a:bodyPr>
          <a:lstStyle/>
          <a:p>
            <a:pPr marL="0" marR="0" lvl="0" indent="0" algn="l" defTabSz="609630" rtl="0" eaLnBrk="1" fontAlgn="auto" latinLnBrk="0" hangingPunct="1">
              <a:lnSpc>
                <a:spcPct val="100000"/>
              </a:lnSpc>
              <a:spcBef>
                <a:spcPts val="0"/>
              </a:spcBef>
              <a:spcAft>
                <a:spcPts val="0"/>
              </a:spcAft>
              <a:buClr>
                <a:srgbClr val="000000"/>
              </a:buClr>
              <a:buSzPts val="1800"/>
              <a:buFontTx/>
              <a:buNone/>
              <a:tabLst/>
              <a:defRPr/>
            </a:pPr>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33" name="Freeform: Shape 32">
            <a:extLst>
              <a:ext uri="{FF2B5EF4-FFF2-40B4-BE49-F238E27FC236}">
                <a16:creationId xmlns:a16="http://schemas.microsoft.com/office/drawing/2014/main" id="{2D619D4D-CE8C-1292-E715-480C89541982}"/>
              </a:ext>
            </a:extLst>
          </p:cNvPr>
          <p:cNvSpPr/>
          <p:nvPr userDrawn="1"/>
        </p:nvSpPr>
        <p:spPr>
          <a:xfrm rot="18556041">
            <a:off x="9636876" y="4837497"/>
            <a:ext cx="2756876" cy="2682090"/>
          </a:xfrm>
          <a:custGeom>
            <a:avLst/>
            <a:gdLst>
              <a:gd name="connsiteX0" fmla="*/ 1591554 w 2756876"/>
              <a:gd name="connsiteY0" fmla="*/ 295906 h 2682090"/>
              <a:gd name="connsiteX1" fmla="*/ 2756876 w 2756876"/>
              <a:gd name="connsiteY1" fmla="*/ 1733984 h 2682090"/>
              <a:gd name="connsiteX2" fmla="*/ 1597171 w 2756876"/>
              <a:gd name="connsiteY2" fmla="*/ 2682090 h 2682090"/>
              <a:gd name="connsiteX3" fmla="*/ 0 w 2756876"/>
              <a:gd name="connsiteY3" fmla="*/ 728458 h 2682090"/>
              <a:gd name="connsiteX4" fmla="*/ 350512 w 2756876"/>
              <a:gd name="connsiteY4" fmla="*/ 295905 h 2682090"/>
              <a:gd name="connsiteX5" fmla="*/ 1591554 w 2756876"/>
              <a:gd name="connsiteY5" fmla="*/ 295906 h 2682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56876" h="2682090">
                <a:moveTo>
                  <a:pt x="1591554" y="295906"/>
                </a:moveTo>
                <a:lnTo>
                  <a:pt x="2756876" y="1733984"/>
                </a:lnTo>
                <a:lnTo>
                  <a:pt x="1597171" y="2682090"/>
                </a:lnTo>
                <a:lnTo>
                  <a:pt x="0" y="728458"/>
                </a:lnTo>
                <a:lnTo>
                  <a:pt x="350512" y="295905"/>
                </a:lnTo>
                <a:cubicBezTo>
                  <a:pt x="670206" y="-98636"/>
                  <a:pt x="1271860" y="-98635"/>
                  <a:pt x="1591554" y="295906"/>
                </a:cubicBezTo>
                <a:close/>
              </a:path>
            </a:pathLst>
          </a:custGeom>
          <a:gradFill>
            <a:gsLst>
              <a:gs pos="6000">
                <a:srgbClr val="EA4335">
                  <a:alpha val="75000"/>
                </a:srgbClr>
              </a:gs>
              <a:gs pos="94000">
                <a:srgbClr val="F2CB0A">
                  <a:alpha val="50000"/>
                </a:srgbClr>
              </a:gs>
            </a:gsLst>
            <a:lin ang="16800000" scaled="0"/>
          </a:gradFill>
          <a:ln w="3604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Title 1">
            <a:extLst>
              <a:ext uri="{FF2B5EF4-FFF2-40B4-BE49-F238E27FC236}">
                <a16:creationId xmlns:a16="http://schemas.microsoft.com/office/drawing/2014/main" id="{827130E1-6EB8-83C9-6EC5-DDA81442288C}"/>
              </a:ext>
            </a:extLst>
          </p:cNvPr>
          <p:cNvSpPr>
            <a:spLocks noGrp="1"/>
          </p:cNvSpPr>
          <p:nvPr>
            <p:ph type="title"/>
          </p:nvPr>
        </p:nvSpPr>
        <p:spPr>
          <a:xfrm>
            <a:off x="8199118" y="2281020"/>
            <a:ext cx="3440295" cy="997196"/>
          </a:xfrm>
          <a:prstGeom prst="rect">
            <a:avLst/>
          </a:prstGeom>
          <a:noFill/>
          <a:ln w="34925">
            <a:noFill/>
          </a:ln>
        </p:spPr>
        <p:txBody>
          <a:bodyPr wrap="square" lIns="0" tIns="0" rIns="0" bIns="0" anchor="b">
            <a:spAutoFit/>
          </a:bodyPr>
          <a:lstStyle>
            <a:lvl1pPr algn="r">
              <a:defRPr sz="3600" b="0">
                <a:latin typeface="Arial" panose="020B0604020202020204" pitchFamily="34" charset="0"/>
                <a:cs typeface="Arial" panose="020B0604020202020204" pitchFamily="34" charset="0"/>
              </a:defRPr>
            </a:lvl1pPr>
          </a:lstStyle>
          <a:p>
            <a:r>
              <a:rPr lang="en-US"/>
              <a:t>Click to edit Master title style</a:t>
            </a:r>
            <a:endParaRPr lang="fr-CA"/>
          </a:p>
        </p:txBody>
      </p:sp>
      <p:sp>
        <p:nvSpPr>
          <p:cNvPr id="35" name="Text Placeholder 2">
            <a:extLst>
              <a:ext uri="{FF2B5EF4-FFF2-40B4-BE49-F238E27FC236}">
                <a16:creationId xmlns:a16="http://schemas.microsoft.com/office/drawing/2014/main" id="{7F0DA28B-E451-5335-D20C-A672CAFEA64B}"/>
              </a:ext>
            </a:extLst>
          </p:cNvPr>
          <p:cNvSpPr>
            <a:spLocks noGrp="1"/>
          </p:cNvSpPr>
          <p:nvPr>
            <p:ph type="body" idx="1"/>
          </p:nvPr>
        </p:nvSpPr>
        <p:spPr>
          <a:xfrm>
            <a:off x="8199120" y="3481820"/>
            <a:ext cx="3440294" cy="978032"/>
          </a:xfrm>
        </p:spPr>
        <p:txBody>
          <a:bodyPr lIns="0" tIns="0" rIns="0" bIns="0">
            <a:normAutofit/>
          </a:bodyPr>
          <a:lstStyle>
            <a:lvl1pPr marL="0" indent="0" algn="r">
              <a:buNone/>
              <a:defRPr sz="1800">
                <a:solidFill>
                  <a:schemeClr val="bg1"/>
                </a:solidFill>
                <a:latin typeface="Arial" panose="020B0604020202020204" pitchFamily="34" charset="0"/>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3" name="Graphic 2">
            <a:extLst>
              <a:ext uri="{FF2B5EF4-FFF2-40B4-BE49-F238E27FC236}">
                <a16:creationId xmlns:a16="http://schemas.microsoft.com/office/drawing/2014/main" id="{3D53E2FD-63C5-9AE7-530A-33FD87C5372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426958" y="1044489"/>
            <a:ext cx="2287718" cy="946155"/>
          </a:xfrm>
          <a:prstGeom prst="rect">
            <a:avLst/>
          </a:prstGeom>
        </p:spPr>
      </p:pic>
    </p:spTree>
    <p:extLst>
      <p:ext uri="{BB962C8B-B14F-4D97-AF65-F5344CB8AC3E}">
        <p14:creationId xmlns:p14="http://schemas.microsoft.com/office/powerpoint/2010/main" val="16881026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23_Custom Layout">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FCD2F65-885B-7B7E-DF4F-3040662267A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a:fillRect/>
          </a:stretch>
        </p:blipFill>
        <p:spPr>
          <a:xfrm flipH="1">
            <a:off x="-1" y="0"/>
            <a:ext cx="12192000" cy="6858000"/>
          </a:xfrm>
          <a:prstGeom prst="rect">
            <a:avLst/>
          </a:prstGeom>
        </p:spPr>
      </p:pic>
      <p:sp>
        <p:nvSpPr>
          <p:cNvPr id="21" name="Freeform: Shape 20">
            <a:extLst>
              <a:ext uri="{FF2B5EF4-FFF2-40B4-BE49-F238E27FC236}">
                <a16:creationId xmlns:a16="http://schemas.microsoft.com/office/drawing/2014/main" id="{0A2681DB-7145-89A6-BC77-E9B01FF86C82}"/>
              </a:ext>
            </a:extLst>
          </p:cNvPr>
          <p:cNvSpPr/>
          <p:nvPr userDrawn="1"/>
        </p:nvSpPr>
        <p:spPr>
          <a:xfrm rot="16200000" flipH="1" flipV="1">
            <a:off x="-9928" y="9930"/>
            <a:ext cx="4783447" cy="4763589"/>
          </a:xfrm>
          <a:custGeom>
            <a:avLst/>
            <a:gdLst>
              <a:gd name="connsiteX0" fmla="*/ 0 w 4783447"/>
              <a:gd name="connsiteY0" fmla="*/ 1074077 h 4763589"/>
              <a:gd name="connsiteX1" fmla="*/ 0 w 4783447"/>
              <a:gd name="connsiteY1" fmla="*/ 4763589 h 4763589"/>
              <a:gd name="connsiteX2" fmla="*/ 4783447 w 4783447"/>
              <a:gd name="connsiteY2" fmla="*/ 4763589 h 4763589"/>
              <a:gd name="connsiteX3" fmla="*/ 4783447 w 4783447"/>
              <a:gd name="connsiteY3" fmla="*/ 1009218 h 4763589"/>
              <a:gd name="connsiteX4" fmla="*/ 4783418 w 4783447"/>
              <a:gd name="connsiteY4" fmla="*/ 1009199 h 4763589"/>
              <a:gd name="connsiteX5" fmla="*/ 4783447 w 4783447"/>
              <a:gd name="connsiteY5" fmla="*/ 1008676 h 4763589"/>
              <a:gd name="connsiteX6" fmla="*/ 3659260 w 4783447"/>
              <a:gd name="connsiteY6" fmla="*/ 0 h 4763589"/>
              <a:gd name="connsiteX7" fmla="*/ 3221676 w 4783447"/>
              <a:gd name="connsiteY7" fmla="*/ 79267 h 4763589"/>
              <a:gd name="connsiteX8" fmla="*/ 3199802 w 4783447"/>
              <a:gd name="connsiteY8" fmla="*/ 88722 h 4763589"/>
              <a:gd name="connsiteX9" fmla="*/ 0 w 4783447"/>
              <a:gd name="connsiteY9" fmla="*/ 1074077 h 4763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83447" h="4763589">
                <a:moveTo>
                  <a:pt x="0" y="1074077"/>
                </a:moveTo>
                <a:lnTo>
                  <a:pt x="0" y="4763589"/>
                </a:lnTo>
                <a:lnTo>
                  <a:pt x="4783447" y="4763589"/>
                </a:lnTo>
                <a:lnTo>
                  <a:pt x="4783447" y="1009218"/>
                </a:lnTo>
                <a:lnTo>
                  <a:pt x="4783418" y="1009199"/>
                </a:lnTo>
                <a:lnTo>
                  <a:pt x="4783447" y="1008676"/>
                </a:lnTo>
                <a:cubicBezTo>
                  <a:pt x="4783447" y="451600"/>
                  <a:pt x="4280131" y="0"/>
                  <a:pt x="3659260" y="0"/>
                </a:cubicBezTo>
                <a:cubicBezTo>
                  <a:pt x="3504043" y="0"/>
                  <a:pt x="3356172" y="28225"/>
                  <a:pt x="3221676" y="79267"/>
                </a:cubicBezTo>
                <a:lnTo>
                  <a:pt x="3199802" y="88722"/>
                </a:lnTo>
                <a:lnTo>
                  <a:pt x="0" y="1074077"/>
                </a:lnTo>
                <a:close/>
              </a:path>
            </a:pathLst>
          </a:custGeom>
          <a:solidFill>
            <a:srgbClr val="50152C">
              <a:alpha val="88000"/>
            </a:srgbClr>
          </a:solidFill>
          <a:ln>
            <a:noFill/>
          </a:ln>
        </p:spPr>
        <p:txBody>
          <a:bodyPr spcFirstLastPara="1" wrap="square" lIns="60950" tIns="30467" rIns="60950" bIns="30467" anchor="t" anchorCtr="0">
            <a:noAutofit/>
          </a:bodyPr>
          <a:lstStyle/>
          <a:p>
            <a:pPr marL="0" marR="0" lvl="0" indent="0" algn="l" defTabSz="609630" rtl="0" eaLnBrk="1" fontAlgn="auto" latinLnBrk="0" hangingPunct="1">
              <a:lnSpc>
                <a:spcPct val="100000"/>
              </a:lnSpc>
              <a:spcBef>
                <a:spcPts val="0"/>
              </a:spcBef>
              <a:spcAft>
                <a:spcPts val="0"/>
              </a:spcAft>
              <a:buClr>
                <a:srgbClr val="000000"/>
              </a:buClr>
              <a:buSzPts val="1800"/>
              <a:buFontTx/>
              <a:buNone/>
              <a:tabLst/>
              <a:defRPr/>
            </a:pPr>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33" name="Freeform: Shape 32">
            <a:extLst>
              <a:ext uri="{FF2B5EF4-FFF2-40B4-BE49-F238E27FC236}">
                <a16:creationId xmlns:a16="http://schemas.microsoft.com/office/drawing/2014/main" id="{D797447B-4E6D-FEA5-D287-3B3976674A76}"/>
              </a:ext>
            </a:extLst>
          </p:cNvPr>
          <p:cNvSpPr/>
          <p:nvPr userDrawn="1"/>
        </p:nvSpPr>
        <p:spPr>
          <a:xfrm rot="3043959" flipH="1">
            <a:off x="-214087" y="4837497"/>
            <a:ext cx="2756876" cy="2682090"/>
          </a:xfrm>
          <a:custGeom>
            <a:avLst/>
            <a:gdLst>
              <a:gd name="connsiteX0" fmla="*/ 1591554 w 2756876"/>
              <a:gd name="connsiteY0" fmla="*/ 295906 h 2682090"/>
              <a:gd name="connsiteX1" fmla="*/ 2756876 w 2756876"/>
              <a:gd name="connsiteY1" fmla="*/ 1733984 h 2682090"/>
              <a:gd name="connsiteX2" fmla="*/ 1597171 w 2756876"/>
              <a:gd name="connsiteY2" fmla="*/ 2682090 h 2682090"/>
              <a:gd name="connsiteX3" fmla="*/ 0 w 2756876"/>
              <a:gd name="connsiteY3" fmla="*/ 728458 h 2682090"/>
              <a:gd name="connsiteX4" fmla="*/ 350512 w 2756876"/>
              <a:gd name="connsiteY4" fmla="*/ 295905 h 2682090"/>
              <a:gd name="connsiteX5" fmla="*/ 1591554 w 2756876"/>
              <a:gd name="connsiteY5" fmla="*/ 295906 h 2682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56876" h="2682090">
                <a:moveTo>
                  <a:pt x="1591554" y="295906"/>
                </a:moveTo>
                <a:lnTo>
                  <a:pt x="2756876" y="1733984"/>
                </a:lnTo>
                <a:lnTo>
                  <a:pt x="1597171" y="2682090"/>
                </a:lnTo>
                <a:lnTo>
                  <a:pt x="0" y="728458"/>
                </a:lnTo>
                <a:lnTo>
                  <a:pt x="350512" y="295905"/>
                </a:lnTo>
                <a:cubicBezTo>
                  <a:pt x="670206" y="-98636"/>
                  <a:pt x="1271860" y="-98635"/>
                  <a:pt x="1591554" y="295906"/>
                </a:cubicBezTo>
                <a:close/>
              </a:path>
            </a:pathLst>
          </a:custGeom>
          <a:gradFill>
            <a:gsLst>
              <a:gs pos="6000">
                <a:srgbClr val="EA4335">
                  <a:alpha val="75000"/>
                </a:srgbClr>
              </a:gs>
              <a:gs pos="94000">
                <a:srgbClr val="F2CB0A">
                  <a:alpha val="50000"/>
                </a:srgbClr>
              </a:gs>
            </a:gsLst>
            <a:lin ang="16800000" scaled="0"/>
          </a:gradFill>
          <a:ln w="3604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itle 1">
            <a:extLst>
              <a:ext uri="{FF2B5EF4-FFF2-40B4-BE49-F238E27FC236}">
                <a16:creationId xmlns:a16="http://schemas.microsoft.com/office/drawing/2014/main" id="{D95878D1-F279-9259-9342-DE6874C7D914}"/>
              </a:ext>
            </a:extLst>
          </p:cNvPr>
          <p:cNvSpPr>
            <a:spLocks noGrp="1"/>
          </p:cNvSpPr>
          <p:nvPr>
            <p:ph type="title"/>
          </p:nvPr>
        </p:nvSpPr>
        <p:spPr>
          <a:xfrm>
            <a:off x="552090" y="2186730"/>
            <a:ext cx="3488410" cy="997196"/>
          </a:xfrm>
          <a:prstGeom prst="roundRect">
            <a:avLst>
              <a:gd name="adj" fmla="val 0"/>
            </a:avLst>
          </a:prstGeom>
          <a:noFill/>
          <a:ln w="34925">
            <a:noFill/>
          </a:ln>
        </p:spPr>
        <p:txBody>
          <a:bodyPr wrap="square" lIns="0" tIns="0" rIns="0" bIns="0" anchor="b">
            <a:spAutoFit/>
          </a:bodyPr>
          <a:lstStyle>
            <a:lvl1pPr algn="l">
              <a:defRPr sz="3600" b="0">
                <a:latin typeface="Arial" panose="020B0604020202020204" pitchFamily="34" charset="0"/>
                <a:cs typeface="Arial" panose="020B0604020202020204" pitchFamily="34" charset="0"/>
              </a:defRPr>
            </a:lvl1pPr>
          </a:lstStyle>
          <a:p>
            <a:r>
              <a:rPr lang="en-US"/>
              <a:t>Click to edit Master title style</a:t>
            </a:r>
            <a:endParaRPr lang="fr-CA"/>
          </a:p>
        </p:txBody>
      </p:sp>
      <p:sp>
        <p:nvSpPr>
          <p:cNvPr id="20" name="Text Placeholder 2">
            <a:extLst>
              <a:ext uri="{FF2B5EF4-FFF2-40B4-BE49-F238E27FC236}">
                <a16:creationId xmlns:a16="http://schemas.microsoft.com/office/drawing/2014/main" id="{374C5ED4-450F-A7A6-2D08-CE8BD6A3E6E4}"/>
              </a:ext>
            </a:extLst>
          </p:cNvPr>
          <p:cNvSpPr>
            <a:spLocks noGrp="1"/>
          </p:cNvSpPr>
          <p:nvPr>
            <p:ph type="body" idx="1"/>
          </p:nvPr>
        </p:nvSpPr>
        <p:spPr>
          <a:xfrm>
            <a:off x="558432" y="3475038"/>
            <a:ext cx="3482068" cy="978032"/>
          </a:xfrm>
        </p:spPr>
        <p:txBody>
          <a:bodyPr lIns="0" tIns="0" rIns="0" bIns="0">
            <a:normAutofit/>
          </a:bodyPr>
          <a:lstStyle>
            <a:lvl1pPr marL="0" indent="0">
              <a:buNone/>
              <a:defRPr sz="1800">
                <a:solidFill>
                  <a:schemeClr val="bg1"/>
                </a:solidFill>
                <a:latin typeface="Arial" panose="020B0604020202020204" pitchFamily="34" charset="0"/>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3" name="Graphic 2">
            <a:extLst>
              <a:ext uri="{FF2B5EF4-FFF2-40B4-BE49-F238E27FC236}">
                <a16:creationId xmlns:a16="http://schemas.microsoft.com/office/drawing/2014/main" id="{252286F2-B74B-28F3-595E-8FA6DE165EF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2739" y="950199"/>
            <a:ext cx="2287718" cy="946155"/>
          </a:xfrm>
          <a:prstGeom prst="rect">
            <a:avLst/>
          </a:prstGeom>
        </p:spPr>
      </p:pic>
    </p:spTree>
    <p:extLst>
      <p:ext uri="{BB962C8B-B14F-4D97-AF65-F5344CB8AC3E}">
        <p14:creationId xmlns:p14="http://schemas.microsoft.com/office/powerpoint/2010/main" val="21804940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5_Custom Layout">
    <p:bg>
      <p:bgPr>
        <a:solidFill>
          <a:schemeClr val="bg1">
            <a:lumMod val="95000"/>
          </a:schemeClr>
        </a:solidFill>
        <a:effectLst/>
      </p:bgPr>
    </p:bg>
    <p:spTree>
      <p:nvGrpSpPr>
        <p:cNvPr id="1" name=""/>
        <p:cNvGrpSpPr/>
        <p:nvPr/>
      </p:nvGrpSpPr>
      <p:grpSpPr>
        <a:xfrm>
          <a:off x="0" y="0"/>
          <a:ext cx="0" cy="0"/>
          <a:chOff x="0" y="0"/>
          <a:chExt cx="0" cy="0"/>
        </a:xfrm>
      </p:grpSpPr>
      <p:sp>
        <p:nvSpPr>
          <p:cNvPr id="3" name="Rectangle: Single Corner Rounded 2">
            <a:extLst>
              <a:ext uri="{FF2B5EF4-FFF2-40B4-BE49-F238E27FC236}">
                <a16:creationId xmlns:a16="http://schemas.microsoft.com/office/drawing/2014/main" id="{1D547A25-1318-8861-D019-9E9CBB09FF32}"/>
              </a:ext>
            </a:extLst>
          </p:cNvPr>
          <p:cNvSpPr/>
          <p:nvPr userDrawn="1"/>
        </p:nvSpPr>
        <p:spPr>
          <a:xfrm flipH="1">
            <a:off x="2338000" y="1428340"/>
            <a:ext cx="9853998" cy="5429660"/>
          </a:xfrm>
          <a:prstGeom prst="round1Rect">
            <a:avLst>
              <a:gd name="adj" fmla="val 167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Arial"/>
              <a:ea typeface="+mn-ea"/>
              <a:cs typeface="+mn-cs"/>
            </a:endParaRPr>
          </a:p>
        </p:txBody>
      </p:sp>
      <p:sp>
        <p:nvSpPr>
          <p:cNvPr id="19" name="Rectangle: Single Corner Rounded 18">
            <a:extLst>
              <a:ext uri="{FF2B5EF4-FFF2-40B4-BE49-F238E27FC236}">
                <a16:creationId xmlns:a16="http://schemas.microsoft.com/office/drawing/2014/main" id="{DE3D545C-482E-ED1C-9CC4-B8A67C84BC19}"/>
              </a:ext>
            </a:extLst>
          </p:cNvPr>
          <p:cNvSpPr/>
          <p:nvPr userDrawn="1"/>
        </p:nvSpPr>
        <p:spPr>
          <a:xfrm rot="5400000" flipH="1">
            <a:off x="-672966" y="4403668"/>
            <a:ext cx="3127298" cy="1781365"/>
          </a:xfrm>
          <a:prstGeom prst="round1Rect">
            <a:avLst>
              <a:gd name="adj" fmla="val 48586"/>
            </a:avLst>
          </a:prstGeom>
          <a:gradFill>
            <a:gsLst>
              <a:gs pos="6000">
                <a:srgbClr val="EA4335">
                  <a:alpha val="75000"/>
                </a:srgbClr>
              </a:gs>
              <a:gs pos="94000">
                <a:srgbClr val="F2CB0A">
                  <a:alpha val="50000"/>
                </a:srgbClr>
              </a:gs>
            </a:gsLst>
            <a:lin ang="16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Arial"/>
              <a:ea typeface="+mn-ea"/>
              <a:cs typeface="+mn-cs"/>
            </a:endParaRPr>
          </a:p>
        </p:txBody>
      </p:sp>
      <p:sp>
        <p:nvSpPr>
          <p:cNvPr id="4" name="Title Placeholder 1">
            <a:extLst>
              <a:ext uri="{FF2B5EF4-FFF2-40B4-BE49-F238E27FC236}">
                <a16:creationId xmlns:a16="http://schemas.microsoft.com/office/drawing/2014/main" id="{C716876E-B347-1D2A-3CEC-A24B431ADFC4}"/>
              </a:ext>
            </a:extLst>
          </p:cNvPr>
          <p:cNvSpPr>
            <a:spLocks noGrp="1"/>
          </p:cNvSpPr>
          <p:nvPr>
            <p:ph type="title"/>
          </p:nvPr>
        </p:nvSpPr>
        <p:spPr>
          <a:xfrm>
            <a:off x="3044190" y="301088"/>
            <a:ext cx="8728710" cy="936733"/>
          </a:xfrm>
          <a:prstGeom prst="rect">
            <a:avLst/>
          </a:prstGeom>
        </p:spPr>
        <p:txBody>
          <a:bodyPr vert="horz" lIns="91440" tIns="45720" rIns="91440" bIns="45720" rtlCol="0" anchor="ctr">
            <a:normAutofit/>
          </a:bodyPr>
          <a:lstStyle/>
          <a:p>
            <a:r>
              <a:rPr lang="en-US"/>
              <a:t>Click to edit Master title style</a:t>
            </a:r>
            <a:endParaRPr lang="fr-CA"/>
          </a:p>
        </p:txBody>
      </p:sp>
      <p:sp>
        <p:nvSpPr>
          <p:cNvPr id="7" name="Text Placeholder 2">
            <a:extLst>
              <a:ext uri="{FF2B5EF4-FFF2-40B4-BE49-F238E27FC236}">
                <a16:creationId xmlns:a16="http://schemas.microsoft.com/office/drawing/2014/main" id="{0F842184-D90C-257A-60E1-FAA3B4484CAB}"/>
              </a:ext>
            </a:extLst>
          </p:cNvPr>
          <p:cNvSpPr>
            <a:spLocks noGrp="1"/>
          </p:cNvSpPr>
          <p:nvPr>
            <p:ph idx="1"/>
          </p:nvPr>
        </p:nvSpPr>
        <p:spPr>
          <a:xfrm>
            <a:off x="3044190" y="1896449"/>
            <a:ext cx="8728710" cy="4493441"/>
          </a:xfrm>
          <a:prstGeom prst="rect">
            <a:avLst/>
          </a:prstGeom>
        </p:spPr>
        <p:txBody>
          <a:bodyPr vert="horz" lIns="91440" tIns="45720" rIns="91440" bIns="45720" rtlCol="0">
            <a:normAutofit/>
          </a:bodyPr>
          <a:lstStyle>
            <a:lvl1pPr marL="457200" indent="-457200">
              <a:buFont typeface="+mj-lt"/>
              <a:buAutoNum type="arabicPeriod"/>
              <a:defRPr>
                <a:solidFill>
                  <a:srgbClr val="50152C"/>
                </a:solidFill>
              </a:defRPr>
            </a:lvl1pPr>
            <a:lvl2pPr marL="914400" indent="-457200">
              <a:buFont typeface="+mj-lt"/>
              <a:buAutoNum type="arabicPeriod"/>
              <a:defRPr>
                <a:solidFill>
                  <a:srgbClr val="50152C"/>
                </a:solidFill>
              </a:defRPr>
            </a:lvl2pPr>
            <a:lvl3pPr marL="1257300" indent="-342900">
              <a:buFont typeface="+mj-lt"/>
              <a:buAutoNum type="arabicPeriod"/>
              <a:defRPr>
                <a:solidFill>
                  <a:srgbClr val="50152C"/>
                </a:solidFill>
              </a:defRPr>
            </a:lvl3pPr>
            <a:lvl4pPr marL="1714500" indent="-342900">
              <a:buFont typeface="+mj-lt"/>
              <a:buAutoNum type="arabicPeriod"/>
              <a:defRPr>
                <a:solidFill>
                  <a:srgbClr val="50152C"/>
                </a:solidFill>
              </a:defRPr>
            </a:lvl4pPr>
            <a:lvl5pPr marL="2171700" indent="-342900">
              <a:buFont typeface="+mj-lt"/>
              <a:buAutoNum type="arabicPeriod"/>
              <a:defRPr>
                <a:solidFill>
                  <a:srgbClr val="50152C"/>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20" name="Picture Placeholder 8">
            <a:extLst>
              <a:ext uri="{FF2B5EF4-FFF2-40B4-BE49-F238E27FC236}">
                <a16:creationId xmlns:a16="http://schemas.microsoft.com/office/drawing/2014/main" id="{807D7281-082D-7C26-00B8-372568C94776}"/>
              </a:ext>
            </a:extLst>
          </p:cNvPr>
          <p:cNvSpPr>
            <a:spLocks noGrp="1"/>
          </p:cNvSpPr>
          <p:nvPr>
            <p:ph type="pic" sz="quarter" idx="11" hasCustomPrompt="1"/>
          </p:nvPr>
        </p:nvSpPr>
        <p:spPr>
          <a:xfrm>
            <a:off x="489746" y="411479"/>
            <a:ext cx="1291620" cy="1282323"/>
          </a:xfrm>
          <a:prstGeom prst="ellipse">
            <a:avLst/>
          </a:prstGeom>
          <a:noFill/>
        </p:spPr>
        <p:txBody>
          <a:bodyPr anchor="ctr">
            <a:normAutofit/>
          </a:bodyPr>
          <a:lstStyle>
            <a:lvl1pPr marL="0" indent="0" algn="ctr">
              <a:buNone/>
              <a:defRPr sz="1600"/>
            </a:lvl1pPr>
          </a:lstStyle>
          <a:p>
            <a:r>
              <a:rPr lang="en-CA"/>
              <a:t>Icon</a:t>
            </a:r>
            <a:endParaRPr lang="fr-CA"/>
          </a:p>
        </p:txBody>
      </p:sp>
    </p:spTree>
    <p:extLst>
      <p:ext uri="{BB962C8B-B14F-4D97-AF65-F5344CB8AC3E}">
        <p14:creationId xmlns:p14="http://schemas.microsoft.com/office/powerpoint/2010/main" val="13683053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C716876E-B347-1D2A-3CEC-A24B431ADFC4}"/>
              </a:ext>
            </a:extLst>
          </p:cNvPr>
          <p:cNvSpPr>
            <a:spLocks noGrp="1"/>
          </p:cNvSpPr>
          <p:nvPr>
            <p:ph type="title"/>
          </p:nvPr>
        </p:nvSpPr>
        <p:spPr>
          <a:xfrm>
            <a:off x="2842260" y="301088"/>
            <a:ext cx="8904131" cy="936733"/>
          </a:xfrm>
          <a:prstGeom prst="rect">
            <a:avLst/>
          </a:prstGeom>
        </p:spPr>
        <p:txBody>
          <a:bodyPr vert="horz" lIns="91440" tIns="45720" rIns="91440" bIns="45720" rtlCol="0" anchor="ctr">
            <a:normAutofit/>
          </a:bodyPr>
          <a:lstStyle/>
          <a:p>
            <a:r>
              <a:rPr lang="en-US"/>
              <a:t>Click to edit Master title style</a:t>
            </a:r>
            <a:endParaRPr lang="fr-CA"/>
          </a:p>
        </p:txBody>
      </p:sp>
      <p:sp>
        <p:nvSpPr>
          <p:cNvPr id="7" name="Text Placeholder 2">
            <a:extLst>
              <a:ext uri="{FF2B5EF4-FFF2-40B4-BE49-F238E27FC236}">
                <a16:creationId xmlns:a16="http://schemas.microsoft.com/office/drawing/2014/main" id="{0F842184-D90C-257A-60E1-FAA3B4484CAB}"/>
              </a:ext>
            </a:extLst>
          </p:cNvPr>
          <p:cNvSpPr>
            <a:spLocks noGrp="1"/>
          </p:cNvSpPr>
          <p:nvPr>
            <p:ph idx="1"/>
          </p:nvPr>
        </p:nvSpPr>
        <p:spPr>
          <a:xfrm>
            <a:off x="2842260" y="1496198"/>
            <a:ext cx="8904130" cy="49884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Tree>
    <p:extLst>
      <p:ext uri="{BB962C8B-B14F-4D97-AF65-F5344CB8AC3E}">
        <p14:creationId xmlns:p14="http://schemas.microsoft.com/office/powerpoint/2010/main" val="17262064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6_Custom Layout">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B27F4781-C6A8-7A49-70E4-75ED5F0935BD}"/>
              </a:ext>
            </a:extLst>
          </p:cNvPr>
          <p:cNvSpPr>
            <a:spLocks noGrp="1"/>
          </p:cNvSpPr>
          <p:nvPr>
            <p:ph type="title"/>
          </p:nvPr>
        </p:nvSpPr>
        <p:spPr>
          <a:xfrm>
            <a:off x="2842260" y="301088"/>
            <a:ext cx="8904132" cy="936733"/>
          </a:xfrm>
          <a:prstGeom prst="rect">
            <a:avLst/>
          </a:prstGeom>
        </p:spPr>
        <p:txBody>
          <a:bodyPr vert="horz" lIns="91440" tIns="45720" rIns="91440" bIns="45720" rtlCol="0" anchor="ctr">
            <a:normAutofit/>
          </a:bodyPr>
          <a:lstStyle/>
          <a:p>
            <a:r>
              <a:rPr lang="en-US"/>
              <a:t>Click to edit Master title style</a:t>
            </a:r>
            <a:endParaRPr lang="fr-CA"/>
          </a:p>
        </p:txBody>
      </p:sp>
      <p:sp>
        <p:nvSpPr>
          <p:cNvPr id="6" name="Text Placeholder 2">
            <a:extLst>
              <a:ext uri="{FF2B5EF4-FFF2-40B4-BE49-F238E27FC236}">
                <a16:creationId xmlns:a16="http://schemas.microsoft.com/office/drawing/2014/main" id="{57FFC526-6437-BB0B-7E4E-4582A41C494E}"/>
              </a:ext>
            </a:extLst>
          </p:cNvPr>
          <p:cNvSpPr>
            <a:spLocks noGrp="1"/>
          </p:cNvSpPr>
          <p:nvPr>
            <p:ph idx="1"/>
          </p:nvPr>
        </p:nvSpPr>
        <p:spPr>
          <a:xfrm>
            <a:off x="2842260" y="1496198"/>
            <a:ext cx="4945380" cy="481361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8" name="Picture Placeholder 20">
            <a:extLst>
              <a:ext uri="{FF2B5EF4-FFF2-40B4-BE49-F238E27FC236}">
                <a16:creationId xmlns:a16="http://schemas.microsoft.com/office/drawing/2014/main" id="{CE3FF62E-1585-435E-7A16-7C896155B8E1}"/>
              </a:ext>
            </a:extLst>
          </p:cNvPr>
          <p:cNvSpPr>
            <a:spLocks noGrp="1"/>
          </p:cNvSpPr>
          <p:nvPr>
            <p:ph type="pic" sz="quarter" idx="10"/>
          </p:nvPr>
        </p:nvSpPr>
        <p:spPr>
          <a:xfrm>
            <a:off x="8023860" y="1495741"/>
            <a:ext cx="3722530" cy="4813619"/>
          </a:xfrm>
        </p:spPr>
        <p:txBody>
          <a:bodyPr anchor="ctr"/>
          <a:lstStyle>
            <a:lvl1pPr marL="0" indent="0" algn="ctr">
              <a:buNone/>
              <a:defRPr/>
            </a:lvl1pPr>
          </a:lstStyle>
          <a:p>
            <a:endParaRPr lang="en-CA"/>
          </a:p>
        </p:txBody>
      </p:sp>
    </p:spTree>
    <p:extLst>
      <p:ext uri="{BB962C8B-B14F-4D97-AF65-F5344CB8AC3E}">
        <p14:creationId xmlns:p14="http://schemas.microsoft.com/office/powerpoint/2010/main" val="18573468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9_Custom Layout">
    <p:bg>
      <p:bgPr>
        <a:solidFill>
          <a:schemeClr val="bg1">
            <a:lumMod val="95000"/>
          </a:schemeClr>
        </a:solidFill>
        <a:effectLst/>
      </p:bgPr>
    </p:bg>
    <p:spTree>
      <p:nvGrpSpPr>
        <p:cNvPr id="1" name=""/>
        <p:cNvGrpSpPr/>
        <p:nvPr/>
      </p:nvGrpSpPr>
      <p:grpSpPr>
        <a:xfrm>
          <a:off x="0" y="0"/>
          <a:ext cx="0" cy="0"/>
          <a:chOff x="0" y="0"/>
          <a:chExt cx="0" cy="0"/>
        </a:xfrm>
      </p:grpSpPr>
      <p:sp>
        <p:nvSpPr>
          <p:cNvPr id="2" name="Rectangle: Single Corner Rounded 1">
            <a:extLst>
              <a:ext uri="{FF2B5EF4-FFF2-40B4-BE49-F238E27FC236}">
                <a16:creationId xmlns:a16="http://schemas.microsoft.com/office/drawing/2014/main" id="{104864DC-A699-B6D4-4BE8-3684D93E0BF3}"/>
              </a:ext>
            </a:extLst>
          </p:cNvPr>
          <p:cNvSpPr/>
          <p:nvPr userDrawn="1"/>
        </p:nvSpPr>
        <p:spPr>
          <a:xfrm rot="10800000" flipV="1">
            <a:off x="1181098" y="2312229"/>
            <a:ext cx="11010902" cy="4545769"/>
          </a:xfrm>
          <a:prstGeom prst="round1Rect">
            <a:avLst>
              <a:gd name="adj" fmla="val 1934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Arial"/>
              <a:ea typeface="+mn-ea"/>
              <a:cs typeface="+mn-cs"/>
            </a:endParaRPr>
          </a:p>
        </p:txBody>
      </p:sp>
      <p:grpSp>
        <p:nvGrpSpPr>
          <p:cNvPr id="3" name="Group 2">
            <a:extLst>
              <a:ext uri="{FF2B5EF4-FFF2-40B4-BE49-F238E27FC236}">
                <a16:creationId xmlns:a16="http://schemas.microsoft.com/office/drawing/2014/main" id="{749B0996-658F-EA0F-E1AD-9C885595140F}"/>
              </a:ext>
            </a:extLst>
          </p:cNvPr>
          <p:cNvGrpSpPr/>
          <p:nvPr userDrawn="1"/>
        </p:nvGrpSpPr>
        <p:grpSpPr>
          <a:xfrm>
            <a:off x="2198336" y="1904999"/>
            <a:ext cx="9765064" cy="4949694"/>
            <a:chOff x="2198336" y="1904999"/>
            <a:chExt cx="4898106" cy="4949694"/>
          </a:xfrm>
        </p:grpSpPr>
        <p:sp>
          <p:nvSpPr>
            <p:cNvPr id="4" name="Content Placeholder 23">
              <a:extLst>
                <a:ext uri="{FF2B5EF4-FFF2-40B4-BE49-F238E27FC236}">
                  <a16:creationId xmlns:a16="http://schemas.microsoft.com/office/drawing/2014/main" id="{4F2C8F62-D200-92B5-5AA4-8B9200961D21}"/>
                </a:ext>
              </a:extLst>
            </p:cNvPr>
            <p:cNvSpPr txBox="1">
              <a:spLocks/>
            </p:cNvSpPr>
            <p:nvPr/>
          </p:nvSpPr>
          <p:spPr>
            <a:xfrm rot="10800000">
              <a:off x="2211864" y="1904999"/>
              <a:ext cx="2444770" cy="2363855"/>
            </a:xfrm>
            <a:prstGeom prst="round1Rect">
              <a:avLst>
                <a:gd name="adj" fmla="val 19384"/>
              </a:avLst>
            </a:prstGeom>
            <a:solidFill>
              <a:schemeClr val="bg1">
                <a:lumMod val="95000"/>
              </a:schemeClr>
            </a:solidFill>
          </p:spPr>
          <p:txBody>
            <a:bodyPr vert="horz" lIns="216000" tIns="828000" rIns="216000" bIns="288000" rtlCol="0" anchor="t">
              <a:normAutofit/>
            </a:bodyPr>
            <a:lstStyle>
              <a:lvl1pPr marL="0" indent="0" algn="ctr" defTabSz="914400" rtl="0" eaLnBrk="1" latinLnBrk="0" hangingPunct="1">
                <a:lnSpc>
                  <a:spcPct val="90000"/>
                </a:lnSpc>
                <a:spcBef>
                  <a:spcPts val="1000"/>
                </a:spcBef>
                <a:buClr>
                  <a:srgbClr val="F68D2E"/>
                </a:buClr>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Clr>
                  <a:srgbClr val="F68D2E"/>
                </a:buClr>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Clr>
                  <a:srgbClr val="F68D2E"/>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Clr>
                  <a:srgbClr val="F68D2E"/>
                </a:buClr>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Clr>
                  <a:srgbClr val="F68D2E"/>
                </a:buClr>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
                  <a:srgbClr val="F68D2E"/>
                </a:buClr>
                <a:buSzTx/>
                <a:buFont typeface="Arial" panose="020B0604020202020204" pitchFamily="34" charset="0"/>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 name="Content Placeholder 23">
              <a:extLst>
                <a:ext uri="{FF2B5EF4-FFF2-40B4-BE49-F238E27FC236}">
                  <a16:creationId xmlns:a16="http://schemas.microsoft.com/office/drawing/2014/main" id="{EA45B283-F2E4-137D-20EC-3E0B659059B3}"/>
                </a:ext>
              </a:extLst>
            </p:cNvPr>
            <p:cNvSpPr txBox="1">
              <a:spLocks/>
            </p:cNvSpPr>
            <p:nvPr/>
          </p:nvSpPr>
          <p:spPr>
            <a:xfrm rot="16200000">
              <a:off x="2259086" y="4443616"/>
              <a:ext cx="2336799" cy="2458300"/>
            </a:xfrm>
            <a:prstGeom prst="round1Rect">
              <a:avLst>
                <a:gd name="adj" fmla="val 19384"/>
              </a:avLst>
            </a:prstGeom>
            <a:solidFill>
              <a:schemeClr val="bg1">
                <a:lumMod val="95000"/>
              </a:schemeClr>
            </a:solidFill>
          </p:spPr>
          <p:txBody>
            <a:bodyPr vert="horz" lIns="216000" tIns="828000" rIns="216000" bIns="288000" rtlCol="0" anchor="t">
              <a:normAutofit/>
            </a:bodyPr>
            <a:lstStyle>
              <a:lvl1pPr marL="0" indent="0" algn="ctr" defTabSz="914400" rtl="0" eaLnBrk="1" latinLnBrk="0" hangingPunct="1">
                <a:lnSpc>
                  <a:spcPct val="90000"/>
                </a:lnSpc>
                <a:spcBef>
                  <a:spcPts val="1000"/>
                </a:spcBef>
                <a:buClr>
                  <a:srgbClr val="F68D2E"/>
                </a:buClr>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Clr>
                  <a:srgbClr val="F68D2E"/>
                </a:buClr>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Clr>
                  <a:srgbClr val="F68D2E"/>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Clr>
                  <a:srgbClr val="F68D2E"/>
                </a:buClr>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Clr>
                  <a:srgbClr val="F68D2E"/>
                </a:buClr>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
                  <a:srgbClr val="F68D2E"/>
                </a:buClr>
                <a:buSzTx/>
                <a:buFont typeface="Arial" panose="020B0604020202020204" pitchFamily="34" charset="0"/>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 name="Content Placeholder 23">
              <a:extLst>
                <a:ext uri="{FF2B5EF4-FFF2-40B4-BE49-F238E27FC236}">
                  <a16:creationId xmlns:a16="http://schemas.microsoft.com/office/drawing/2014/main" id="{7BAE2638-C20F-99C6-1B4E-EF9EAAD38A52}"/>
                </a:ext>
              </a:extLst>
            </p:cNvPr>
            <p:cNvSpPr txBox="1">
              <a:spLocks/>
            </p:cNvSpPr>
            <p:nvPr/>
          </p:nvSpPr>
          <p:spPr>
            <a:xfrm>
              <a:off x="4759643" y="1905000"/>
              <a:ext cx="2336799" cy="2363855"/>
            </a:xfrm>
            <a:prstGeom prst="rect">
              <a:avLst/>
            </a:prstGeom>
            <a:solidFill>
              <a:schemeClr val="bg1">
                <a:lumMod val="95000"/>
              </a:schemeClr>
            </a:solidFill>
          </p:spPr>
          <p:txBody>
            <a:bodyPr vert="horz" lIns="216000" tIns="828000" rIns="216000" bIns="288000" rtlCol="0" anchor="t">
              <a:normAutofit/>
            </a:bodyPr>
            <a:lstStyle>
              <a:lvl1pPr marL="0" indent="0" algn="ctr" defTabSz="914400" rtl="0" eaLnBrk="1" latinLnBrk="0" hangingPunct="1">
                <a:lnSpc>
                  <a:spcPct val="90000"/>
                </a:lnSpc>
                <a:spcBef>
                  <a:spcPts val="1000"/>
                </a:spcBef>
                <a:buClr>
                  <a:srgbClr val="F68D2E"/>
                </a:buClr>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Clr>
                  <a:srgbClr val="F68D2E"/>
                </a:buClr>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Clr>
                  <a:srgbClr val="F68D2E"/>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Clr>
                  <a:srgbClr val="F68D2E"/>
                </a:buClr>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Clr>
                  <a:srgbClr val="F68D2E"/>
                </a:buClr>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
                  <a:srgbClr val="F68D2E"/>
                </a:buClr>
                <a:buSzTx/>
                <a:buFont typeface="Arial" panose="020B0604020202020204" pitchFamily="34" charset="0"/>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6" name="Content Placeholder 23">
              <a:extLst>
                <a:ext uri="{FF2B5EF4-FFF2-40B4-BE49-F238E27FC236}">
                  <a16:creationId xmlns:a16="http://schemas.microsoft.com/office/drawing/2014/main" id="{06DBE23C-A9B7-24D3-C767-81EA0226B2FE}"/>
                </a:ext>
              </a:extLst>
            </p:cNvPr>
            <p:cNvSpPr txBox="1">
              <a:spLocks/>
            </p:cNvSpPr>
            <p:nvPr/>
          </p:nvSpPr>
          <p:spPr>
            <a:xfrm>
              <a:off x="4759643" y="4490838"/>
              <a:ext cx="2336799" cy="2363855"/>
            </a:xfrm>
            <a:prstGeom prst="rect">
              <a:avLst/>
            </a:prstGeom>
            <a:solidFill>
              <a:schemeClr val="bg1">
                <a:lumMod val="95000"/>
              </a:schemeClr>
            </a:solidFill>
          </p:spPr>
          <p:txBody>
            <a:bodyPr vert="horz" lIns="216000" tIns="828000" rIns="216000" bIns="288000" rtlCol="0" anchor="t">
              <a:normAutofit/>
            </a:bodyPr>
            <a:lstStyle>
              <a:lvl1pPr marL="0" indent="0" algn="ctr" defTabSz="914400" rtl="0" eaLnBrk="1" latinLnBrk="0" hangingPunct="1">
                <a:lnSpc>
                  <a:spcPct val="90000"/>
                </a:lnSpc>
                <a:spcBef>
                  <a:spcPts val="1000"/>
                </a:spcBef>
                <a:buClr>
                  <a:srgbClr val="F68D2E"/>
                </a:buClr>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Clr>
                  <a:srgbClr val="F68D2E"/>
                </a:buClr>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Clr>
                  <a:srgbClr val="F68D2E"/>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Clr>
                  <a:srgbClr val="F68D2E"/>
                </a:buClr>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Clr>
                  <a:srgbClr val="F68D2E"/>
                </a:buClr>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
                  <a:srgbClr val="F68D2E"/>
                </a:buClr>
                <a:buSzTx/>
                <a:buFont typeface="Arial" panose="020B0604020202020204" pitchFamily="34" charset="0"/>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pSp>
      <p:sp>
        <p:nvSpPr>
          <p:cNvPr id="17" name="Rectangle: Single Corner Rounded 16">
            <a:extLst>
              <a:ext uri="{FF2B5EF4-FFF2-40B4-BE49-F238E27FC236}">
                <a16:creationId xmlns:a16="http://schemas.microsoft.com/office/drawing/2014/main" id="{6F9E1D8B-319D-67D9-B015-5A1FA5E440E4}"/>
              </a:ext>
            </a:extLst>
          </p:cNvPr>
          <p:cNvSpPr/>
          <p:nvPr userDrawn="1"/>
        </p:nvSpPr>
        <p:spPr>
          <a:xfrm rot="10800000">
            <a:off x="9712400" y="673"/>
            <a:ext cx="2479597" cy="1270312"/>
          </a:xfrm>
          <a:prstGeom prst="round1Rect">
            <a:avLst>
              <a:gd name="adj" fmla="val 48586"/>
            </a:avLst>
          </a:prstGeom>
          <a:gradFill>
            <a:gsLst>
              <a:gs pos="6000">
                <a:srgbClr val="EA4335">
                  <a:alpha val="75000"/>
                </a:srgbClr>
              </a:gs>
              <a:gs pos="94000">
                <a:srgbClr val="F2CB0A">
                  <a:alpha val="50000"/>
                </a:srgbClr>
              </a:gs>
            </a:gsLst>
            <a:lin ang="16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Arial"/>
              <a:ea typeface="+mn-ea"/>
              <a:cs typeface="+mn-cs"/>
            </a:endParaRPr>
          </a:p>
        </p:txBody>
      </p:sp>
      <p:sp>
        <p:nvSpPr>
          <p:cNvPr id="5" name="Content Placeholder 2">
            <a:extLst>
              <a:ext uri="{FF2B5EF4-FFF2-40B4-BE49-F238E27FC236}">
                <a16:creationId xmlns:a16="http://schemas.microsoft.com/office/drawing/2014/main" id="{A850393D-EFF0-4679-A66B-BBFE966ED428}"/>
              </a:ext>
            </a:extLst>
          </p:cNvPr>
          <p:cNvSpPr>
            <a:spLocks noGrp="1"/>
          </p:cNvSpPr>
          <p:nvPr>
            <p:ph idx="1"/>
          </p:nvPr>
        </p:nvSpPr>
        <p:spPr>
          <a:xfrm>
            <a:off x="4156335" y="2312229"/>
            <a:ext cx="2739766" cy="1847598"/>
          </a:xfrm>
          <a:noFill/>
        </p:spPr>
        <p:txBody>
          <a:bodyPr lIns="0" tIns="288000" rIns="360000" bIns="288000" anchor="ctr">
            <a:normAutofit/>
          </a:bodyPr>
          <a:lstStyle>
            <a:lvl1pPr marL="0" indent="0">
              <a:buNone/>
              <a:defRPr sz="2000">
                <a:solidFill>
                  <a:srgbClr val="50152C"/>
                </a:solidFill>
              </a:defRPr>
            </a:lvl1pPr>
          </a:lstStyle>
          <a:p>
            <a:pPr lvl="0"/>
            <a:r>
              <a:rPr lang="en-US"/>
              <a:t>Click to edit Master text styles</a:t>
            </a:r>
            <a:endParaRPr lang="fr-CA"/>
          </a:p>
        </p:txBody>
      </p:sp>
      <p:sp>
        <p:nvSpPr>
          <p:cNvPr id="9" name="Picture Placeholder 8">
            <a:extLst>
              <a:ext uri="{FF2B5EF4-FFF2-40B4-BE49-F238E27FC236}">
                <a16:creationId xmlns:a16="http://schemas.microsoft.com/office/drawing/2014/main" id="{8A36C27C-24D4-2F32-F3FF-A8C18E069892}"/>
              </a:ext>
            </a:extLst>
          </p:cNvPr>
          <p:cNvSpPr>
            <a:spLocks noGrp="1"/>
          </p:cNvSpPr>
          <p:nvPr>
            <p:ph type="pic" sz="quarter" idx="11" hasCustomPrompt="1"/>
          </p:nvPr>
        </p:nvSpPr>
        <p:spPr>
          <a:xfrm>
            <a:off x="2458199" y="2560319"/>
            <a:ext cx="1291620" cy="1282323"/>
          </a:xfrm>
          <a:prstGeom prst="ellipse">
            <a:avLst/>
          </a:prstGeom>
          <a:noFill/>
        </p:spPr>
        <p:txBody>
          <a:bodyPr anchor="ctr">
            <a:normAutofit/>
          </a:bodyPr>
          <a:lstStyle>
            <a:lvl1pPr marL="0" indent="0" algn="ctr">
              <a:buNone/>
              <a:defRPr sz="1600"/>
            </a:lvl1pPr>
          </a:lstStyle>
          <a:p>
            <a:r>
              <a:rPr lang="en-CA"/>
              <a:t>Icon</a:t>
            </a:r>
            <a:endParaRPr lang="fr-CA"/>
          </a:p>
        </p:txBody>
      </p:sp>
      <p:sp>
        <p:nvSpPr>
          <p:cNvPr id="7" name="Title Placeholder 1">
            <a:extLst>
              <a:ext uri="{FF2B5EF4-FFF2-40B4-BE49-F238E27FC236}">
                <a16:creationId xmlns:a16="http://schemas.microsoft.com/office/drawing/2014/main" id="{ADB7D70F-C669-7CA7-B124-EC76C5603B52}"/>
              </a:ext>
            </a:extLst>
          </p:cNvPr>
          <p:cNvSpPr>
            <a:spLocks noGrp="1"/>
          </p:cNvSpPr>
          <p:nvPr>
            <p:ph type="title"/>
          </p:nvPr>
        </p:nvSpPr>
        <p:spPr>
          <a:xfrm>
            <a:off x="1181098" y="301088"/>
            <a:ext cx="8229602" cy="936733"/>
          </a:xfrm>
          <a:prstGeom prst="rect">
            <a:avLst/>
          </a:prstGeom>
        </p:spPr>
        <p:txBody>
          <a:bodyPr vert="horz" lIns="91440" tIns="45720" rIns="91440" bIns="45720" rtlCol="0" anchor="ctr">
            <a:normAutofit/>
          </a:bodyPr>
          <a:lstStyle/>
          <a:p>
            <a:r>
              <a:rPr lang="en-US"/>
              <a:t>Click to edit Master title style</a:t>
            </a:r>
            <a:endParaRPr lang="fr-CA"/>
          </a:p>
        </p:txBody>
      </p:sp>
      <p:sp>
        <p:nvSpPr>
          <p:cNvPr id="18" name="TextBox 17">
            <a:extLst>
              <a:ext uri="{FF2B5EF4-FFF2-40B4-BE49-F238E27FC236}">
                <a16:creationId xmlns:a16="http://schemas.microsoft.com/office/drawing/2014/main" id="{7AC2FF3E-D993-5D2D-F7C1-F74C244EFDFF}"/>
              </a:ext>
            </a:extLst>
          </p:cNvPr>
          <p:cNvSpPr txBox="1"/>
          <p:nvPr userDrawn="1"/>
        </p:nvSpPr>
        <p:spPr>
          <a:xfrm>
            <a:off x="230907" y="6376043"/>
            <a:ext cx="683988" cy="307777"/>
          </a:xfrm>
          <a:prstGeom prst="rect">
            <a:avLst/>
          </a:prstGeom>
          <a:noFill/>
        </p:spPr>
        <p:txBody>
          <a:bodyPr wrap="square" anchor="t">
            <a:spAutoFit/>
          </a:bodyPr>
          <a:lstStyle/>
          <a:p>
            <a:r>
              <a:rPr lang="fr-CA" sz="1400" b="0">
                <a:solidFill>
                  <a:srgbClr val="50152C"/>
                </a:solidFill>
                <a:latin typeface="Arial" panose="020B0604020202020204" pitchFamily="34" charset="0"/>
                <a:cs typeface="Arial" panose="020B0604020202020204" pitchFamily="34" charset="0"/>
              </a:rPr>
              <a:t>P.</a:t>
            </a:r>
            <a:endParaRPr lang="fr-CA" sz="1400" b="0">
              <a:latin typeface="Arial" panose="020B0604020202020204" pitchFamily="34" charset="0"/>
              <a:cs typeface="Arial" panose="020B0604020202020204" pitchFamily="34" charset="0"/>
            </a:endParaRPr>
          </a:p>
        </p:txBody>
      </p:sp>
      <p:sp>
        <p:nvSpPr>
          <p:cNvPr id="19" name="Slide Number Placeholder 5">
            <a:extLst>
              <a:ext uri="{FF2B5EF4-FFF2-40B4-BE49-F238E27FC236}">
                <a16:creationId xmlns:a16="http://schemas.microsoft.com/office/drawing/2014/main" id="{E2E8DDE9-F408-F213-32E4-D4E59E52C080}"/>
              </a:ext>
            </a:extLst>
          </p:cNvPr>
          <p:cNvSpPr txBox="1">
            <a:spLocks/>
          </p:cNvSpPr>
          <p:nvPr userDrawn="1"/>
        </p:nvSpPr>
        <p:spPr>
          <a:xfrm>
            <a:off x="486368" y="6376043"/>
            <a:ext cx="549952" cy="307778"/>
          </a:xfrm>
          <a:prstGeom prst="rect">
            <a:avLst/>
          </a:prstGeom>
        </p:spPr>
        <p:txBody>
          <a:bodyPr vert="horz" lIns="0" tIns="45720" rIns="91440" bIns="45720" rtlCol="0" anchor="t"/>
          <a:lstStyle>
            <a:defPPr>
              <a:defRPr lang="fr-FR"/>
            </a:defPPr>
            <a:lvl1pPr marL="0" algn="l" defTabSz="91440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2F0B28-D135-404C-B963-539A79E1DE99}" type="slidenum">
              <a:rPr lang="fr-CA" sz="1400" b="0" smtClean="0">
                <a:solidFill>
                  <a:schemeClr val="bg1">
                    <a:lumMod val="65000"/>
                  </a:schemeClr>
                </a:solidFill>
              </a:rPr>
              <a:pPr/>
              <a:t>‹#›</a:t>
            </a:fld>
            <a:endParaRPr lang="fr-CA" sz="1400" b="0">
              <a:solidFill>
                <a:schemeClr val="bg1">
                  <a:lumMod val="65000"/>
                </a:schemeClr>
              </a:solidFill>
            </a:endParaRPr>
          </a:p>
        </p:txBody>
      </p:sp>
      <p:sp>
        <p:nvSpPr>
          <p:cNvPr id="20" name="Content Placeholder 2">
            <a:extLst>
              <a:ext uri="{FF2B5EF4-FFF2-40B4-BE49-F238E27FC236}">
                <a16:creationId xmlns:a16="http://schemas.microsoft.com/office/drawing/2014/main" id="{74FB3638-000C-3153-F28F-B1E1F05F375C}"/>
              </a:ext>
            </a:extLst>
          </p:cNvPr>
          <p:cNvSpPr>
            <a:spLocks noGrp="1"/>
          </p:cNvSpPr>
          <p:nvPr>
            <p:ph idx="12"/>
          </p:nvPr>
        </p:nvSpPr>
        <p:spPr>
          <a:xfrm>
            <a:off x="4156335" y="4712683"/>
            <a:ext cx="2739766" cy="1847598"/>
          </a:xfrm>
          <a:noFill/>
        </p:spPr>
        <p:txBody>
          <a:bodyPr lIns="0" tIns="288000" rIns="360000" bIns="288000" anchor="ctr">
            <a:normAutofit/>
          </a:bodyPr>
          <a:lstStyle>
            <a:lvl1pPr marL="0" indent="0">
              <a:buNone/>
              <a:defRPr sz="2000">
                <a:solidFill>
                  <a:srgbClr val="50152C"/>
                </a:solidFill>
              </a:defRPr>
            </a:lvl1pPr>
          </a:lstStyle>
          <a:p>
            <a:pPr lvl="0"/>
            <a:r>
              <a:rPr lang="en-US"/>
              <a:t>Click to edit Master text styles</a:t>
            </a:r>
            <a:endParaRPr lang="fr-CA"/>
          </a:p>
        </p:txBody>
      </p:sp>
      <p:sp>
        <p:nvSpPr>
          <p:cNvPr id="21" name="Picture Placeholder 8">
            <a:extLst>
              <a:ext uri="{FF2B5EF4-FFF2-40B4-BE49-F238E27FC236}">
                <a16:creationId xmlns:a16="http://schemas.microsoft.com/office/drawing/2014/main" id="{F0D4650D-FE8F-A2F4-6963-3641209B35C6}"/>
              </a:ext>
            </a:extLst>
          </p:cNvPr>
          <p:cNvSpPr>
            <a:spLocks noGrp="1"/>
          </p:cNvSpPr>
          <p:nvPr>
            <p:ph type="pic" sz="quarter" idx="13" hasCustomPrompt="1"/>
          </p:nvPr>
        </p:nvSpPr>
        <p:spPr>
          <a:xfrm>
            <a:off x="2458199" y="4960773"/>
            <a:ext cx="1291620" cy="1282323"/>
          </a:xfrm>
          <a:prstGeom prst="ellipse">
            <a:avLst/>
          </a:prstGeom>
          <a:noFill/>
        </p:spPr>
        <p:txBody>
          <a:bodyPr anchor="ctr">
            <a:normAutofit/>
          </a:bodyPr>
          <a:lstStyle>
            <a:lvl1pPr marL="0" indent="0" algn="ctr">
              <a:buNone/>
              <a:defRPr sz="1600"/>
            </a:lvl1pPr>
          </a:lstStyle>
          <a:p>
            <a:r>
              <a:rPr lang="en-CA"/>
              <a:t>Icon</a:t>
            </a:r>
            <a:endParaRPr lang="fr-CA"/>
          </a:p>
        </p:txBody>
      </p:sp>
      <p:sp>
        <p:nvSpPr>
          <p:cNvPr id="22" name="Content Placeholder 2">
            <a:extLst>
              <a:ext uri="{FF2B5EF4-FFF2-40B4-BE49-F238E27FC236}">
                <a16:creationId xmlns:a16="http://schemas.microsoft.com/office/drawing/2014/main" id="{D0A8826F-B509-8E51-59EF-1AFFD7209309}"/>
              </a:ext>
            </a:extLst>
          </p:cNvPr>
          <p:cNvSpPr>
            <a:spLocks noGrp="1"/>
          </p:cNvSpPr>
          <p:nvPr>
            <p:ph idx="14"/>
          </p:nvPr>
        </p:nvSpPr>
        <p:spPr>
          <a:xfrm>
            <a:off x="9207386" y="2312229"/>
            <a:ext cx="2656954" cy="1847598"/>
          </a:xfrm>
          <a:noFill/>
        </p:spPr>
        <p:txBody>
          <a:bodyPr lIns="0" tIns="288000" rIns="360000" bIns="288000" anchor="ctr">
            <a:normAutofit/>
          </a:bodyPr>
          <a:lstStyle>
            <a:lvl1pPr marL="0" indent="0">
              <a:buNone/>
              <a:defRPr sz="2000">
                <a:solidFill>
                  <a:srgbClr val="50152C"/>
                </a:solidFill>
              </a:defRPr>
            </a:lvl1pPr>
          </a:lstStyle>
          <a:p>
            <a:pPr lvl="0"/>
            <a:r>
              <a:rPr lang="en-US"/>
              <a:t>Click to edit Master text styles</a:t>
            </a:r>
            <a:endParaRPr lang="fr-CA"/>
          </a:p>
        </p:txBody>
      </p:sp>
      <p:sp>
        <p:nvSpPr>
          <p:cNvPr id="23" name="Picture Placeholder 8">
            <a:extLst>
              <a:ext uri="{FF2B5EF4-FFF2-40B4-BE49-F238E27FC236}">
                <a16:creationId xmlns:a16="http://schemas.microsoft.com/office/drawing/2014/main" id="{078DD8E0-81AF-9E70-1FAF-7D6424300A8B}"/>
              </a:ext>
            </a:extLst>
          </p:cNvPr>
          <p:cNvSpPr>
            <a:spLocks noGrp="1"/>
          </p:cNvSpPr>
          <p:nvPr>
            <p:ph type="pic" sz="quarter" idx="15" hasCustomPrompt="1"/>
          </p:nvPr>
        </p:nvSpPr>
        <p:spPr>
          <a:xfrm>
            <a:off x="7509250" y="2560319"/>
            <a:ext cx="1291620" cy="1282323"/>
          </a:xfrm>
          <a:prstGeom prst="ellipse">
            <a:avLst/>
          </a:prstGeom>
          <a:noFill/>
        </p:spPr>
        <p:txBody>
          <a:bodyPr anchor="ctr">
            <a:normAutofit/>
          </a:bodyPr>
          <a:lstStyle>
            <a:lvl1pPr marL="0" indent="0" algn="ctr">
              <a:buNone/>
              <a:defRPr sz="1600"/>
            </a:lvl1pPr>
          </a:lstStyle>
          <a:p>
            <a:r>
              <a:rPr lang="en-CA"/>
              <a:t>Icon</a:t>
            </a:r>
            <a:endParaRPr lang="fr-CA"/>
          </a:p>
        </p:txBody>
      </p:sp>
      <p:sp>
        <p:nvSpPr>
          <p:cNvPr id="24" name="Content Placeholder 2">
            <a:extLst>
              <a:ext uri="{FF2B5EF4-FFF2-40B4-BE49-F238E27FC236}">
                <a16:creationId xmlns:a16="http://schemas.microsoft.com/office/drawing/2014/main" id="{9AB23A83-41C0-E309-F48D-B6EF0BF19FCE}"/>
              </a:ext>
            </a:extLst>
          </p:cNvPr>
          <p:cNvSpPr>
            <a:spLocks noGrp="1"/>
          </p:cNvSpPr>
          <p:nvPr>
            <p:ph idx="16"/>
          </p:nvPr>
        </p:nvSpPr>
        <p:spPr>
          <a:xfrm>
            <a:off x="9207386" y="4712683"/>
            <a:ext cx="2656954" cy="1847598"/>
          </a:xfrm>
          <a:noFill/>
        </p:spPr>
        <p:txBody>
          <a:bodyPr lIns="0" tIns="288000" rIns="360000" bIns="288000" anchor="ctr">
            <a:normAutofit/>
          </a:bodyPr>
          <a:lstStyle>
            <a:lvl1pPr marL="0" indent="0">
              <a:buNone/>
              <a:defRPr sz="2000">
                <a:solidFill>
                  <a:srgbClr val="50152C"/>
                </a:solidFill>
              </a:defRPr>
            </a:lvl1pPr>
          </a:lstStyle>
          <a:p>
            <a:pPr lvl="0"/>
            <a:r>
              <a:rPr lang="en-US"/>
              <a:t>Click to edit Master text styles</a:t>
            </a:r>
            <a:endParaRPr lang="fr-CA"/>
          </a:p>
        </p:txBody>
      </p:sp>
      <p:sp>
        <p:nvSpPr>
          <p:cNvPr id="25" name="Picture Placeholder 8">
            <a:extLst>
              <a:ext uri="{FF2B5EF4-FFF2-40B4-BE49-F238E27FC236}">
                <a16:creationId xmlns:a16="http://schemas.microsoft.com/office/drawing/2014/main" id="{FE40A5D9-7673-7AB1-2393-EBC8453EA06F}"/>
              </a:ext>
            </a:extLst>
          </p:cNvPr>
          <p:cNvSpPr>
            <a:spLocks noGrp="1"/>
          </p:cNvSpPr>
          <p:nvPr>
            <p:ph type="pic" sz="quarter" idx="17" hasCustomPrompt="1"/>
          </p:nvPr>
        </p:nvSpPr>
        <p:spPr>
          <a:xfrm>
            <a:off x="7509250" y="4960773"/>
            <a:ext cx="1291620" cy="1282323"/>
          </a:xfrm>
          <a:prstGeom prst="ellipse">
            <a:avLst/>
          </a:prstGeom>
          <a:noFill/>
        </p:spPr>
        <p:txBody>
          <a:bodyPr anchor="ctr">
            <a:normAutofit/>
          </a:bodyPr>
          <a:lstStyle>
            <a:lvl1pPr marL="0" indent="0" algn="ctr">
              <a:buNone/>
              <a:defRPr sz="1600"/>
            </a:lvl1pPr>
          </a:lstStyle>
          <a:p>
            <a:r>
              <a:rPr lang="en-CA"/>
              <a:t>Icon</a:t>
            </a:r>
            <a:endParaRPr lang="fr-CA"/>
          </a:p>
        </p:txBody>
      </p:sp>
      <p:sp>
        <p:nvSpPr>
          <p:cNvPr id="26" name="Content Placeholder 2">
            <a:extLst>
              <a:ext uri="{FF2B5EF4-FFF2-40B4-BE49-F238E27FC236}">
                <a16:creationId xmlns:a16="http://schemas.microsoft.com/office/drawing/2014/main" id="{8D3C3501-DC69-023F-5BB2-CF8D456F5562}"/>
              </a:ext>
            </a:extLst>
          </p:cNvPr>
          <p:cNvSpPr>
            <a:spLocks noGrp="1"/>
          </p:cNvSpPr>
          <p:nvPr>
            <p:ph idx="18"/>
          </p:nvPr>
        </p:nvSpPr>
        <p:spPr>
          <a:xfrm>
            <a:off x="1181098" y="1370280"/>
            <a:ext cx="8229602" cy="425691"/>
          </a:xfrm>
          <a:noFill/>
        </p:spPr>
        <p:txBody>
          <a:bodyPr lIns="90000" tIns="0" rIns="0" bIns="0" anchor="t">
            <a:normAutofit/>
          </a:bodyPr>
          <a:lstStyle>
            <a:lvl1pPr marL="0" indent="0">
              <a:buNone/>
              <a:defRPr sz="2000">
                <a:solidFill>
                  <a:srgbClr val="52595F"/>
                </a:solidFill>
              </a:defRPr>
            </a:lvl1pPr>
          </a:lstStyle>
          <a:p>
            <a:pPr lvl="0"/>
            <a:r>
              <a:rPr lang="en-US"/>
              <a:t>Click to edit Master text styles</a:t>
            </a:r>
            <a:endParaRPr lang="fr-CA"/>
          </a:p>
        </p:txBody>
      </p:sp>
    </p:spTree>
    <p:extLst>
      <p:ext uri="{BB962C8B-B14F-4D97-AF65-F5344CB8AC3E}">
        <p14:creationId xmlns:p14="http://schemas.microsoft.com/office/powerpoint/2010/main" val="13694938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10_Custom Layout">
    <p:bg>
      <p:bgPr>
        <a:solidFill>
          <a:schemeClr val="bg1">
            <a:lumMod val="95000"/>
          </a:schemeClr>
        </a:solidFill>
        <a:effectLst/>
      </p:bgPr>
    </p:bg>
    <p:spTree>
      <p:nvGrpSpPr>
        <p:cNvPr id="1" name=""/>
        <p:cNvGrpSpPr/>
        <p:nvPr/>
      </p:nvGrpSpPr>
      <p:grpSpPr>
        <a:xfrm>
          <a:off x="0" y="0"/>
          <a:ext cx="0" cy="0"/>
          <a:chOff x="0" y="0"/>
          <a:chExt cx="0" cy="0"/>
        </a:xfrm>
      </p:grpSpPr>
      <p:sp>
        <p:nvSpPr>
          <p:cNvPr id="2" name="Rectangle: Single Corner Rounded 1">
            <a:extLst>
              <a:ext uri="{FF2B5EF4-FFF2-40B4-BE49-F238E27FC236}">
                <a16:creationId xmlns:a16="http://schemas.microsoft.com/office/drawing/2014/main" id="{AA1A63C1-A9A5-FFFA-CCEB-1912B61C933E}"/>
              </a:ext>
            </a:extLst>
          </p:cNvPr>
          <p:cNvSpPr/>
          <p:nvPr userDrawn="1"/>
        </p:nvSpPr>
        <p:spPr>
          <a:xfrm rot="10800000" flipV="1">
            <a:off x="1181098" y="2312229"/>
            <a:ext cx="11010902" cy="4545769"/>
          </a:xfrm>
          <a:prstGeom prst="round1Rect">
            <a:avLst>
              <a:gd name="adj" fmla="val 1934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Arial"/>
              <a:ea typeface="+mn-ea"/>
              <a:cs typeface="+mn-cs"/>
            </a:endParaRPr>
          </a:p>
        </p:txBody>
      </p:sp>
      <p:grpSp>
        <p:nvGrpSpPr>
          <p:cNvPr id="6" name="Group 5">
            <a:extLst>
              <a:ext uri="{FF2B5EF4-FFF2-40B4-BE49-F238E27FC236}">
                <a16:creationId xmlns:a16="http://schemas.microsoft.com/office/drawing/2014/main" id="{7FDA554E-4599-4749-167F-FD3221A5C8FE}"/>
              </a:ext>
            </a:extLst>
          </p:cNvPr>
          <p:cNvGrpSpPr/>
          <p:nvPr userDrawn="1"/>
        </p:nvGrpSpPr>
        <p:grpSpPr>
          <a:xfrm>
            <a:off x="2198336" y="1904999"/>
            <a:ext cx="9993665" cy="4949694"/>
            <a:chOff x="2198336" y="1904999"/>
            <a:chExt cx="5012771" cy="4949694"/>
          </a:xfrm>
        </p:grpSpPr>
        <p:sp>
          <p:nvSpPr>
            <p:cNvPr id="7" name="Content Placeholder 23">
              <a:extLst>
                <a:ext uri="{FF2B5EF4-FFF2-40B4-BE49-F238E27FC236}">
                  <a16:creationId xmlns:a16="http://schemas.microsoft.com/office/drawing/2014/main" id="{436AE1D8-A8E7-16EA-4CB2-96361671E654}"/>
                </a:ext>
              </a:extLst>
            </p:cNvPr>
            <p:cNvSpPr txBox="1">
              <a:spLocks/>
            </p:cNvSpPr>
            <p:nvPr/>
          </p:nvSpPr>
          <p:spPr>
            <a:xfrm rot="10800000">
              <a:off x="2211864" y="1904999"/>
              <a:ext cx="2444770" cy="2363855"/>
            </a:xfrm>
            <a:prstGeom prst="round1Rect">
              <a:avLst>
                <a:gd name="adj" fmla="val 19384"/>
              </a:avLst>
            </a:prstGeom>
            <a:solidFill>
              <a:schemeClr val="bg1">
                <a:lumMod val="95000"/>
              </a:schemeClr>
            </a:solidFill>
          </p:spPr>
          <p:txBody>
            <a:bodyPr vert="horz" lIns="216000" tIns="828000" rIns="216000" bIns="288000" rtlCol="0" anchor="t">
              <a:normAutofit/>
            </a:bodyPr>
            <a:lstStyle>
              <a:lvl1pPr marL="0" indent="0" algn="ctr" defTabSz="914400" rtl="0" eaLnBrk="1" latinLnBrk="0" hangingPunct="1">
                <a:lnSpc>
                  <a:spcPct val="90000"/>
                </a:lnSpc>
                <a:spcBef>
                  <a:spcPts val="1000"/>
                </a:spcBef>
                <a:buClr>
                  <a:srgbClr val="F68D2E"/>
                </a:buClr>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Clr>
                  <a:srgbClr val="F68D2E"/>
                </a:buClr>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Clr>
                  <a:srgbClr val="F68D2E"/>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Clr>
                  <a:srgbClr val="F68D2E"/>
                </a:buClr>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Clr>
                  <a:srgbClr val="F68D2E"/>
                </a:buClr>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
                  <a:srgbClr val="F68D2E"/>
                </a:buClr>
                <a:buSzTx/>
                <a:buFont typeface="Arial" panose="020B0604020202020204" pitchFamily="34" charset="0"/>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 name="Content Placeholder 23">
              <a:extLst>
                <a:ext uri="{FF2B5EF4-FFF2-40B4-BE49-F238E27FC236}">
                  <a16:creationId xmlns:a16="http://schemas.microsoft.com/office/drawing/2014/main" id="{BC840E00-21EA-BCEE-9B74-24615A11156A}"/>
                </a:ext>
              </a:extLst>
            </p:cNvPr>
            <p:cNvSpPr txBox="1">
              <a:spLocks/>
            </p:cNvSpPr>
            <p:nvPr/>
          </p:nvSpPr>
          <p:spPr>
            <a:xfrm rot="16200000">
              <a:off x="2259086" y="4443616"/>
              <a:ext cx="2336799" cy="2458300"/>
            </a:xfrm>
            <a:prstGeom prst="round1Rect">
              <a:avLst>
                <a:gd name="adj" fmla="val 19384"/>
              </a:avLst>
            </a:prstGeom>
            <a:solidFill>
              <a:schemeClr val="bg1">
                <a:lumMod val="95000"/>
              </a:schemeClr>
            </a:solidFill>
          </p:spPr>
          <p:txBody>
            <a:bodyPr vert="horz" lIns="216000" tIns="828000" rIns="216000" bIns="288000" rtlCol="0" anchor="t">
              <a:normAutofit/>
            </a:bodyPr>
            <a:lstStyle>
              <a:lvl1pPr marL="0" indent="0" algn="ctr" defTabSz="914400" rtl="0" eaLnBrk="1" latinLnBrk="0" hangingPunct="1">
                <a:lnSpc>
                  <a:spcPct val="90000"/>
                </a:lnSpc>
                <a:spcBef>
                  <a:spcPts val="1000"/>
                </a:spcBef>
                <a:buClr>
                  <a:srgbClr val="F68D2E"/>
                </a:buClr>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Clr>
                  <a:srgbClr val="F68D2E"/>
                </a:buClr>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Clr>
                  <a:srgbClr val="F68D2E"/>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Clr>
                  <a:srgbClr val="F68D2E"/>
                </a:buClr>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Clr>
                  <a:srgbClr val="F68D2E"/>
                </a:buClr>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
                  <a:srgbClr val="F68D2E"/>
                </a:buClr>
                <a:buSzTx/>
                <a:buFont typeface="Arial" panose="020B0604020202020204" pitchFamily="34" charset="0"/>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6" name="Content Placeholder 23">
              <a:extLst>
                <a:ext uri="{FF2B5EF4-FFF2-40B4-BE49-F238E27FC236}">
                  <a16:creationId xmlns:a16="http://schemas.microsoft.com/office/drawing/2014/main" id="{E7932AD5-B456-924C-3F4A-FF7342D54BC6}"/>
                </a:ext>
              </a:extLst>
            </p:cNvPr>
            <p:cNvSpPr txBox="1">
              <a:spLocks/>
            </p:cNvSpPr>
            <p:nvPr/>
          </p:nvSpPr>
          <p:spPr>
            <a:xfrm>
              <a:off x="4478267" y="1905000"/>
              <a:ext cx="2732840" cy="2363855"/>
            </a:xfrm>
            <a:prstGeom prst="rect">
              <a:avLst/>
            </a:prstGeom>
            <a:solidFill>
              <a:schemeClr val="bg1">
                <a:lumMod val="95000"/>
              </a:schemeClr>
            </a:solidFill>
          </p:spPr>
          <p:txBody>
            <a:bodyPr vert="horz" lIns="216000" tIns="828000" rIns="216000" bIns="288000" rtlCol="0" anchor="t">
              <a:normAutofit/>
            </a:bodyPr>
            <a:lstStyle>
              <a:lvl1pPr marL="0" indent="0" algn="ctr" defTabSz="914400" rtl="0" eaLnBrk="1" latinLnBrk="0" hangingPunct="1">
                <a:lnSpc>
                  <a:spcPct val="90000"/>
                </a:lnSpc>
                <a:spcBef>
                  <a:spcPts val="1000"/>
                </a:spcBef>
                <a:buClr>
                  <a:srgbClr val="F68D2E"/>
                </a:buClr>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Clr>
                  <a:srgbClr val="F68D2E"/>
                </a:buClr>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Clr>
                  <a:srgbClr val="F68D2E"/>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Clr>
                  <a:srgbClr val="F68D2E"/>
                </a:buClr>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Clr>
                  <a:srgbClr val="F68D2E"/>
                </a:buClr>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
                  <a:srgbClr val="F68D2E"/>
                </a:buClr>
                <a:buSzTx/>
                <a:buFont typeface="Arial" panose="020B0604020202020204" pitchFamily="34" charset="0"/>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7" name="Content Placeholder 23">
              <a:extLst>
                <a:ext uri="{FF2B5EF4-FFF2-40B4-BE49-F238E27FC236}">
                  <a16:creationId xmlns:a16="http://schemas.microsoft.com/office/drawing/2014/main" id="{A39A1063-C38A-CF3A-CE0A-EF20D201E350}"/>
                </a:ext>
              </a:extLst>
            </p:cNvPr>
            <p:cNvSpPr txBox="1">
              <a:spLocks/>
            </p:cNvSpPr>
            <p:nvPr/>
          </p:nvSpPr>
          <p:spPr>
            <a:xfrm>
              <a:off x="4478267" y="4490838"/>
              <a:ext cx="2732839" cy="2363855"/>
            </a:xfrm>
            <a:prstGeom prst="rect">
              <a:avLst/>
            </a:prstGeom>
            <a:solidFill>
              <a:schemeClr val="bg1">
                <a:lumMod val="95000"/>
              </a:schemeClr>
            </a:solidFill>
          </p:spPr>
          <p:txBody>
            <a:bodyPr vert="horz" lIns="216000" tIns="828000" rIns="216000" bIns="288000" rtlCol="0" anchor="t">
              <a:normAutofit/>
            </a:bodyPr>
            <a:lstStyle>
              <a:lvl1pPr marL="0" indent="0" algn="ctr" defTabSz="914400" rtl="0" eaLnBrk="1" latinLnBrk="0" hangingPunct="1">
                <a:lnSpc>
                  <a:spcPct val="90000"/>
                </a:lnSpc>
                <a:spcBef>
                  <a:spcPts val="1000"/>
                </a:spcBef>
                <a:buClr>
                  <a:srgbClr val="F68D2E"/>
                </a:buClr>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Clr>
                  <a:srgbClr val="F68D2E"/>
                </a:buClr>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Clr>
                  <a:srgbClr val="F68D2E"/>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Clr>
                  <a:srgbClr val="F68D2E"/>
                </a:buClr>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Clr>
                  <a:srgbClr val="F68D2E"/>
                </a:buClr>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
                  <a:srgbClr val="F68D2E"/>
                </a:buClr>
                <a:buSzTx/>
                <a:buFont typeface="Arial" panose="020B0604020202020204" pitchFamily="34" charset="0"/>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pSp>
      <p:sp>
        <p:nvSpPr>
          <p:cNvPr id="4" name="Rectangle: Single Corner Rounded 3">
            <a:extLst>
              <a:ext uri="{FF2B5EF4-FFF2-40B4-BE49-F238E27FC236}">
                <a16:creationId xmlns:a16="http://schemas.microsoft.com/office/drawing/2014/main" id="{50EBF73D-FB7B-1CB9-CCF2-0A4B7E826924}"/>
              </a:ext>
            </a:extLst>
          </p:cNvPr>
          <p:cNvSpPr/>
          <p:nvPr userDrawn="1"/>
        </p:nvSpPr>
        <p:spPr>
          <a:xfrm rot="10800000">
            <a:off x="9712400" y="673"/>
            <a:ext cx="2479597" cy="1270312"/>
          </a:xfrm>
          <a:prstGeom prst="round1Rect">
            <a:avLst>
              <a:gd name="adj" fmla="val 48586"/>
            </a:avLst>
          </a:prstGeom>
          <a:gradFill>
            <a:gsLst>
              <a:gs pos="6000">
                <a:srgbClr val="EA4335">
                  <a:alpha val="75000"/>
                </a:srgbClr>
              </a:gs>
              <a:gs pos="94000">
                <a:srgbClr val="F2CB0A">
                  <a:alpha val="50000"/>
                </a:srgbClr>
              </a:gs>
            </a:gsLst>
            <a:lin ang="16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Arial"/>
              <a:ea typeface="+mn-ea"/>
              <a:cs typeface="+mn-cs"/>
            </a:endParaRPr>
          </a:p>
        </p:txBody>
      </p:sp>
      <p:sp>
        <p:nvSpPr>
          <p:cNvPr id="5" name="Content Placeholder 2">
            <a:extLst>
              <a:ext uri="{FF2B5EF4-FFF2-40B4-BE49-F238E27FC236}">
                <a16:creationId xmlns:a16="http://schemas.microsoft.com/office/drawing/2014/main" id="{A850393D-EFF0-4679-A66B-BBFE966ED428}"/>
              </a:ext>
            </a:extLst>
          </p:cNvPr>
          <p:cNvSpPr>
            <a:spLocks noGrp="1"/>
          </p:cNvSpPr>
          <p:nvPr>
            <p:ph idx="1"/>
          </p:nvPr>
        </p:nvSpPr>
        <p:spPr>
          <a:xfrm>
            <a:off x="4575810" y="2025325"/>
            <a:ext cx="7303770" cy="2152650"/>
          </a:xfrm>
          <a:solidFill>
            <a:schemeClr val="bg1">
              <a:lumMod val="95000"/>
            </a:schemeClr>
          </a:solidFill>
        </p:spPr>
        <p:txBody>
          <a:bodyPr lIns="0" tIns="288000" rIns="360000" bIns="288000" anchor="ctr"/>
          <a:lstStyle>
            <a:lvl1pPr marL="0" indent="0">
              <a:buNone/>
              <a:defRPr>
                <a:solidFill>
                  <a:srgbClr val="50152C"/>
                </a:solidFill>
              </a:defRPr>
            </a:lvl1pPr>
          </a:lstStyle>
          <a:p>
            <a:pPr lvl="0"/>
            <a:r>
              <a:rPr lang="en-US"/>
              <a:t>Click to edit Master text styles</a:t>
            </a:r>
            <a:endParaRPr lang="fr-CA"/>
          </a:p>
        </p:txBody>
      </p:sp>
      <p:sp>
        <p:nvSpPr>
          <p:cNvPr id="9" name="Picture Placeholder 8">
            <a:extLst>
              <a:ext uri="{FF2B5EF4-FFF2-40B4-BE49-F238E27FC236}">
                <a16:creationId xmlns:a16="http://schemas.microsoft.com/office/drawing/2014/main" id="{8A36C27C-24D4-2F32-F3FF-A8C18E069892}"/>
              </a:ext>
            </a:extLst>
          </p:cNvPr>
          <p:cNvSpPr>
            <a:spLocks noGrp="1"/>
          </p:cNvSpPr>
          <p:nvPr>
            <p:ph type="pic" sz="quarter" idx="11" hasCustomPrompt="1"/>
          </p:nvPr>
        </p:nvSpPr>
        <p:spPr>
          <a:xfrm>
            <a:off x="2694419" y="2330377"/>
            <a:ext cx="1553732" cy="1542548"/>
          </a:xfrm>
          <a:prstGeom prst="ellipse">
            <a:avLst/>
          </a:prstGeom>
          <a:noFill/>
        </p:spPr>
        <p:txBody>
          <a:bodyPr anchor="ctr">
            <a:normAutofit/>
          </a:bodyPr>
          <a:lstStyle>
            <a:lvl1pPr marL="0" indent="0" algn="ctr">
              <a:buNone/>
              <a:defRPr sz="1600"/>
            </a:lvl1pPr>
          </a:lstStyle>
          <a:p>
            <a:r>
              <a:rPr lang="en-CA"/>
              <a:t>Icon</a:t>
            </a:r>
            <a:endParaRPr lang="fr-CA"/>
          </a:p>
        </p:txBody>
      </p:sp>
      <p:sp>
        <p:nvSpPr>
          <p:cNvPr id="18" name="Title Placeholder 1">
            <a:extLst>
              <a:ext uri="{FF2B5EF4-FFF2-40B4-BE49-F238E27FC236}">
                <a16:creationId xmlns:a16="http://schemas.microsoft.com/office/drawing/2014/main" id="{EEFD2489-ED80-B806-2C5D-027BC6121474}"/>
              </a:ext>
            </a:extLst>
          </p:cNvPr>
          <p:cNvSpPr>
            <a:spLocks noGrp="1"/>
          </p:cNvSpPr>
          <p:nvPr>
            <p:ph type="title"/>
          </p:nvPr>
        </p:nvSpPr>
        <p:spPr>
          <a:xfrm>
            <a:off x="1181098" y="301088"/>
            <a:ext cx="8229602" cy="936733"/>
          </a:xfrm>
          <a:prstGeom prst="rect">
            <a:avLst/>
          </a:prstGeom>
        </p:spPr>
        <p:txBody>
          <a:bodyPr vert="horz" lIns="91440" tIns="45720" rIns="91440" bIns="45720" rtlCol="0" anchor="ctr">
            <a:normAutofit/>
          </a:bodyPr>
          <a:lstStyle/>
          <a:p>
            <a:r>
              <a:rPr lang="en-US"/>
              <a:t>Click to edit Master title style</a:t>
            </a:r>
            <a:endParaRPr lang="fr-CA"/>
          </a:p>
        </p:txBody>
      </p:sp>
      <p:sp>
        <p:nvSpPr>
          <p:cNvPr id="19" name="TextBox 18">
            <a:extLst>
              <a:ext uri="{FF2B5EF4-FFF2-40B4-BE49-F238E27FC236}">
                <a16:creationId xmlns:a16="http://schemas.microsoft.com/office/drawing/2014/main" id="{B72415BE-E21E-35FC-3062-D99CAA9D3D12}"/>
              </a:ext>
            </a:extLst>
          </p:cNvPr>
          <p:cNvSpPr txBox="1"/>
          <p:nvPr userDrawn="1"/>
        </p:nvSpPr>
        <p:spPr>
          <a:xfrm>
            <a:off x="230907" y="6376043"/>
            <a:ext cx="683988" cy="307777"/>
          </a:xfrm>
          <a:prstGeom prst="rect">
            <a:avLst/>
          </a:prstGeom>
          <a:noFill/>
        </p:spPr>
        <p:txBody>
          <a:bodyPr wrap="square" anchor="t">
            <a:spAutoFit/>
          </a:bodyPr>
          <a:lstStyle/>
          <a:p>
            <a:r>
              <a:rPr lang="fr-CA" sz="1400" b="0">
                <a:solidFill>
                  <a:srgbClr val="50152C"/>
                </a:solidFill>
                <a:latin typeface="Arial" panose="020B0604020202020204" pitchFamily="34" charset="0"/>
                <a:cs typeface="Arial" panose="020B0604020202020204" pitchFamily="34" charset="0"/>
              </a:rPr>
              <a:t>P.</a:t>
            </a:r>
            <a:endParaRPr lang="fr-CA" sz="1400" b="0">
              <a:latin typeface="Arial" panose="020B0604020202020204" pitchFamily="34" charset="0"/>
              <a:cs typeface="Arial" panose="020B0604020202020204" pitchFamily="34" charset="0"/>
            </a:endParaRPr>
          </a:p>
        </p:txBody>
      </p:sp>
      <p:sp>
        <p:nvSpPr>
          <p:cNvPr id="20" name="Slide Number Placeholder 5">
            <a:extLst>
              <a:ext uri="{FF2B5EF4-FFF2-40B4-BE49-F238E27FC236}">
                <a16:creationId xmlns:a16="http://schemas.microsoft.com/office/drawing/2014/main" id="{22654E7F-C051-EC0C-38A3-5CA4970F4B9D}"/>
              </a:ext>
            </a:extLst>
          </p:cNvPr>
          <p:cNvSpPr txBox="1">
            <a:spLocks/>
          </p:cNvSpPr>
          <p:nvPr userDrawn="1"/>
        </p:nvSpPr>
        <p:spPr>
          <a:xfrm>
            <a:off x="486368" y="6376043"/>
            <a:ext cx="549952" cy="307778"/>
          </a:xfrm>
          <a:prstGeom prst="rect">
            <a:avLst/>
          </a:prstGeom>
        </p:spPr>
        <p:txBody>
          <a:bodyPr vert="horz" lIns="0" tIns="45720" rIns="91440" bIns="45720" rtlCol="0" anchor="t"/>
          <a:lstStyle>
            <a:defPPr>
              <a:defRPr lang="fr-FR"/>
            </a:defPPr>
            <a:lvl1pPr marL="0" algn="l" defTabSz="91440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2F0B28-D135-404C-B963-539A79E1DE99}" type="slidenum">
              <a:rPr lang="fr-CA" sz="1400" b="0" smtClean="0">
                <a:solidFill>
                  <a:schemeClr val="bg1">
                    <a:lumMod val="65000"/>
                  </a:schemeClr>
                </a:solidFill>
              </a:rPr>
              <a:pPr/>
              <a:t>‹#›</a:t>
            </a:fld>
            <a:endParaRPr lang="fr-CA" sz="1400" b="0">
              <a:solidFill>
                <a:schemeClr val="bg1">
                  <a:lumMod val="65000"/>
                </a:schemeClr>
              </a:solidFill>
            </a:endParaRPr>
          </a:p>
        </p:txBody>
      </p:sp>
      <p:sp>
        <p:nvSpPr>
          <p:cNvPr id="21" name="Content Placeholder 2">
            <a:extLst>
              <a:ext uri="{FF2B5EF4-FFF2-40B4-BE49-F238E27FC236}">
                <a16:creationId xmlns:a16="http://schemas.microsoft.com/office/drawing/2014/main" id="{EA695B45-219C-D3AF-2CA0-D8203C07832A}"/>
              </a:ext>
            </a:extLst>
          </p:cNvPr>
          <p:cNvSpPr>
            <a:spLocks noGrp="1"/>
          </p:cNvSpPr>
          <p:nvPr>
            <p:ph idx="12"/>
          </p:nvPr>
        </p:nvSpPr>
        <p:spPr>
          <a:xfrm>
            <a:off x="4575810" y="4627515"/>
            <a:ext cx="7303770" cy="2152650"/>
          </a:xfrm>
          <a:solidFill>
            <a:schemeClr val="bg1">
              <a:lumMod val="95000"/>
            </a:schemeClr>
          </a:solidFill>
        </p:spPr>
        <p:txBody>
          <a:bodyPr lIns="0" tIns="288000" rIns="360000" bIns="288000" anchor="ctr"/>
          <a:lstStyle>
            <a:lvl1pPr marL="0" indent="0">
              <a:buNone/>
              <a:defRPr>
                <a:solidFill>
                  <a:srgbClr val="50152C"/>
                </a:solidFill>
              </a:defRPr>
            </a:lvl1pPr>
          </a:lstStyle>
          <a:p>
            <a:pPr lvl="0"/>
            <a:r>
              <a:rPr lang="en-US"/>
              <a:t>Click to edit Master text styles</a:t>
            </a:r>
            <a:endParaRPr lang="fr-CA"/>
          </a:p>
        </p:txBody>
      </p:sp>
      <p:sp>
        <p:nvSpPr>
          <p:cNvPr id="22" name="Picture Placeholder 8">
            <a:extLst>
              <a:ext uri="{FF2B5EF4-FFF2-40B4-BE49-F238E27FC236}">
                <a16:creationId xmlns:a16="http://schemas.microsoft.com/office/drawing/2014/main" id="{5D645CA0-F394-A101-7A42-F17B5C10FD8C}"/>
              </a:ext>
            </a:extLst>
          </p:cNvPr>
          <p:cNvSpPr>
            <a:spLocks noGrp="1"/>
          </p:cNvSpPr>
          <p:nvPr>
            <p:ph type="pic" sz="quarter" idx="13" hasCustomPrompt="1"/>
          </p:nvPr>
        </p:nvSpPr>
        <p:spPr>
          <a:xfrm>
            <a:off x="2694419" y="4932567"/>
            <a:ext cx="1553732" cy="1542548"/>
          </a:xfrm>
          <a:prstGeom prst="ellipse">
            <a:avLst/>
          </a:prstGeom>
          <a:noFill/>
        </p:spPr>
        <p:txBody>
          <a:bodyPr anchor="ctr">
            <a:normAutofit/>
          </a:bodyPr>
          <a:lstStyle>
            <a:lvl1pPr marL="0" indent="0" algn="ctr">
              <a:buNone/>
              <a:defRPr sz="1600"/>
            </a:lvl1pPr>
          </a:lstStyle>
          <a:p>
            <a:r>
              <a:rPr lang="en-CA"/>
              <a:t>Icon</a:t>
            </a:r>
            <a:endParaRPr lang="fr-CA"/>
          </a:p>
        </p:txBody>
      </p:sp>
      <p:sp>
        <p:nvSpPr>
          <p:cNvPr id="23" name="Content Placeholder 2">
            <a:extLst>
              <a:ext uri="{FF2B5EF4-FFF2-40B4-BE49-F238E27FC236}">
                <a16:creationId xmlns:a16="http://schemas.microsoft.com/office/drawing/2014/main" id="{F8879098-5EB8-9802-51FA-5412B290FC1B}"/>
              </a:ext>
            </a:extLst>
          </p:cNvPr>
          <p:cNvSpPr>
            <a:spLocks noGrp="1"/>
          </p:cNvSpPr>
          <p:nvPr>
            <p:ph idx="18"/>
          </p:nvPr>
        </p:nvSpPr>
        <p:spPr>
          <a:xfrm>
            <a:off x="1181098" y="1370280"/>
            <a:ext cx="8229602" cy="425691"/>
          </a:xfrm>
          <a:noFill/>
        </p:spPr>
        <p:txBody>
          <a:bodyPr lIns="90000" tIns="0" rIns="0" bIns="0" anchor="t">
            <a:normAutofit/>
          </a:bodyPr>
          <a:lstStyle>
            <a:lvl1pPr marL="0" indent="0">
              <a:buNone/>
              <a:defRPr sz="2000">
                <a:solidFill>
                  <a:srgbClr val="52595F"/>
                </a:solidFill>
              </a:defRPr>
            </a:lvl1pPr>
          </a:lstStyle>
          <a:p>
            <a:pPr lvl="0"/>
            <a:r>
              <a:rPr lang="en-US"/>
              <a:t>Click to edit Master text styles</a:t>
            </a:r>
            <a:endParaRPr lang="fr-CA"/>
          </a:p>
        </p:txBody>
      </p:sp>
    </p:spTree>
    <p:extLst>
      <p:ext uri="{BB962C8B-B14F-4D97-AF65-F5344CB8AC3E}">
        <p14:creationId xmlns:p14="http://schemas.microsoft.com/office/powerpoint/2010/main" val="42802612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843743-DE1E-0CB7-85C5-6DD0B606372D}"/>
              </a:ext>
            </a:extLst>
          </p:cNvPr>
          <p:cNvSpPr>
            <a:spLocks noGrp="1"/>
          </p:cNvSpPr>
          <p:nvPr>
            <p:ph idx="18"/>
          </p:nvPr>
        </p:nvSpPr>
        <p:spPr>
          <a:xfrm>
            <a:off x="9875521" y="3067051"/>
            <a:ext cx="2316480" cy="3790949"/>
          </a:xfrm>
          <a:solidFill>
            <a:schemeClr val="accent2"/>
          </a:solidFill>
        </p:spPr>
        <p:txBody>
          <a:bodyPr lIns="360000" tIns="1008000" rIns="360000" bIns="360000" anchor="t">
            <a:normAutofit/>
          </a:bodyPr>
          <a:lstStyle>
            <a:lvl1pPr marL="0" indent="0" algn="ctr">
              <a:buNone/>
              <a:defRPr sz="1600">
                <a:solidFill>
                  <a:srgbClr val="50152C"/>
                </a:solidFill>
              </a:defRPr>
            </a:lvl1pPr>
          </a:lstStyle>
          <a:p>
            <a:pPr lvl="0"/>
            <a:r>
              <a:rPr lang="en-US"/>
              <a:t>Click to edit Master text styles</a:t>
            </a:r>
            <a:endParaRPr lang="fr-CA"/>
          </a:p>
        </p:txBody>
      </p:sp>
      <p:sp>
        <p:nvSpPr>
          <p:cNvPr id="21" name="Content Placeholder 2">
            <a:extLst>
              <a:ext uri="{FF2B5EF4-FFF2-40B4-BE49-F238E27FC236}">
                <a16:creationId xmlns:a16="http://schemas.microsoft.com/office/drawing/2014/main" id="{EC670850-8ADA-C20C-482D-1AD538D7DB0E}"/>
              </a:ext>
            </a:extLst>
          </p:cNvPr>
          <p:cNvSpPr>
            <a:spLocks noGrp="1"/>
          </p:cNvSpPr>
          <p:nvPr>
            <p:ph idx="19"/>
          </p:nvPr>
        </p:nvSpPr>
        <p:spPr>
          <a:xfrm>
            <a:off x="7559041" y="3067051"/>
            <a:ext cx="2316480" cy="3790949"/>
          </a:xfrm>
          <a:solidFill>
            <a:schemeClr val="accent2">
              <a:alpha val="85000"/>
            </a:schemeClr>
          </a:solidFill>
        </p:spPr>
        <p:txBody>
          <a:bodyPr lIns="360000" tIns="1008000" rIns="360000" bIns="360000" anchor="t">
            <a:normAutofit/>
          </a:bodyPr>
          <a:lstStyle>
            <a:lvl1pPr marL="0" indent="0" algn="ctr">
              <a:buNone/>
              <a:defRPr sz="1600">
                <a:solidFill>
                  <a:srgbClr val="50152C"/>
                </a:solidFill>
              </a:defRPr>
            </a:lvl1pPr>
          </a:lstStyle>
          <a:p>
            <a:pPr lvl="0"/>
            <a:r>
              <a:rPr lang="en-US"/>
              <a:t>Click to edit Master text styles</a:t>
            </a:r>
            <a:endParaRPr lang="fr-CA"/>
          </a:p>
        </p:txBody>
      </p:sp>
      <p:sp>
        <p:nvSpPr>
          <p:cNvPr id="22" name="Content Placeholder 2">
            <a:extLst>
              <a:ext uri="{FF2B5EF4-FFF2-40B4-BE49-F238E27FC236}">
                <a16:creationId xmlns:a16="http://schemas.microsoft.com/office/drawing/2014/main" id="{4BF04636-5E23-834F-6A98-F334759607C2}"/>
              </a:ext>
            </a:extLst>
          </p:cNvPr>
          <p:cNvSpPr>
            <a:spLocks noGrp="1"/>
          </p:cNvSpPr>
          <p:nvPr>
            <p:ph idx="20"/>
          </p:nvPr>
        </p:nvSpPr>
        <p:spPr>
          <a:xfrm>
            <a:off x="5242561" y="3067051"/>
            <a:ext cx="2316480" cy="3790949"/>
          </a:xfrm>
          <a:solidFill>
            <a:schemeClr val="accent2">
              <a:alpha val="70000"/>
            </a:schemeClr>
          </a:solidFill>
        </p:spPr>
        <p:txBody>
          <a:bodyPr lIns="360000" tIns="1008000" rIns="360000" bIns="360000" anchor="t">
            <a:normAutofit/>
          </a:bodyPr>
          <a:lstStyle>
            <a:lvl1pPr marL="0" indent="0" algn="ctr">
              <a:buNone/>
              <a:defRPr sz="1600">
                <a:solidFill>
                  <a:srgbClr val="50152C"/>
                </a:solidFill>
              </a:defRPr>
            </a:lvl1pPr>
          </a:lstStyle>
          <a:p>
            <a:pPr lvl="0"/>
            <a:r>
              <a:rPr lang="en-US"/>
              <a:t>Click to edit Master text styles</a:t>
            </a:r>
            <a:endParaRPr lang="fr-CA"/>
          </a:p>
        </p:txBody>
      </p:sp>
      <p:sp>
        <p:nvSpPr>
          <p:cNvPr id="23" name="Content Placeholder 2">
            <a:extLst>
              <a:ext uri="{FF2B5EF4-FFF2-40B4-BE49-F238E27FC236}">
                <a16:creationId xmlns:a16="http://schemas.microsoft.com/office/drawing/2014/main" id="{464B8A76-59FF-777C-0387-F65E9E20801B}"/>
              </a:ext>
            </a:extLst>
          </p:cNvPr>
          <p:cNvSpPr>
            <a:spLocks noGrp="1"/>
          </p:cNvSpPr>
          <p:nvPr>
            <p:ph idx="21"/>
          </p:nvPr>
        </p:nvSpPr>
        <p:spPr>
          <a:xfrm flipH="1">
            <a:off x="2926081" y="3067051"/>
            <a:ext cx="2316480" cy="3790949"/>
          </a:xfrm>
          <a:prstGeom prst="round1Rect">
            <a:avLst/>
          </a:prstGeom>
          <a:solidFill>
            <a:schemeClr val="accent2">
              <a:alpha val="55000"/>
            </a:schemeClr>
          </a:solidFill>
        </p:spPr>
        <p:txBody>
          <a:bodyPr lIns="360000" tIns="1008000" rIns="360000" bIns="360000" anchor="t">
            <a:normAutofit/>
          </a:bodyPr>
          <a:lstStyle>
            <a:lvl1pPr marL="0" indent="0" algn="ctr">
              <a:buNone/>
              <a:defRPr sz="1600">
                <a:solidFill>
                  <a:srgbClr val="50152C"/>
                </a:solidFill>
              </a:defRPr>
            </a:lvl1pPr>
          </a:lstStyle>
          <a:p>
            <a:pPr lvl="0"/>
            <a:r>
              <a:rPr lang="en-US"/>
              <a:t>Click to edit Master text styles</a:t>
            </a:r>
            <a:endParaRPr lang="fr-CA"/>
          </a:p>
        </p:txBody>
      </p:sp>
      <p:sp>
        <p:nvSpPr>
          <p:cNvPr id="9" name="Picture Placeholder 8">
            <a:extLst>
              <a:ext uri="{FF2B5EF4-FFF2-40B4-BE49-F238E27FC236}">
                <a16:creationId xmlns:a16="http://schemas.microsoft.com/office/drawing/2014/main" id="{8A36C27C-24D4-2F32-F3FF-A8C18E069892}"/>
              </a:ext>
            </a:extLst>
          </p:cNvPr>
          <p:cNvSpPr>
            <a:spLocks noGrp="1"/>
          </p:cNvSpPr>
          <p:nvPr>
            <p:ph type="pic" sz="quarter" idx="11" hasCustomPrompt="1"/>
          </p:nvPr>
        </p:nvSpPr>
        <p:spPr>
          <a:xfrm>
            <a:off x="3504136" y="2450214"/>
            <a:ext cx="1254263" cy="1245235"/>
          </a:xfrm>
          <a:prstGeom prst="ellipse">
            <a:avLst/>
          </a:prstGeom>
          <a:solidFill>
            <a:schemeClr val="bg1"/>
          </a:solidFill>
          <a:ln w="41275">
            <a:solidFill>
              <a:srgbClr val="6CACE4"/>
            </a:solidFill>
          </a:ln>
        </p:spPr>
        <p:txBody>
          <a:bodyPr anchor="ctr">
            <a:normAutofit/>
          </a:bodyPr>
          <a:lstStyle>
            <a:lvl1pPr marL="0" indent="0" algn="ctr">
              <a:buNone/>
              <a:defRPr sz="1600"/>
            </a:lvl1pPr>
          </a:lstStyle>
          <a:p>
            <a:r>
              <a:rPr lang="en-CA"/>
              <a:t>Icon</a:t>
            </a:r>
            <a:endParaRPr lang="fr-CA"/>
          </a:p>
        </p:txBody>
      </p:sp>
      <p:sp>
        <p:nvSpPr>
          <p:cNvPr id="6" name="Picture Placeholder 8">
            <a:extLst>
              <a:ext uri="{FF2B5EF4-FFF2-40B4-BE49-F238E27FC236}">
                <a16:creationId xmlns:a16="http://schemas.microsoft.com/office/drawing/2014/main" id="{627CFD18-8A49-3B75-1C42-72203186E903}"/>
              </a:ext>
            </a:extLst>
          </p:cNvPr>
          <p:cNvSpPr>
            <a:spLocks noGrp="1"/>
          </p:cNvSpPr>
          <p:nvPr>
            <p:ph type="pic" sz="quarter" idx="13" hasCustomPrompt="1"/>
          </p:nvPr>
        </p:nvSpPr>
        <p:spPr>
          <a:xfrm>
            <a:off x="5767503" y="2450214"/>
            <a:ext cx="1254263" cy="1245235"/>
          </a:xfrm>
          <a:prstGeom prst="ellipse">
            <a:avLst/>
          </a:prstGeom>
          <a:solidFill>
            <a:schemeClr val="bg1"/>
          </a:solidFill>
          <a:ln w="41275">
            <a:solidFill>
              <a:srgbClr val="6CACE4"/>
            </a:solidFill>
          </a:ln>
        </p:spPr>
        <p:txBody>
          <a:bodyPr anchor="ctr">
            <a:normAutofit/>
          </a:bodyPr>
          <a:lstStyle>
            <a:lvl1pPr marL="0" indent="0" algn="ctr">
              <a:buNone/>
              <a:defRPr sz="1600"/>
            </a:lvl1pPr>
          </a:lstStyle>
          <a:p>
            <a:r>
              <a:rPr lang="en-CA"/>
              <a:t>Icon</a:t>
            </a:r>
            <a:endParaRPr lang="fr-CA"/>
          </a:p>
        </p:txBody>
      </p:sp>
      <p:sp>
        <p:nvSpPr>
          <p:cNvPr id="8" name="Picture Placeholder 8">
            <a:extLst>
              <a:ext uri="{FF2B5EF4-FFF2-40B4-BE49-F238E27FC236}">
                <a16:creationId xmlns:a16="http://schemas.microsoft.com/office/drawing/2014/main" id="{49959133-FD21-5540-1E9C-C4AF4DD548E7}"/>
              </a:ext>
            </a:extLst>
          </p:cNvPr>
          <p:cNvSpPr>
            <a:spLocks noGrp="1"/>
          </p:cNvSpPr>
          <p:nvPr>
            <p:ph type="pic" sz="quarter" idx="15" hasCustomPrompt="1"/>
          </p:nvPr>
        </p:nvSpPr>
        <p:spPr>
          <a:xfrm>
            <a:off x="8143262" y="2450214"/>
            <a:ext cx="1254263" cy="1245235"/>
          </a:xfrm>
          <a:prstGeom prst="ellipse">
            <a:avLst/>
          </a:prstGeom>
          <a:solidFill>
            <a:schemeClr val="bg1"/>
          </a:solidFill>
          <a:ln w="41275">
            <a:solidFill>
              <a:srgbClr val="6CACE4"/>
            </a:solidFill>
          </a:ln>
        </p:spPr>
        <p:txBody>
          <a:bodyPr anchor="ctr">
            <a:normAutofit/>
          </a:bodyPr>
          <a:lstStyle>
            <a:lvl1pPr marL="0" indent="0" algn="ctr">
              <a:buNone/>
              <a:defRPr sz="1600"/>
            </a:lvl1pPr>
          </a:lstStyle>
          <a:p>
            <a:r>
              <a:rPr lang="en-CA"/>
              <a:t>Icon</a:t>
            </a:r>
            <a:endParaRPr lang="fr-CA"/>
          </a:p>
        </p:txBody>
      </p:sp>
      <p:sp>
        <p:nvSpPr>
          <p:cNvPr id="17" name="Picture Placeholder 8">
            <a:extLst>
              <a:ext uri="{FF2B5EF4-FFF2-40B4-BE49-F238E27FC236}">
                <a16:creationId xmlns:a16="http://schemas.microsoft.com/office/drawing/2014/main" id="{19603458-4859-AC87-587A-97CF44D96326}"/>
              </a:ext>
            </a:extLst>
          </p:cNvPr>
          <p:cNvSpPr>
            <a:spLocks noGrp="1"/>
          </p:cNvSpPr>
          <p:nvPr>
            <p:ph type="pic" sz="quarter" idx="17" hasCustomPrompt="1"/>
          </p:nvPr>
        </p:nvSpPr>
        <p:spPr>
          <a:xfrm>
            <a:off x="10406629" y="2450214"/>
            <a:ext cx="1254263" cy="1245235"/>
          </a:xfrm>
          <a:prstGeom prst="ellipse">
            <a:avLst/>
          </a:prstGeom>
          <a:solidFill>
            <a:schemeClr val="bg1"/>
          </a:solidFill>
          <a:ln w="41275">
            <a:solidFill>
              <a:srgbClr val="6CACE4"/>
            </a:solidFill>
          </a:ln>
        </p:spPr>
        <p:txBody>
          <a:bodyPr anchor="ctr">
            <a:normAutofit/>
          </a:bodyPr>
          <a:lstStyle>
            <a:lvl1pPr marL="0" indent="0" algn="ctr">
              <a:buNone/>
              <a:defRPr sz="1600"/>
            </a:lvl1pPr>
          </a:lstStyle>
          <a:p>
            <a:r>
              <a:rPr lang="en-CA"/>
              <a:t>Icon</a:t>
            </a:r>
            <a:endParaRPr lang="fr-CA"/>
          </a:p>
        </p:txBody>
      </p:sp>
      <p:sp>
        <p:nvSpPr>
          <p:cNvPr id="2" name="Title Placeholder 1">
            <a:extLst>
              <a:ext uri="{FF2B5EF4-FFF2-40B4-BE49-F238E27FC236}">
                <a16:creationId xmlns:a16="http://schemas.microsoft.com/office/drawing/2014/main" id="{D695E16C-8C9F-7945-5873-7164CEE2B44B}"/>
              </a:ext>
            </a:extLst>
          </p:cNvPr>
          <p:cNvSpPr>
            <a:spLocks noGrp="1"/>
          </p:cNvSpPr>
          <p:nvPr>
            <p:ph type="title"/>
          </p:nvPr>
        </p:nvSpPr>
        <p:spPr>
          <a:xfrm>
            <a:off x="2691084" y="301088"/>
            <a:ext cx="9142775" cy="936733"/>
          </a:xfrm>
          <a:prstGeom prst="rect">
            <a:avLst/>
          </a:prstGeom>
        </p:spPr>
        <p:txBody>
          <a:bodyPr vert="horz" lIns="91440" tIns="45720" rIns="91440" bIns="45720" rtlCol="0" anchor="ctr">
            <a:normAutofit/>
          </a:bodyPr>
          <a:lstStyle/>
          <a:p>
            <a:r>
              <a:rPr lang="en-US"/>
              <a:t>Click to edit Master title style</a:t>
            </a:r>
            <a:endParaRPr lang="fr-CA"/>
          </a:p>
        </p:txBody>
      </p:sp>
      <p:sp>
        <p:nvSpPr>
          <p:cNvPr id="24" name="Content Placeholder 2">
            <a:extLst>
              <a:ext uri="{FF2B5EF4-FFF2-40B4-BE49-F238E27FC236}">
                <a16:creationId xmlns:a16="http://schemas.microsoft.com/office/drawing/2014/main" id="{6E08D6A3-16DF-C139-F8A2-526D2EAC27BC}"/>
              </a:ext>
            </a:extLst>
          </p:cNvPr>
          <p:cNvSpPr>
            <a:spLocks noGrp="1"/>
          </p:cNvSpPr>
          <p:nvPr>
            <p:ph idx="22"/>
          </p:nvPr>
        </p:nvSpPr>
        <p:spPr>
          <a:xfrm>
            <a:off x="2691084" y="1370280"/>
            <a:ext cx="9142775" cy="425691"/>
          </a:xfrm>
          <a:noFill/>
        </p:spPr>
        <p:txBody>
          <a:bodyPr lIns="90000" tIns="0" rIns="0" bIns="0" anchor="t">
            <a:normAutofit/>
          </a:bodyPr>
          <a:lstStyle>
            <a:lvl1pPr marL="0" indent="0">
              <a:buNone/>
              <a:defRPr sz="2000">
                <a:solidFill>
                  <a:srgbClr val="52595F"/>
                </a:solidFill>
              </a:defRPr>
            </a:lvl1pPr>
          </a:lstStyle>
          <a:p>
            <a:pPr lvl="0"/>
            <a:r>
              <a:rPr lang="en-US"/>
              <a:t>Click to edit Master text styles</a:t>
            </a:r>
            <a:endParaRPr lang="fr-CA"/>
          </a:p>
        </p:txBody>
      </p:sp>
    </p:spTree>
    <p:extLst>
      <p:ext uri="{BB962C8B-B14F-4D97-AF65-F5344CB8AC3E}">
        <p14:creationId xmlns:p14="http://schemas.microsoft.com/office/powerpoint/2010/main" val="33169431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2_Custom Layout">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FB2A22A7-4AE2-4032-0F76-CBDFBF833628}"/>
              </a:ext>
            </a:extLst>
          </p:cNvPr>
          <p:cNvSpPr>
            <a:spLocks noGrp="1"/>
          </p:cNvSpPr>
          <p:nvPr>
            <p:ph idx="18"/>
          </p:nvPr>
        </p:nvSpPr>
        <p:spPr>
          <a:xfrm>
            <a:off x="9875521" y="3067051"/>
            <a:ext cx="2316480" cy="3790949"/>
          </a:xfrm>
          <a:solidFill>
            <a:srgbClr val="6CACE4"/>
          </a:solidFill>
        </p:spPr>
        <p:txBody>
          <a:bodyPr lIns="360000" tIns="1008000" rIns="360000" bIns="360000" anchor="t">
            <a:normAutofit/>
          </a:bodyPr>
          <a:lstStyle>
            <a:lvl1pPr marL="0" indent="0" algn="ctr">
              <a:buNone/>
              <a:defRPr sz="1600">
                <a:solidFill>
                  <a:srgbClr val="50152C"/>
                </a:solidFill>
              </a:defRPr>
            </a:lvl1pPr>
          </a:lstStyle>
          <a:p>
            <a:pPr lvl="0"/>
            <a:r>
              <a:rPr lang="en-US"/>
              <a:t>Click to edit Master text styles</a:t>
            </a:r>
            <a:endParaRPr lang="fr-CA"/>
          </a:p>
        </p:txBody>
      </p:sp>
      <p:sp>
        <p:nvSpPr>
          <p:cNvPr id="3" name="Content Placeholder 2">
            <a:extLst>
              <a:ext uri="{FF2B5EF4-FFF2-40B4-BE49-F238E27FC236}">
                <a16:creationId xmlns:a16="http://schemas.microsoft.com/office/drawing/2014/main" id="{DA2B6559-55B6-D23E-B70A-8E0862772735}"/>
              </a:ext>
            </a:extLst>
          </p:cNvPr>
          <p:cNvSpPr>
            <a:spLocks noGrp="1"/>
          </p:cNvSpPr>
          <p:nvPr>
            <p:ph idx="19"/>
          </p:nvPr>
        </p:nvSpPr>
        <p:spPr>
          <a:xfrm>
            <a:off x="7559041" y="3067051"/>
            <a:ext cx="2316480" cy="3790949"/>
          </a:xfrm>
          <a:solidFill>
            <a:srgbClr val="6CACE4">
              <a:alpha val="85000"/>
            </a:srgbClr>
          </a:solidFill>
        </p:spPr>
        <p:txBody>
          <a:bodyPr lIns="360000" tIns="1008000" rIns="360000" bIns="360000" anchor="t">
            <a:normAutofit/>
          </a:bodyPr>
          <a:lstStyle>
            <a:lvl1pPr marL="0" indent="0" algn="ctr">
              <a:buNone/>
              <a:defRPr sz="1600">
                <a:solidFill>
                  <a:srgbClr val="50152C"/>
                </a:solidFill>
              </a:defRPr>
            </a:lvl1pPr>
          </a:lstStyle>
          <a:p>
            <a:pPr lvl="0"/>
            <a:r>
              <a:rPr lang="en-US"/>
              <a:t>Click to edit Master text styles</a:t>
            </a:r>
            <a:endParaRPr lang="fr-CA"/>
          </a:p>
        </p:txBody>
      </p:sp>
      <p:sp>
        <p:nvSpPr>
          <p:cNvPr id="11" name="Content Placeholder 2">
            <a:extLst>
              <a:ext uri="{FF2B5EF4-FFF2-40B4-BE49-F238E27FC236}">
                <a16:creationId xmlns:a16="http://schemas.microsoft.com/office/drawing/2014/main" id="{CD5CDDF3-03EB-5BA7-05FE-9B588A138BA0}"/>
              </a:ext>
            </a:extLst>
          </p:cNvPr>
          <p:cNvSpPr>
            <a:spLocks noGrp="1"/>
          </p:cNvSpPr>
          <p:nvPr>
            <p:ph idx="20"/>
          </p:nvPr>
        </p:nvSpPr>
        <p:spPr>
          <a:xfrm>
            <a:off x="5242561" y="3067051"/>
            <a:ext cx="2316480" cy="3790949"/>
          </a:xfrm>
          <a:solidFill>
            <a:srgbClr val="6CACE4">
              <a:alpha val="70000"/>
            </a:srgbClr>
          </a:solidFill>
        </p:spPr>
        <p:txBody>
          <a:bodyPr lIns="360000" tIns="1008000" rIns="360000" bIns="360000" anchor="t">
            <a:normAutofit/>
          </a:bodyPr>
          <a:lstStyle>
            <a:lvl1pPr marL="0" indent="0" algn="ctr">
              <a:buNone/>
              <a:defRPr sz="1600">
                <a:solidFill>
                  <a:srgbClr val="50152C"/>
                </a:solidFill>
              </a:defRPr>
            </a:lvl1pPr>
          </a:lstStyle>
          <a:p>
            <a:pPr lvl="0"/>
            <a:r>
              <a:rPr lang="en-US"/>
              <a:t>Click to edit Master text styles</a:t>
            </a:r>
            <a:endParaRPr lang="fr-CA"/>
          </a:p>
        </p:txBody>
      </p:sp>
      <p:sp>
        <p:nvSpPr>
          <p:cNvPr id="12" name="Content Placeholder 2">
            <a:extLst>
              <a:ext uri="{FF2B5EF4-FFF2-40B4-BE49-F238E27FC236}">
                <a16:creationId xmlns:a16="http://schemas.microsoft.com/office/drawing/2014/main" id="{B80559FC-ACF6-699B-8B42-9122A22ECB89}"/>
              </a:ext>
            </a:extLst>
          </p:cNvPr>
          <p:cNvSpPr>
            <a:spLocks noGrp="1"/>
          </p:cNvSpPr>
          <p:nvPr>
            <p:ph idx="21"/>
          </p:nvPr>
        </p:nvSpPr>
        <p:spPr>
          <a:xfrm flipH="1">
            <a:off x="2926081" y="3067051"/>
            <a:ext cx="2316480" cy="3790949"/>
          </a:xfrm>
          <a:prstGeom prst="round1Rect">
            <a:avLst/>
          </a:prstGeom>
          <a:solidFill>
            <a:srgbClr val="6CACE4">
              <a:alpha val="55000"/>
            </a:srgbClr>
          </a:solidFill>
        </p:spPr>
        <p:txBody>
          <a:bodyPr lIns="360000" tIns="1008000" rIns="360000" bIns="360000" anchor="t">
            <a:normAutofit/>
          </a:bodyPr>
          <a:lstStyle>
            <a:lvl1pPr marL="0" indent="0" algn="ctr">
              <a:buNone/>
              <a:defRPr sz="1600">
                <a:solidFill>
                  <a:srgbClr val="50152C"/>
                </a:solidFill>
              </a:defRPr>
            </a:lvl1pPr>
          </a:lstStyle>
          <a:p>
            <a:pPr lvl="0"/>
            <a:r>
              <a:rPr lang="en-US"/>
              <a:t>Click to edit Master text styles</a:t>
            </a:r>
            <a:endParaRPr lang="fr-CA"/>
          </a:p>
        </p:txBody>
      </p:sp>
      <p:sp>
        <p:nvSpPr>
          <p:cNvPr id="13" name="Picture Placeholder 8">
            <a:extLst>
              <a:ext uri="{FF2B5EF4-FFF2-40B4-BE49-F238E27FC236}">
                <a16:creationId xmlns:a16="http://schemas.microsoft.com/office/drawing/2014/main" id="{30A52F24-94DF-7E90-6114-0C53005854E2}"/>
              </a:ext>
            </a:extLst>
          </p:cNvPr>
          <p:cNvSpPr>
            <a:spLocks noGrp="1"/>
          </p:cNvSpPr>
          <p:nvPr>
            <p:ph type="pic" sz="quarter" idx="11" hasCustomPrompt="1"/>
          </p:nvPr>
        </p:nvSpPr>
        <p:spPr>
          <a:xfrm>
            <a:off x="3504136" y="2450214"/>
            <a:ext cx="1254263" cy="1245235"/>
          </a:xfrm>
          <a:prstGeom prst="ellipse">
            <a:avLst/>
          </a:prstGeom>
          <a:solidFill>
            <a:schemeClr val="bg1"/>
          </a:solidFill>
          <a:ln w="41275">
            <a:solidFill>
              <a:srgbClr val="F68D2E"/>
            </a:solidFill>
          </a:ln>
        </p:spPr>
        <p:txBody>
          <a:bodyPr anchor="ctr">
            <a:normAutofit/>
          </a:bodyPr>
          <a:lstStyle>
            <a:lvl1pPr marL="0" indent="0" algn="ctr">
              <a:buNone/>
              <a:defRPr sz="1600"/>
            </a:lvl1pPr>
          </a:lstStyle>
          <a:p>
            <a:r>
              <a:rPr lang="en-CA"/>
              <a:t>Icon</a:t>
            </a:r>
            <a:endParaRPr lang="fr-CA"/>
          </a:p>
        </p:txBody>
      </p:sp>
      <p:sp>
        <p:nvSpPr>
          <p:cNvPr id="14" name="Picture Placeholder 8">
            <a:extLst>
              <a:ext uri="{FF2B5EF4-FFF2-40B4-BE49-F238E27FC236}">
                <a16:creationId xmlns:a16="http://schemas.microsoft.com/office/drawing/2014/main" id="{16604F9F-BE88-64E8-5882-B664A654A8FB}"/>
              </a:ext>
            </a:extLst>
          </p:cNvPr>
          <p:cNvSpPr>
            <a:spLocks noGrp="1"/>
          </p:cNvSpPr>
          <p:nvPr>
            <p:ph type="pic" sz="quarter" idx="13" hasCustomPrompt="1"/>
          </p:nvPr>
        </p:nvSpPr>
        <p:spPr>
          <a:xfrm>
            <a:off x="5767503" y="2450214"/>
            <a:ext cx="1254263" cy="1245235"/>
          </a:xfrm>
          <a:prstGeom prst="ellipse">
            <a:avLst/>
          </a:prstGeom>
          <a:solidFill>
            <a:schemeClr val="bg1"/>
          </a:solidFill>
          <a:ln w="41275">
            <a:solidFill>
              <a:srgbClr val="F68D2E"/>
            </a:solidFill>
          </a:ln>
        </p:spPr>
        <p:txBody>
          <a:bodyPr anchor="ctr">
            <a:normAutofit/>
          </a:bodyPr>
          <a:lstStyle>
            <a:lvl1pPr marL="0" indent="0" algn="ctr">
              <a:buNone/>
              <a:defRPr sz="1600"/>
            </a:lvl1pPr>
          </a:lstStyle>
          <a:p>
            <a:r>
              <a:rPr lang="en-CA"/>
              <a:t>Icon</a:t>
            </a:r>
            <a:endParaRPr lang="fr-CA"/>
          </a:p>
        </p:txBody>
      </p:sp>
      <p:sp>
        <p:nvSpPr>
          <p:cNvPr id="15" name="Picture Placeholder 8">
            <a:extLst>
              <a:ext uri="{FF2B5EF4-FFF2-40B4-BE49-F238E27FC236}">
                <a16:creationId xmlns:a16="http://schemas.microsoft.com/office/drawing/2014/main" id="{BF301ADF-EBD0-7998-D86B-A5397FC63747}"/>
              </a:ext>
            </a:extLst>
          </p:cNvPr>
          <p:cNvSpPr>
            <a:spLocks noGrp="1"/>
          </p:cNvSpPr>
          <p:nvPr>
            <p:ph type="pic" sz="quarter" idx="15" hasCustomPrompt="1"/>
          </p:nvPr>
        </p:nvSpPr>
        <p:spPr>
          <a:xfrm>
            <a:off x="8143262" y="2450214"/>
            <a:ext cx="1254263" cy="1245235"/>
          </a:xfrm>
          <a:prstGeom prst="ellipse">
            <a:avLst/>
          </a:prstGeom>
          <a:solidFill>
            <a:schemeClr val="bg1"/>
          </a:solidFill>
          <a:ln w="41275">
            <a:solidFill>
              <a:srgbClr val="F68D2E"/>
            </a:solidFill>
          </a:ln>
        </p:spPr>
        <p:txBody>
          <a:bodyPr anchor="ctr">
            <a:normAutofit/>
          </a:bodyPr>
          <a:lstStyle>
            <a:lvl1pPr marL="0" indent="0" algn="ctr">
              <a:buNone/>
              <a:defRPr sz="1600"/>
            </a:lvl1pPr>
          </a:lstStyle>
          <a:p>
            <a:r>
              <a:rPr lang="en-CA"/>
              <a:t>Icon</a:t>
            </a:r>
            <a:endParaRPr lang="fr-CA"/>
          </a:p>
        </p:txBody>
      </p:sp>
      <p:sp>
        <p:nvSpPr>
          <p:cNvPr id="20" name="Picture Placeholder 8">
            <a:extLst>
              <a:ext uri="{FF2B5EF4-FFF2-40B4-BE49-F238E27FC236}">
                <a16:creationId xmlns:a16="http://schemas.microsoft.com/office/drawing/2014/main" id="{B182D0C7-372E-BC7E-D871-49E2AE38F7A3}"/>
              </a:ext>
            </a:extLst>
          </p:cNvPr>
          <p:cNvSpPr>
            <a:spLocks noGrp="1"/>
          </p:cNvSpPr>
          <p:nvPr>
            <p:ph type="pic" sz="quarter" idx="17" hasCustomPrompt="1"/>
          </p:nvPr>
        </p:nvSpPr>
        <p:spPr>
          <a:xfrm>
            <a:off x="10406629" y="2450214"/>
            <a:ext cx="1254263" cy="1245235"/>
          </a:xfrm>
          <a:prstGeom prst="ellipse">
            <a:avLst/>
          </a:prstGeom>
          <a:solidFill>
            <a:schemeClr val="bg1"/>
          </a:solidFill>
          <a:ln w="41275">
            <a:solidFill>
              <a:srgbClr val="F68D2E"/>
            </a:solidFill>
          </a:ln>
        </p:spPr>
        <p:txBody>
          <a:bodyPr anchor="ctr">
            <a:normAutofit/>
          </a:bodyPr>
          <a:lstStyle>
            <a:lvl1pPr marL="0" indent="0" algn="ctr">
              <a:buNone/>
              <a:defRPr sz="1600"/>
            </a:lvl1pPr>
          </a:lstStyle>
          <a:p>
            <a:r>
              <a:rPr lang="en-CA"/>
              <a:t>Icon</a:t>
            </a:r>
            <a:endParaRPr lang="fr-CA"/>
          </a:p>
        </p:txBody>
      </p:sp>
      <p:sp>
        <p:nvSpPr>
          <p:cNvPr id="21" name="Title Placeholder 1">
            <a:extLst>
              <a:ext uri="{FF2B5EF4-FFF2-40B4-BE49-F238E27FC236}">
                <a16:creationId xmlns:a16="http://schemas.microsoft.com/office/drawing/2014/main" id="{5A1E8E65-5458-80E4-C3AF-4759EFD60752}"/>
              </a:ext>
            </a:extLst>
          </p:cNvPr>
          <p:cNvSpPr>
            <a:spLocks noGrp="1"/>
          </p:cNvSpPr>
          <p:nvPr>
            <p:ph type="title"/>
          </p:nvPr>
        </p:nvSpPr>
        <p:spPr>
          <a:xfrm>
            <a:off x="2691084" y="301088"/>
            <a:ext cx="9142775" cy="936733"/>
          </a:xfrm>
          <a:prstGeom prst="rect">
            <a:avLst/>
          </a:prstGeom>
        </p:spPr>
        <p:txBody>
          <a:bodyPr vert="horz" lIns="91440" tIns="45720" rIns="91440" bIns="45720" rtlCol="0" anchor="ctr">
            <a:normAutofit/>
          </a:bodyPr>
          <a:lstStyle/>
          <a:p>
            <a:r>
              <a:rPr lang="en-US"/>
              <a:t>Click to edit Master title style</a:t>
            </a:r>
            <a:endParaRPr lang="fr-CA"/>
          </a:p>
        </p:txBody>
      </p:sp>
      <p:sp>
        <p:nvSpPr>
          <p:cNvPr id="22" name="Content Placeholder 2">
            <a:extLst>
              <a:ext uri="{FF2B5EF4-FFF2-40B4-BE49-F238E27FC236}">
                <a16:creationId xmlns:a16="http://schemas.microsoft.com/office/drawing/2014/main" id="{2597343C-179E-05E6-D040-BB8DDC1BCD5B}"/>
              </a:ext>
            </a:extLst>
          </p:cNvPr>
          <p:cNvSpPr>
            <a:spLocks noGrp="1"/>
          </p:cNvSpPr>
          <p:nvPr>
            <p:ph idx="22"/>
          </p:nvPr>
        </p:nvSpPr>
        <p:spPr>
          <a:xfrm>
            <a:off x="2691084" y="1370280"/>
            <a:ext cx="9142775" cy="425691"/>
          </a:xfrm>
          <a:noFill/>
        </p:spPr>
        <p:txBody>
          <a:bodyPr lIns="90000" tIns="0" rIns="0" bIns="0" anchor="t">
            <a:normAutofit/>
          </a:bodyPr>
          <a:lstStyle>
            <a:lvl1pPr marL="0" indent="0">
              <a:buNone/>
              <a:defRPr sz="2000">
                <a:solidFill>
                  <a:srgbClr val="52595F"/>
                </a:solidFill>
              </a:defRPr>
            </a:lvl1pPr>
          </a:lstStyle>
          <a:p>
            <a:pPr lvl="0"/>
            <a:r>
              <a:rPr lang="en-US"/>
              <a:t>Click to edit Master text styles</a:t>
            </a:r>
            <a:endParaRPr lang="fr-CA"/>
          </a:p>
        </p:txBody>
      </p:sp>
    </p:spTree>
    <p:extLst>
      <p:ext uri="{BB962C8B-B14F-4D97-AF65-F5344CB8AC3E}">
        <p14:creationId xmlns:p14="http://schemas.microsoft.com/office/powerpoint/2010/main" val="28261527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040A3-CE8A-DE9F-8E9A-23E57288B7D6}"/>
              </a:ext>
            </a:extLst>
          </p:cNvPr>
          <p:cNvSpPr>
            <a:spLocks noGrp="1"/>
          </p:cNvSpPr>
          <p:nvPr>
            <p:ph type="title"/>
          </p:nvPr>
        </p:nvSpPr>
        <p:spPr/>
        <p:txBody>
          <a:bodyPr/>
          <a:lstStyle/>
          <a:p>
            <a:r>
              <a:rPr lang="en-US"/>
              <a:t>Click to edit Master title style</a:t>
            </a:r>
            <a:endParaRPr lang="fr-CA"/>
          </a:p>
        </p:txBody>
      </p:sp>
      <p:sp>
        <p:nvSpPr>
          <p:cNvPr id="5" name="Content Placeholder 2">
            <a:extLst>
              <a:ext uri="{FF2B5EF4-FFF2-40B4-BE49-F238E27FC236}">
                <a16:creationId xmlns:a16="http://schemas.microsoft.com/office/drawing/2014/main" id="{A850393D-EFF0-4679-A66B-BBFE966ED428}"/>
              </a:ext>
            </a:extLst>
          </p:cNvPr>
          <p:cNvSpPr>
            <a:spLocks noGrp="1"/>
          </p:cNvSpPr>
          <p:nvPr>
            <p:ph idx="1"/>
          </p:nvPr>
        </p:nvSpPr>
        <p:spPr>
          <a:xfrm>
            <a:off x="2992464" y="1524000"/>
            <a:ext cx="4261776" cy="4414402"/>
          </a:xfrm>
          <a:solidFill>
            <a:schemeClr val="bg1">
              <a:lumMod val="95000"/>
            </a:schemeClr>
          </a:solidFill>
        </p:spPr>
        <p:txBody>
          <a:bodyPr lIns="288000" tIns="288000" rIns="288000" bIns="288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3" name="Content Placeholder 2">
            <a:extLst>
              <a:ext uri="{FF2B5EF4-FFF2-40B4-BE49-F238E27FC236}">
                <a16:creationId xmlns:a16="http://schemas.microsoft.com/office/drawing/2014/main" id="{DA249322-75B4-F9DE-359C-33B8F9AAEC52}"/>
              </a:ext>
            </a:extLst>
          </p:cNvPr>
          <p:cNvSpPr>
            <a:spLocks noGrp="1"/>
          </p:cNvSpPr>
          <p:nvPr>
            <p:ph idx="10"/>
          </p:nvPr>
        </p:nvSpPr>
        <p:spPr>
          <a:xfrm>
            <a:off x="7484615" y="1524000"/>
            <a:ext cx="4261776" cy="4414402"/>
          </a:xfrm>
          <a:solidFill>
            <a:schemeClr val="bg1">
              <a:lumMod val="95000"/>
            </a:schemeClr>
          </a:solidFill>
        </p:spPr>
        <p:txBody>
          <a:bodyPr lIns="288000" tIns="288000" rIns="288000" bIns="288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Tree>
    <p:extLst>
      <p:ext uri="{BB962C8B-B14F-4D97-AF65-F5344CB8AC3E}">
        <p14:creationId xmlns:p14="http://schemas.microsoft.com/office/powerpoint/2010/main" val="42429003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9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040A3-CE8A-DE9F-8E9A-23E57288B7D6}"/>
              </a:ext>
            </a:extLst>
          </p:cNvPr>
          <p:cNvSpPr>
            <a:spLocks noGrp="1"/>
          </p:cNvSpPr>
          <p:nvPr>
            <p:ph type="title"/>
          </p:nvPr>
        </p:nvSpPr>
        <p:spPr/>
        <p:txBody>
          <a:bodyPr/>
          <a:lstStyle/>
          <a:p>
            <a:r>
              <a:rPr lang="en-US"/>
              <a:t>Click to edit Master title style</a:t>
            </a:r>
            <a:endParaRPr lang="fr-CA"/>
          </a:p>
        </p:txBody>
      </p:sp>
    </p:spTree>
    <p:extLst>
      <p:ext uri="{BB962C8B-B14F-4D97-AF65-F5344CB8AC3E}">
        <p14:creationId xmlns:p14="http://schemas.microsoft.com/office/powerpoint/2010/main" val="19937396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0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50648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Devon Cropped Image Place Holder">
    <p:bg>
      <p:bgPr>
        <a:solidFill>
          <a:schemeClr val="bg1">
            <a:lumMod val="95000"/>
          </a:schemeClr>
        </a:solidFill>
        <a:effectLst/>
      </p:bgPr>
    </p:bg>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D2F12EBB-72A8-F652-6843-965E093A50EC}"/>
              </a:ext>
            </a:extLst>
          </p:cNvPr>
          <p:cNvSpPr>
            <a:spLocks noGrp="1"/>
          </p:cNvSpPr>
          <p:nvPr>
            <p:ph type="pic" sz="quarter" idx="12"/>
          </p:nvPr>
        </p:nvSpPr>
        <p:spPr>
          <a:xfrm>
            <a:off x="-1588" y="0"/>
            <a:ext cx="5102634" cy="4225834"/>
          </a:xfrm>
          <a:custGeom>
            <a:avLst/>
            <a:gdLst>
              <a:gd name="connsiteX0" fmla="*/ 0 w 5020240"/>
              <a:gd name="connsiteY0" fmla="*/ 0 h 4232366"/>
              <a:gd name="connsiteX1" fmla="*/ 3976957 w 5020240"/>
              <a:gd name="connsiteY1" fmla="*/ 0 h 4232366"/>
              <a:gd name="connsiteX2" fmla="*/ 4942019 w 5020240"/>
              <a:gd name="connsiteY2" fmla="*/ 2927918 h 4232366"/>
              <a:gd name="connsiteX3" fmla="*/ 4950355 w 5020240"/>
              <a:gd name="connsiteY3" fmla="*/ 2945936 h 4232366"/>
              <a:gd name="connsiteX4" fmla="*/ 5020240 w 5020240"/>
              <a:gd name="connsiteY4" fmla="*/ 3306374 h 4232366"/>
              <a:gd name="connsiteX5" fmla="*/ 4130943 w 5020240"/>
              <a:gd name="connsiteY5" fmla="*/ 4232366 h 4232366"/>
              <a:gd name="connsiteX6" fmla="*/ 4130481 w 5020240"/>
              <a:gd name="connsiteY6" fmla="*/ 4232342 h 4232366"/>
              <a:gd name="connsiteX7" fmla="*/ 4130465 w 5020240"/>
              <a:gd name="connsiteY7" fmla="*/ 4232366 h 4232366"/>
              <a:gd name="connsiteX8" fmla="*/ 0 w 5020240"/>
              <a:gd name="connsiteY8" fmla="*/ 4232366 h 4232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20240" h="4232366">
                <a:moveTo>
                  <a:pt x="0" y="0"/>
                </a:moveTo>
                <a:lnTo>
                  <a:pt x="3976957" y="0"/>
                </a:lnTo>
                <a:lnTo>
                  <a:pt x="4942019" y="2927918"/>
                </a:lnTo>
                <a:lnTo>
                  <a:pt x="4950355" y="2945936"/>
                </a:lnTo>
                <a:cubicBezTo>
                  <a:pt x="4995356" y="3056720"/>
                  <a:pt x="5020240" y="3178521"/>
                  <a:pt x="5020240" y="3306374"/>
                </a:cubicBezTo>
                <a:cubicBezTo>
                  <a:pt x="5020240" y="3817785"/>
                  <a:pt x="4622088" y="4232366"/>
                  <a:pt x="4130943" y="4232366"/>
                </a:cubicBezTo>
                <a:lnTo>
                  <a:pt x="4130481" y="4232342"/>
                </a:lnTo>
                <a:lnTo>
                  <a:pt x="4130465" y="4232366"/>
                </a:lnTo>
                <a:lnTo>
                  <a:pt x="0" y="4232366"/>
                </a:lnTo>
                <a:close/>
              </a:path>
            </a:pathLst>
          </a:custGeom>
          <a:solidFill>
            <a:schemeClr val="bg1"/>
          </a:solidFill>
        </p:spPr>
        <p:txBody>
          <a:bodyPr wrap="square">
            <a:noAutofit/>
          </a:bodyPr>
          <a:lstStyle/>
          <a:p>
            <a:endParaRPr lang="en-CA"/>
          </a:p>
        </p:txBody>
      </p:sp>
      <p:sp>
        <p:nvSpPr>
          <p:cNvPr id="11" name="Freeform: Shape 10">
            <a:extLst>
              <a:ext uri="{FF2B5EF4-FFF2-40B4-BE49-F238E27FC236}">
                <a16:creationId xmlns:a16="http://schemas.microsoft.com/office/drawing/2014/main" id="{F6D9BB95-BDFA-2A64-D716-F0A5AC716D46}"/>
              </a:ext>
            </a:extLst>
          </p:cNvPr>
          <p:cNvSpPr/>
          <p:nvPr userDrawn="1"/>
        </p:nvSpPr>
        <p:spPr>
          <a:xfrm rot="3043959" flipH="1">
            <a:off x="152974" y="4777609"/>
            <a:ext cx="3128208" cy="3248813"/>
          </a:xfrm>
          <a:custGeom>
            <a:avLst/>
            <a:gdLst>
              <a:gd name="connsiteX0" fmla="*/ 1395917 w 3453116"/>
              <a:gd name="connsiteY0" fmla="*/ 295906 h 3586247"/>
              <a:gd name="connsiteX1" fmla="*/ 3453116 w 3453116"/>
              <a:gd name="connsiteY1" fmla="*/ 2834613 h 3586247"/>
              <a:gd name="connsiteX2" fmla="*/ 2533731 w 3453116"/>
              <a:gd name="connsiteY2" fmla="*/ 3586247 h 3586247"/>
              <a:gd name="connsiteX3" fmla="*/ 0 w 3453116"/>
              <a:gd name="connsiteY3" fmla="*/ 487032 h 3586247"/>
              <a:gd name="connsiteX4" fmla="*/ 154876 w 3453116"/>
              <a:gd name="connsiteY4" fmla="*/ 295906 h 3586247"/>
              <a:gd name="connsiteX5" fmla="*/ 1395917 w 3453116"/>
              <a:gd name="connsiteY5" fmla="*/ 295906 h 3586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53116" h="3586247">
                <a:moveTo>
                  <a:pt x="1395917" y="295906"/>
                </a:moveTo>
                <a:lnTo>
                  <a:pt x="3453116" y="2834613"/>
                </a:lnTo>
                <a:lnTo>
                  <a:pt x="2533731" y="3586247"/>
                </a:lnTo>
                <a:lnTo>
                  <a:pt x="0" y="487032"/>
                </a:lnTo>
                <a:lnTo>
                  <a:pt x="154876" y="295906"/>
                </a:lnTo>
                <a:cubicBezTo>
                  <a:pt x="474570" y="-98635"/>
                  <a:pt x="1076223" y="-98635"/>
                  <a:pt x="1395917" y="295906"/>
                </a:cubicBezTo>
                <a:close/>
              </a:path>
            </a:pathLst>
          </a:custGeom>
          <a:gradFill>
            <a:gsLst>
              <a:gs pos="6000">
                <a:srgbClr val="EA4335">
                  <a:alpha val="75000"/>
                </a:srgbClr>
              </a:gs>
              <a:gs pos="94000">
                <a:srgbClr val="F2CB0A">
                  <a:alpha val="50000"/>
                </a:srgbClr>
              </a:gs>
            </a:gsLst>
            <a:lin ang="16800000" scaled="0"/>
          </a:gradFill>
          <a:ln w="3604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2" name="Freeform: Shape 11">
            <a:extLst>
              <a:ext uri="{FF2B5EF4-FFF2-40B4-BE49-F238E27FC236}">
                <a16:creationId xmlns:a16="http://schemas.microsoft.com/office/drawing/2014/main" id="{455D47EB-A597-AC77-3F1A-D0DDDACACEB7}"/>
              </a:ext>
            </a:extLst>
          </p:cNvPr>
          <p:cNvSpPr/>
          <p:nvPr userDrawn="1"/>
        </p:nvSpPr>
        <p:spPr>
          <a:xfrm rot="16200000">
            <a:off x="5587673" y="253673"/>
            <a:ext cx="6267079" cy="6941573"/>
          </a:xfrm>
          <a:custGeom>
            <a:avLst/>
            <a:gdLst>
              <a:gd name="connsiteX0" fmla="*/ 0 w 6267079"/>
              <a:gd name="connsiteY0" fmla="*/ 1481741 h 7143597"/>
              <a:gd name="connsiteX1" fmla="*/ 0 w 6267079"/>
              <a:gd name="connsiteY1" fmla="*/ 7143597 h 7143597"/>
              <a:gd name="connsiteX2" fmla="*/ 6267079 w 6267079"/>
              <a:gd name="connsiteY2" fmla="*/ 7143597 h 7143597"/>
              <a:gd name="connsiteX3" fmla="*/ 6267079 w 6267079"/>
              <a:gd name="connsiteY3" fmla="*/ 1133702 h 7143597"/>
              <a:gd name="connsiteX4" fmla="*/ 6267046 w 6267079"/>
              <a:gd name="connsiteY4" fmla="*/ 1133681 h 7143597"/>
              <a:gd name="connsiteX5" fmla="*/ 6267079 w 6267079"/>
              <a:gd name="connsiteY5" fmla="*/ 1133093 h 7143597"/>
              <a:gd name="connsiteX6" fmla="*/ 5004227 w 6267079"/>
              <a:gd name="connsiteY6" fmla="*/ 0 h 7143597"/>
              <a:gd name="connsiteX7" fmla="*/ 4512668 w 6267079"/>
              <a:gd name="connsiteY7" fmla="*/ 89044 h 7143597"/>
              <a:gd name="connsiteX8" fmla="*/ 4488096 w 6267079"/>
              <a:gd name="connsiteY8" fmla="*/ 99665 h 7143597"/>
              <a:gd name="connsiteX9" fmla="*/ 0 w 6267079"/>
              <a:gd name="connsiteY9" fmla="*/ 1481741 h 7143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267079" h="7143597">
                <a:moveTo>
                  <a:pt x="0" y="1481741"/>
                </a:moveTo>
                <a:lnTo>
                  <a:pt x="0" y="7143597"/>
                </a:lnTo>
                <a:lnTo>
                  <a:pt x="6267079" y="7143597"/>
                </a:lnTo>
                <a:lnTo>
                  <a:pt x="6267079" y="1133702"/>
                </a:lnTo>
                <a:lnTo>
                  <a:pt x="6267046" y="1133681"/>
                </a:lnTo>
                <a:lnTo>
                  <a:pt x="6267079" y="1133093"/>
                </a:lnTo>
                <a:cubicBezTo>
                  <a:pt x="6267079" y="507303"/>
                  <a:pt x="5701681" y="0"/>
                  <a:pt x="5004227" y="0"/>
                </a:cubicBezTo>
                <a:cubicBezTo>
                  <a:pt x="4829864" y="0"/>
                  <a:pt x="4663753" y="31706"/>
                  <a:pt x="4512668" y="89044"/>
                </a:cubicBezTo>
                <a:lnTo>
                  <a:pt x="4488096" y="99665"/>
                </a:lnTo>
                <a:lnTo>
                  <a:pt x="0" y="1481741"/>
                </a:lnTo>
                <a:close/>
              </a:path>
            </a:pathLst>
          </a:custGeom>
          <a:solidFill>
            <a:schemeClr val="bg1"/>
          </a:solidFill>
          <a:ln>
            <a:noFill/>
          </a:ln>
        </p:spPr>
        <p:txBody>
          <a:bodyPr spcFirstLastPara="1" wrap="square" lIns="60950" tIns="30467" rIns="60950" bIns="30467" anchor="t" anchorCtr="0">
            <a:noAutofit/>
          </a:bodyPr>
          <a:lstStyle/>
          <a:p>
            <a:pPr marL="0" marR="0" lvl="0" indent="0" algn="l" defTabSz="609630" rtl="0" eaLnBrk="1" fontAlgn="auto" latinLnBrk="0" hangingPunct="1">
              <a:lnSpc>
                <a:spcPct val="100000"/>
              </a:lnSpc>
              <a:spcBef>
                <a:spcPts val="0"/>
              </a:spcBef>
              <a:spcAft>
                <a:spcPts val="0"/>
              </a:spcAft>
              <a:buClr>
                <a:srgbClr val="000000"/>
              </a:buClr>
              <a:buSzPts val="1800"/>
              <a:buFontTx/>
              <a:buNone/>
              <a:tabLst/>
              <a:defRPr/>
            </a:pPr>
            <a:endParaRPr kumimoji="0" sz="1200" b="0" i="0" u="none" strike="noStrike" kern="0" cap="none" spc="0" normalizeH="0" baseline="0" noProof="0">
              <a:ln>
                <a:noFill/>
              </a:ln>
              <a:solidFill>
                <a:srgbClr val="000000"/>
              </a:solidFill>
              <a:effectLst/>
              <a:uLnTx/>
              <a:uFillTx/>
              <a:latin typeface="Arial" panose="020B0604020202020204" pitchFamily="34" charset="0"/>
              <a:ea typeface="Calibri"/>
              <a:cs typeface="Arial" panose="020B0604020202020204" pitchFamily="34" charset="0"/>
              <a:sym typeface="Calibri"/>
            </a:endParaRPr>
          </a:p>
        </p:txBody>
      </p:sp>
      <p:sp>
        <p:nvSpPr>
          <p:cNvPr id="14" name="Text Placeholder 2">
            <a:extLst>
              <a:ext uri="{FF2B5EF4-FFF2-40B4-BE49-F238E27FC236}">
                <a16:creationId xmlns:a16="http://schemas.microsoft.com/office/drawing/2014/main" id="{4EE38137-001D-2381-E4A3-F5E2CD0D39AF}"/>
              </a:ext>
            </a:extLst>
          </p:cNvPr>
          <p:cNvSpPr txBox="1">
            <a:spLocks/>
          </p:cNvSpPr>
          <p:nvPr userDrawn="1"/>
        </p:nvSpPr>
        <p:spPr>
          <a:xfrm>
            <a:off x="7472516" y="1153530"/>
            <a:ext cx="4487861" cy="5298070"/>
          </a:xfrm>
          <a:prstGeom prst="rect">
            <a:avLst/>
          </a:prstGeom>
        </p:spPr>
        <p:txBody>
          <a:bodyPr>
            <a:noAutofit/>
          </a:bodyPr>
          <a:lstStyle>
            <a:lvl1pPr marL="228600" indent="-228600" algn="l" defTabSz="914400" rtl="0" eaLnBrk="1" latinLnBrk="0" hangingPunct="1">
              <a:lnSpc>
                <a:spcPct val="90000"/>
              </a:lnSpc>
              <a:spcBef>
                <a:spcPts val="1000"/>
              </a:spcBef>
              <a:buClr>
                <a:srgbClr val="F68D2E"/>
              </a:buClr>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Clr>
                <a:srgbClr val="F68D2E"/>
              </a:buClr>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Clr>
                <a:srgbClr val="F68D2E"/>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Clr>
                <a:srgbClr val="F68D2E"/>
              </a:buClr>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Clr>
                <a:srgbClr val="F68D2E"/>
              </a:buClr>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buNone/>
            </a:pPr>
            <a:endParaRPr lang="en-US" sz="2000">
              <a:solidFill>
                <a:srgbClr val="53575A"/>
              </a:solidFill>
            </a:endParaRPr>
          </a:p>
        </p:txBody>
      </p:sp>
      <p:sp>
        <p:nvSpPr>
          <p:cNvPr id="18" name="Title 1">
            <a:extLst>
              <a:ext uri="{FF2B5EF4-FFF2-40B4-BE49-F238E27FC236}">
                <a16:creationId xmlns:a16="http://schemas.microsoft.com/office/drawing/2014/main" id="{3A0D3130-E232-4317-1DF2-E978C586FBE3}"/>
              </a:ext>
            </a:extLst>
          </p:cNvPr>
          <p:cNvSpPr>
            <a:spLocks noGrp="1"/>
          </p:cNvSpPr>
          <p:nvPr>
            <p:ph type="title"/>
          </p:nvPr>
        </p:nvSpPr>
        <p:spPr>
          <a:xfrm>
            <a:off x="204981" y="4354917"/>
            <a:ext cx="5627585" cy="936733"/>
          </a:xfrm>
        </p:spPr>
        <p:txBody>
          <a:bodyPr/>
          <a:lstStyle/>
          <a:p>
            <a:r>
              <a:rPr lang="en-US"/>
              <a:t>Click to edit Master title style</a:t>
            </a:r>
            <a:endParaRPr lang="fr-CA"/>
          </a:p>
        </p:txBody>
      </p:sp>
      <p:sp>
        <p:nvSpPr>
          <p:cNvPr id="20" name="Text Placeholder 19">
            <a:extLst>
              <a:ext uri="{FF2B5EF4-FFF2-40B4-BE49-F238E27FC236}">
                <a16:creationId xmlns:a16="http://schemas.microsoft.com/office/drawing/2014/main" id="{2936BA89-C88C-048D-4C03-2AA0A2281663}"/>
              </a:ext>
            </a:extLst>
          </p:cNvPr>
          <p:cNvSpPr>
            <a:spLocks noGrp="1"/>
          </p:cNvSpPr>
          <p:nvPr>
            <p:ph type="body" sz="quarter" idx="11"/>
          </p:nvPr>
        </p:nvSpPr>
        <p:spPr>
          <a:xfrm>
            <a:off x="6766560" y="1050982"/>
            <a:ext cx="4787265" cy="54804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38169735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2_Custom Layout">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491135F6-D91E-7314-46B3-4B3D9A72A7C6}"/>
              </a:ext>
            </a:extLst>
          </p:cNvPr>
          <p:cNvSpPr/>
          <p:nvPr userDrawn="1"/>
        </p:nvSpPr>
        <p:spPr>
          <a:xfrm rot="15626565">
            <a:off x="5369413" y="-1266602"/>
            <a:ext cx="6433656" cy="8022886"/>
          </a:xfrm>
          <a:custGeom>
            <a:avLst/>
            <a:gdLst>
              <a:gd name="connsiteX0" fmla="*/ 6433656 w 6433656"/>
              <a:gd name="connsiteY0" fmla="*/ 1437632 h 8022886"/>
              <a:gd name="connsiteX1" fmla="*/ 5324897 w 6433656"/>
              <a:gd name="connsiteY1" fmla="*/ 8022886 h 8022886"/>
              <a:gd name="connsiteX2" fmla="*/ 0 w 6433656"/>
              <a:gd name="connsiteY2" fmla="*/ 7126333 h 8022886"/>
              <a:gd name="connsiteX3" fmla="*/ 34595 w 6433656"/>
              <a:gd name="connsiteY3" fmla="*/ 1924505 h 8022886"/>
              <a:gd name="connsiteX4" fmla="*/ 30914 w 6433656"/>
              <a:gd name="connsiteY4" fmla="*/ 1888756 h 8022886"/>
              <a:gd name="connsiteX5" fmla="*/ 115309 w 6433656"/>
              <a:gd name="connsiteY5" fmla="*/ 1223441 h 8022886"/>
              <a:gd name="connsiteX6" fmla="*/ 1621467 w 6433656"/>
              <a:gd name="connsiteY6" fmla="*/ 559 h 8022886"/>
              <a:gd name="connsiteX7" fmla="*/ 2075799 w 6433656"/>
              <a:gd name="connsiteY7" fmla="*/ 63865 h 8022886"/>
              <a:gd name="connsiteX8" fmla="*/ 2076539 w 6433656"/>
              <a:gd name="connsiteY8" fmla="*/ 64145 h 8022886"/>
              <a:gd name="connsiteX9" fmla="*/ 2076579 w 6433656"/>
              <a:gd name="connsiteY9" fmla="*/ 64112 h 8022886"/>
              <a:gd name="connsiteX10" fmla="*/ 6433656 w 6433656"/>
              <a:gd name="connsiteY10" fmla="*/ 1437632 h 8022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433656" h="8022886">
                <a:moveTo>
                  <a:pt x="6433656" y="1437632"/>
                </a:moveTo>
                <a:lnTo>
                  <a:pt x="5324897" y="8022886"/>
                </a:lnTo>
                <a:lnTo>
                  <a:pt x="0" y="7126333"/>
                </a:lnTo>
                <a:lnTo>
                  <a:pt x="34595" y="1924505"/>
                </a:lnTo>
                <a:lnTo>
                  <a:pt x="30914" y="1888756"/>
                </a:lnTo>
                <a:cubicBezTo>
                  <a:pt x="18482" y="1672170"/>
                  <a:pt x="44933" y="1446690"/>
                  <a:pt x="115309" y="1223441"/>
                </a:cubicBezTo>
                <a:cubicBezTo>
                  <a:pt x="344033" y="497879"/>
                  <a:pt x="966366" y="19110"/>
                  <a:pt x="1621467" y="559"/>
                </a:cubicBezTo>
                <a:cubicBezTo>
                  <a:pt x="1772645" y="-3722"/>
                  <a:pt x="1925567" y="16506"/>
                  <a:pt x="2075799" y="63865"/>
                </a:cubicBezTo>
                <a:lnTo>
                  <a:pt x="2076539" y="64145"/>
                </a:lnTo>
                <a:lnTo>
                  <a:pt x="2076579" y="64112"/>
                </a:lnTo>
                <a:lnTo>
                  <a:pt x="6433656" y="1437632"/>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 name="Title 1">
            <a:extLst>
              <a:ext uri="{FF2B5EF4-FFF2-40B4-BE49-F238E27FC236}">
                <a16:creationId xmlns:a16="http://schemas.microsoft.com/office/drawing/2014/main" id="{1D63B0E9-B717-9272-3B36-FBB5B00F6EF5}"/>
              </a:ext>
            </a:extLst>
          </p:cNvPr>
          <p:cNvSpPr>
            <a:spLocks noGrp="1"/>
          </p:cNvSpPr>
          <p:nvPr>
            <p:ph type="title"/>
          </p:nvPr>
        </p:nvSpPr>
        <p:spPr>
          <a:xfrm>
            <a:off x="531653" y="435558"/>
            <a:ext cx="4161371" cy="1574777"/>
          </a:xfrm>
        </p:spPr>
        <p:txBody>
          <a:bodyPr/>
          <a:lstStyle/>
          <a:p>
            <a:r>
              <a:rPr lang="en-US"/>
              <a:t>Click to edit Master title style</a:t>
            </a:r>
            <a:endParaRPr lang="en-CA"/>
          </a:p>
        </p:txBody>
      </p:sp>
      <p:sp>
        <p:nvSpPr>
          <p:cNvPr id="4" name="Freeform: Shape 3">
            <a:extLst>
              <a:ext uri="{FF2B5EF4-FFF2-40B4-BE49-F238E27FC236}">
                <a16:creationId xmlns:a16="http://schemas.microsoft.com/office/drawing/2014/main" id="{B8566ED9-19AA-42F5-D08D-B1AA32EF6FD2}"/>
              </a:ext>
            </a:extLst>
          </p:cNvPr>
          <p:cNvSpPr/>
          <p:nvPr userDrawn="1"/>
        </p:nvSpPr>
        <p:spPr>
          <a:xfrm rot="2524722" flipH="1">
            <a:off x="7763686" y="5212493"/>
            <a:ext cx="3401643" cy="3197420"/>
          </a:xfrm>
          <a:custGeom>
            <a:avLst/>
            <a:gdLst>
              <a:gd name="connsiteX0" fmla="*/ 987341 w 3401643"/>
              <a:gd name="connsiteY0" fmla="*/ 226552 h 3197420"/>
              <a:gd name="connsiteX1" fmla="*/ 15259 w 3401643"/>
              <a:gd name="connsiteY1" fmla="*/ 115588 h 3197420"/>
              <a:gd name="connsiteX2" fmla="*/ 0 w 3401643"/>
              <a:gd name="connsiteY2" fmla="*/ 126096 h 3197420"/>
              <a:gd name="connsiteX3" fmla="*/ 3401643 w 3401643"/>
              <a:gd name="connsiteY3" fmla="*/ 3197420 h 3197420"/>
              <a:gd name="connsiteX4" fmla="*/ 1050450 w 3401643"/>
              <a:gd name="connsiteY4" fmla="*/ 295905 h 3197420"/>
              <a:gd name="connsiteX5" fmla="*/ 987341 w 3401643"/>
              <a:gd name="connsiteY5" fmla="*/ 226552 h 3197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01643" h="3197420">
                <a:moveTo>
                  <a:pt x="987341" y="226552"/>
                </a:moveTo>
                <a:cubicBezTo>
                  <a:pt x="722790" y="-32365"/>
                  <a:pt x="319461" y="-69353"/>
                  <a:pt x="15259" y="115588"/>
                </a:cubicBezTo>
                <a:lnTo>
                  <a:pt x="0" y="126096"/>
                </a:lnTo>
                <a:lnTo>
                  <a:pt x="3401643" y="3197420"/>
                </a:lnTo>
                <a:lnTo>
                  <a:pt x="1050450" y="295905"/>
                </a:lnTo>
                <a:cubicBezTo>
                  <a:pt x="1030470" y="271247"/>
                  <a:pt x="1009388" y="248129"/>
                  <a:pt x="987341" y="226552"/>
                </a:cubicBezTo>
                <a:close/>
              </a:path>
            </a:pathLst>
          </a:custGeom>
          <a:gradFill>
            <a:gsLst>
              <a:gs pos="6000">
                <a:srgbClr val="EA4335">
                  <a:alpha val="75000"/>
                </a:srgbClr>
              </a:gs>
              <a:gs pos="94000">
                <a:srgbClr val="F2CB0A">
                  <a:alpha val="50000"/>
                </a:srgbClr>
              </a:gs>
            </a:gsLst>
            <a:lin ang="16800000" scaled="0"/>
          </a:gradFill>
          <a:ln w="3604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 name="Text Placeholder 19">
            <a:extLst>
              <a:ext uri="{FF2B5EF4-FFF2-40B4-BE49-F238E27FC236}">
                <a16:creationId xmlns:a16="http://schemas.microsoft.com/office/drawing/2014/main" id="{ECC2EEA4-3323-A9FA-E8AE-0C3E15E51D57}"/>
              </a:ext>
            </a:extLst>
          </p:cNvPr>
          <p:cNvSpPr>
            <a:spLocks noGrp="1"/>
          </p:cNvSpPr>
          <p:nvPr>
            <p:ph type="body" sz="quarter" idx="11"/>
          </p:nvPr>
        </p:nvSpPr>
        <p:spPr>
          <a:xfrm>
            <a:off x="5852909" y="574732"/>
            <a:ext cx="5807438" cy="4652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16" name="Picture Placeholder 15">
            <a:extLst>
              <a:ext uri="{FF2B5EF4-FFF2-40B4-BE49-F238E27FC236}">
                <a16:creationId xmlns:a16="http://schemas.microsoft.com/office/drawing/2014/main" id="{6041EFF0-E128-6CC7-88F8-F252F7832C80}"/>
              </a:ext>
            </a:extLst>
          </p:cNvPr>
          <p:cNvSpPr>
            <a:spLocks noGrp="1"/>
          </p:cNvSpPr>
          <p:nvPr>
            <p:ph type="pic" sz="quarter" idx="12"/>
          </p:nvPr>
        </p:nvSpPr>
        <p:spPr>
          <a:xfrm>
            <a:off x="-1" y="2503692"/>
            <a:ext cx="4618553" cy="4354308"/>
          </a:xfrm>
          <a:custGeom>
            <a:avLst/>
            <a:gdLst>
              <a:gd name="connsiteX0" fmla="*/ 2940251 w 4618553"/>
              <a:gd name="connsiteY0" fmla="*/ 459 h 4354308"/>
              <a:gd name="connsiteX1" fmla="*/ 3060249 w 4618553"/>
              <a:gd name="connsiteY1" fmla="*/ 1805 h 4354308"/>
              <a:gd name="connsiteX2" fmla="*/ 3222564 w 4618553"/>
              <a:gd name="connsiteY2" fmla="*/ 16577 h 4354308"/>
              <a:gd name="connsiteX3" fmla="*/ 4593226 w 4618553"/>
              <a:gd name="connsiteY3" fmla="*/ 1217493 h 4354308"/>
              <a:gd name="connsiteX4" fmla="*/ 4606536 w 4618553"/>
              <a:gd name="connsiteY4" fmla="*/ 1648167 h 4354308"/>
              <a:gd name="connsiteX5" fmla="*/ 4606393 w 4618553"/>
              <a:gd name="connsiteY5" fmla="*/ 1648897 h 4354308"/>
              <a:gd name="connsiteX6" fmla="*/ 4606431 w 4618553"/>
              <a:gd name="connsiteY6" fmla="*/ 1648929 h 4354308"/>
              <a:gd name="connsiteX7" fmla="*/ 4236119 w 4618553"/>
              <a:gd name="connsiteY7" fmla="*/ 4354308 h 4354308"/>
              <a:gd name="connsiteX8" fmla="*/ 0 w 4618553"/>
              <a:gd name="connsiteY8" fmla="*/ 4354308 h 4354308"/>
              <a:gd name="connsiteX9" fmla="*/ 0 w 4618553"/>
              <a:gd name="connsiteY9" fmla="*/ 473151 h 4354308"/>
              <a:gd name="connsiteX10" fmla="*/ 2560692 w 4618553"/>
              <a:gd name="connsiteY10" fmla="*/ 52829 h 4354308"/>
              <a:gd name="connsiteX11" fmla="*/ 2593206 w 4618553"/>
              <a:gd name="connsiteY11" fmla="*/ 43761 h 4354308"/>
              <a:gd name="connsiteX12" fmla="*/ 2940251 w 4618553"/>
              <a:gd name="connsiteY12" fmla="*/ 459 h 4354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618553" h="4354308">
                <a:moveTo>
                  <a:pt x="2940251" y="459"/>
                </a:moveTo>
                <a:cubicBezTo>
                  <a:pt x="2979953" y="-450"/>
                  <a:pt x="3019973" y="-16"/>
                  <a:pt x="3060249" y="1805"/>
                </a:cubicBezTo>
                <a:cubicBezTo>
                  <a:pt x="3113950" y="4232"/>
                  <a:pt x="3168104" y="9122"/>
                  <a:pt x="3222564" y="16577"/>
                </a:cubicBezTo>
                <a:cubicBezTo>
                  <a:pt x="3930547" y="113485"/>
                  <a:pt x="4472342" y="613891"/>
                  <a:pt x="4593226" y="1217493"/>
                </a:cubicBezTo>
                <a:cubicBezTo>
                  <a:pt x="4621120" y="1356786"/>
                  <a:pt x="4626602" y="1501574"/>
                  <a:pt x="4606536" y="1648167"/>
                </a:cubicBezTo>
                <a:lnTo>
                  <a:pt x="4606393" y="1648897"/>
                </a:lnTo>
                <a:lnTo>
                  <a:pt x="4606431" y="1648929"/>
                </a:lnTo>
                <a:lnTo>
                  <a:pt x="4236119" y="4354308"/>
                </a:lnTo>
                <a:lnTo>
                  <a:pt x="0" y="4354308"/>
                </a:lnTo>
                <a:lnTo>
                  <a:pt x="0" y="473151"/>
                </a:lnTo>
                <a:lnTo>
                  <a:pt x="2560692" y="52829"/>
                </a:lnTo>
                <a:lnTo>
                  <a:pt x="2593206" y="43761"/>
                </a:lnTo>
                <a:cubicBezTo>
                  <a:pt x="2704899" y="18001"/>
                  <a:pt x="2821144" y="3185"/>
                  <a:pt x="2940251" y="459"/>
                </a:cubicBezTo>
                <a:close/>
              </a:path>
            </a:pathLst>
          </a:custGeom>
          <a:solidFill>
            <a:schemeClr val="bg1">
              <a:lumMod val="95000"/>
            </a:schemeClr>
          </a:solidFill>
        </p:spPr>
        <p:txBody>
          <a:bodyPr wrap="square">
            <a:noAutofit/>
          </a:bodyPr>
          <a:lstStyle/>
          <a:p>
            <a:endParaRPr lang="en-CA"/>
          </a:p>
        </p:txBody>
      </p:sp>
    </p:spTree>
    <p:extLst>
      <p:ext uri="{BB962C8B-B14F-4D97-AF65-F5344CB8AC3E}">
        <p14:creationId xmlns:p14="http://schemas.microsoft.com/office/powerpoint/2010/main" val="42071942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3_Custom Layout">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85008-B597-7C2D-F77A-1915C6D58792}"/>
              </a:ext>
            </a:extLst>
          </p:cNvPr>
          <p:cNvSpPr>
            <a:spLocks noGrp="1"/>
          </p:cNvSpPr>
          <p:nvPr>
            <p:ph type="title"/>
          </p:nvPr>
        </p:nvSpPr>
        <p:spPr>
          <a:xfrm>
            <a:off x="6667499" y="590921"/>
            <a:ext cx="5078891" cy="1637929"/>
          </a:xfrm>
        </p:spPr>
        <p:txBody>
          <a:bodyPr/>
          <a:lstStyle>
            <a:lvl1pPr algn="r">
              <a:defRPr/>
            </a:lvl1pPr>
          </a:lstStyle>
          <a:p>
            <a:r>
              <a:rPr lang="en-US"/>
              <a:t>Click to edit Master title style</a:t>
            </a:r>
            <a:endParaRPr lang="en-CA"/>
          </a:p>
        </p:txBody>
      </p:sp>
      <p:sp>
        <p:nvSpPr>
          <p:cNvPr id="3" name="Freeform: Shape 2">
            <a:extLst>
              <a:ext uri="{FF2B5EF4-FFF2-40B4-BE49-F238E27FC236}">
                <a16:creationId xmlns:a16="http://schemas.microsoft.com/office/drawing/2014/main" id="{9CEC20FA-D25E-5A24-4C88-4D674A8E5E9F}"/>
              </a:ext>
            </a:extLst>
          </p:cNvPr>
          <p:cNvSpPr/>
          <p:nvPr userDrawn="1"/>
        </p:nvSpPr>
        <p:spPr>
          <a:xfrm rot="16200000" flipH="1" flipV="1">
            <a:off x="385491" y="-385489"/>
            <a:ext cx="6267079" cy="7038057"/>
          </a:xfrm>
          <a:custGeom>
            <a:avLst/>
            <a:gdLst>
              <a:gd name="connsiteX0" fmla="*/ 0 w 6267079"/>
              <a:gd name="connsiteY0" fmla="*/ 7038057 h 7038057"/>
              <a:gd name="connsiteX1" fmla="*/ 0 w 6267079"/>
              <a:gd name="connsiteY1" fmla="*/ 1481741 h 7038057"/>
              <a:gd name="connsiteX2" fmla="*/ 4488096 w 6267079"/>
              <a:gd name="connsiteY2" fmla="*/ 99665 h 7038057"/>
              <a:gd name="connsiteX3" fmla="*/ 4512668 w 6267079"/>
              <a:gd name="connsiteY3" fmla="*/ 89044 h 7038057"/>
              <a:gd name="connsiteX4" fmla="*/ 5004227 w 6267079"/>
              <a:gd name="connsiteY4" fmla="*/ 0 h 7038057"/>
              <a:gd name="connsiteX5" fmla="*/ 6267079 w 6267079"/>
              <a:gd name="connsiteY5" fmla="*/ 1133092 h 7038057"/>
              <a:gd name="connsiteX6" fmla="*/ 6267046 w 6267079"/>
              <a:gd name="connsiteY6" fmla="*/ 1133681 h 7038057"/>
              <a:gd name="connsiteX7" fmla="*/ 6267079 w 6267079"/>
              <a:gd name="connsiteY7" fmla="*/ 1133702 h 7038057"/>
              <a:gd name="connsiteX8" fmla="*/ 6267079 w 6267079"/>
              <a:gd name="connsiteY8" fmla="*/ 7038057 h 7038057"/>
              <a:gd name="connsiteX9" fmla="*/ 0 w 6267079"/>
              <a:gd name="connsiteY9" fmla="*/ 7038057 h 7038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267079" h="7038057">
                <a:moveTo>
                  <a:pt x="0" y="7038057"/>
                </a:moveTo>
                <a:lnTo>
                  <a:pt x="0" y="1481741"/>
                </a:lnTo>
                <a:lnTo>
                  <a:pt x="4488096" y="99665"/>
                </a:lnTo>
                <a:lnTo>
                  <a:pt x="4512668" y="89044"/>
                </a:lnTo>
                <a:cubicBezTo>
                  <a:pt x="4663753" y="31706"/>
                  <a:pt x="4829864" y="0"/>
                  <a:pt x="5004227" y="0"/>
                </a:cubicBezTo>
                <a:cubicBezTo>
                  <a:pt x="5701681" y="0"/>
                  <a:pt x="6267079" y="507302"/>
                  <a:pt x="6267079" y="1133092"/>
                </a:cubicBezTo>
                <a:lnTo>
                  <a:pt x="6267046" y="1133681"/>
                </a:lnTo>
                <a:lnTo>
                  <a:pt x="6267079" y="1133702"/>
                </a:lnTo>
                <a:lnTo>
                  <a:pt x="6267079" y="7038057"/>
                </a:lnTo>
                <a:lnTo>
                  <a:pt x="0" y="7038057"/>
                </a:lnTo>
                <a:close/>
              </a:path>
            </a:pathLst>
          </a:custGeom>
          <a:solidFill>
            <a:schemeClr val="bg1"/>
          </a:solidFill>
          <a:ln>
            <a:noFill/>
          </a:ln>
        </p:spPr>
        <p:txBody>
          <a:bodyPr spcFirstLastPara="1" wrap="square" lIns="60950" tIns="30467" rIns="60950" bIns="30467" anchor="t" anchorCtr="0">
            <a:noAutofit/>
          </a:bodyPr>
          <a:lstStyle/>
          <a:p>
            <a:pPr marL="0" marR="0" lvl="0" indent="0" algn="l" defTabSz="609630" rtl="0" eaLnBrk="1" fontAlgn="auto" latinLnBrk="0" hangingPunct="1">
              <a:lnSpc>
                <a:spcPct val="100000"/>
              </a:lnSpc>
              <a:spcBef>
                <a:spcPts val="0"/>
              </a:spcBef>
              <a:spcAft>
                <a:spcPts val="0"/>
              </a:spcAft>
              <a:buClr>
                <a:srgbClr val="000000"/>
              </a:buClr>
              <a:buSzPts val="1800"/>
              <a:buFontTx/>
              <a:buNone/>
              <a:tabLst/>
              <a:defRPr/>
            </a:pPr>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4" name="Freeform: Shape 3">
            <a:extLst>
              <a:ext uri="{FF2B5EF4-FFF2-40B4-BE49-F238E27FC236}">
                <a16:creationId xmlns:a16="http://schemas.microsoft.com/office/drawing/2014/main" id="{E87DAE13-0DBE-6E0E-B68E-D5B40ABDFBB4}"/>
              </a:ext>
            </a:extLst>
          </p:cNvPr>
          <p:cNvSpPr/>
          <p:nvPr userDrawn="1"/>
        </p:nvSpPr>
        <p:spPr>
          <a:xfrm rot="3043959" flipH="1">
            <a:off x="283148" y="4839050"/>
            <a:ext cx="3238168" cy="3377904"/>
          </a:xfrm>
          <a:custGeom>
            <a:avLst/>
            <a:gdLst>
              <a:gd name="connsiteX0" fmla="*/ 1180968 w 3238168"/>
              <a:gd name="connsiteY0" fmla="*/ 295905 h 3377904"/>
              <a:gd name="connsiteX1" fmla="*/ 3036 w 3238168"/>
              <a:gd name="connsiteY1" fmla="*/ 226552 h 3377904"/>
              <a:gd name="connsiteX2" fmla="*/ 0 w 3238168"/>
              <a:gd name="connsiteY2" fmla="*/ 229889 h 3377904"/>
              <a:gd name="connsiteX3" fmla="*/ 2573625 w 3238168"/>
              <a:gd name="connsiteY3" fmla="*/ 3377904 h 3377904"/>
              <a:gd name="connsiteX4" fmla="*/ 3238168 w 3238168"/>
              <a:gd name="connsiteY4" fmla="*/ 2834614 h 3377904"/>
              <a:gd name="connsiteX5" fmla="*/ 1180968 w 3238168"/>
              <a:gd name="connsiteY5" fmla="*/ 295905 h 3377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38168" h="3377904">
                <a:moveTo>
                  <a:pt x="1180968" y="295905"/>
                </a:moveTo>
                <a:cubicBezTo>
                  <a:pt x="881256" y="-73977"/>
                  <a:pt x="333727" y="-97094"/>
                  <a:pt x="3036" y="226552"/>
                </a:cubicBezTo>
                <a:lnTo>
                  <a:pt x="0" y="229889"/>
                </a:lnTo>
                <a:lnTo>
                  <a:pt x="2573625" y="3377904"/>
                </a:lnTo>
                <a:lnTo>
                  <a:pt x="3238168" y="2834614"/>
                </a:lnTo>
                <a:lnTo>
                  <a:pt x="1180968" y="295905"/>
                </a:lnTo>
                <a:close/>
              </a:path>
            </a:pathLst>
          </a:custGeom>
          <a:gradFill>
            <a:gsLst>
              <a:gs pos="6000">
                <a:srgbClr val="EA4335">
                  <a:alpha val="75000"/>
                </a:srgbClr>
              </a:gs>
              <a:gs pos="94000">
                <a:srgbClr val="F2CB0A">
                  <a:alpha val="50000"/>
                </a:srgbClr>
              </a:gs>
            </a:gsLst>
            <a:lin ang="16800000" scaled="0"/>
          </a:gradFill>
          <a:ln w="3604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Placeholder 19">
            <a:extLst>
              <a:ext uri="{FF2B5EF4-FFF2-40B4-BE49-F238E27FC236}">
                <a16:creationId xmlns:a16="http://schemas.microsoft.com/office/drawing/2014/main" id="{4E217E35-D9EB-36C1-7946-5AEABFCFB5E5}"/>
              </a:ext>
            </a:extLst>
          </p:cNvPr>
          <p:cNvSpPr>
            <a:spLocks noGrp="1"/>
          </p:cNvSpPr>
          <p:nvPr>
            <p:ph type="body" sz="quarter" idx="11"/>
          </p:nvPr>
        </p:nvSpPr>
        <p:spPr>
          <a:xfrm>
            <a:off x="537959" y="611030"/>
            <a:ext cx="5807438" cy="50450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20" name="Picture Placeholder 19">
            <a:extLst>
              <a:ext uri="{FF2B5EF4-FFF2-40B4-BE49-F238E27FC236}">
                <a16:creationId xmlns:a16="http://schemas.microsoft.com/office/drawing/2014/main" id="{27BCF554-CE9B-F45A-4FE7-820825969A01}"/>
              </a:ext>
            </a:extLst>
          </p:cNvPr>
          <p:cNvSpPr>
            <a:spLocks noGrp="1"/>
          </p:cNvSpPr>
          <p:nvPr>
            <p:ph type="pic" sz="quarter" idx="12"/>
          </p:nvPr>
        </p:nvSpPr>
        <p:spPr>
          <a:xfrm>
            <a:off x="6091725" y="2937936"/>
            <a:ext cx="6100275" cy="3920063"/>
          </a:xfrm>
          <a:custGeom>
            <a:avLst/>
            <a:gdLst>
              <a:gd name="connsiteX0" fmla="*/ 4939413 w 6100275"/>
              <a:gd name="connsiteY0" fmla="*/ 0 h 3920063"/>
              <a:gd name="connsiteX1" fmla="*/ 6100275 w 6100275"/>
              <a:gd name="connsiteY1" fmla="*/ 0 h 3920063"/>
              <a:gd name="connsiteX2" fmla="*/ 6100275 w 6100275"/>
              <a:gd name="connsiteY2" fmla="*/ 3920063 h 3920063"/>
              <a:gd name="connsiteX3" fmla="*/ 762943 w 6100275"/>
              <a:gd name="connsiteY3" fmla="*/ 3920063 h 3920063"/>
              <a:gd name="connsiteX4" fmla="*/ 98593 w 6100275"/>
              <a:gd name="connsiteY4" fmla="*/ 1762681 h 3920063"/>
              <a:gd name="connsiteX5" fmla="*/ 88086 w 6100275"/>
              <a:gd name="connsiteY5" fmla="*/ 1738373 h 3920063"/>
              <a:gd name="connsiteX6" fmla="*/ 0 w 6100275"/>
              <a:gd name="connsiteY6" fmla="*/ 1252106 h 3920063"/>
              <a:gd name="connsiteX7" fmla="*/ 1120897 w 6100275"/>
              <a:gd name="connsiteY7" fmla="*/ 2846 h 3920063"/>
              <a:gd name="connsiteX8" fmla="*/ 1121479 w 6100275"/>
              <a:gd name="connsiteY8" fmla="*/ 2878 h 3920063"/>
              <a:gd name="connsiteX9" fmla="*/ 1121499 w 6100275"/>
              <a:gd name="connsiteY9" fmla="*/ 2846 h 3920063"/>
              <a:gd name="connsiteX10" fmla="*/ 4939413 w 6100275"/>
              <a:gd name="connsiteY10" fmla="*/ 2846 h 3920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00275" h="3920063">
                <a:moveTo>
                  <a:pt x="4939413" y="0"/>
                </a:moveTo>
                <a:lnTo>
                  <a:pt x="6100275" y="0"/>
                </a:lnTo>
                <a:lnTo>
                  <a:pt x="6100275" y="3920063"/>
                </a:lnTo>
                <a:lnTo>
                  <a:pt x="762943" y="3920063"/>
                </a:lnTo>
                <a:lnTo>
                  <a:pt x="98593" y="1762681"/>
                </a:lnTo>
                <a:lnTo>
                  <a:pt x="88086" y="1738373"/>
                </a:lnTo>
                <a:cubicBezTo>
                  <a:pt x="31364" y="1588914"/>
                  <a:pt x="0" y="1424592"/>
                  <a:pt x="0" y="1252106"/>
                </a:cubicBezTo>
                <a:cubicBezTo>
                  <a:pt x="0" y="562159"/>
                  <a:pt x="501842" y="2846"/>
                  <a:pt x="1120897" y="2846"/>
                </a:cubicBezTo>
                <a:lnTo>
                  <a:pt x="1121479" y="2878"/>
                </a:lnTo>
                <a:lnTo>
                  <a:pt x="1121499" y="2846"/>
                </a:lnTo>
                <a:lnTo>
                  <a:pt x="4939413" y="2846"/>
                </a:lnTo>
                <a:close/>
              </a:path>
            </a:pathLst>
          </a:custGeom>
          <a:solidFill>
            <a:schemeClr val="bg1">
              <a:lumMod val="85000"/>
            </a:schemeClr>
          </a:solidFill>
        </p:spPr>
        <p:txBody>
          <a:bodyPr wrap="square">
            <a:noAutofit/>
          </a:bodyPr>
          <a:lstStyle/>
          <a:p>
            <a:endParaRPr lang="en-CA"/>
          </a:p>
        </p:txBody>
      </p:sp>
    </p:spTree>
    <p:extLst>
      <p:ext uri="{BB962C8B-B14F-4D97-AF65-F5344CB8AC3E}">
        <p14:creationId xmlns:p14="http://schemas.microsoft.com/office/powerpoint/2010/main" val="31000310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7_Custom Layout">
    <p:bg>
      <p:bgPr>
        <a:solidFill>
          <a:schemeClr val="bg1">
            <a:lumMod val="95000"/>
          </a:schemeClr>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88157326-C0F5-EA26-8E5F-7A96AE9E3EC0}"/>
              </a:ext>
            </a:extLst>
          </p:cNvPr>
          <p:cNvSpPr/>
          <p:nvPr userDrawn="1"/>
        </p:nvSpPr>
        <p:spPr>
          <a:xfrm>
            <a:off x="5408263" y="1"/>
            <a:ext cx="6783734" cy="5820285"/>
          </a:xfrm>
          <a:custGeom>
            <a:avLst/>
            <a:gdLst>
              <a:gd name="connsiteX0" fmla="*/ 1344154 w 6783734"/>
              <a:gd name="connsiteY0" fmla="*/ 0 h 5820285"/>
              <a:gd name="connsiteX1" fmla="*/ 6783734 w 6783734"/>
              <a:gd name="connsiteY1" fmla="*/ 0 h 5820285"/>
              <a:gd name="connsiteX2" fmla="*/ 6783734 w 6783734"/>
              <a:gd name="connsiteY2" fmla="*/ 5820285 h 5820285"/>
              <a:gd name="connsiteX3" fmla="*/ 1133702 w 6783734"/>
              <a:gd name="connsiteY3" fmla="*/ 5820285 h 5820285"/>
              <a:gd name="connsiteX4" fmla="*/ 1133681 w 6783734"/>
              <a:gd name="connsiteY4" fmla="*/ 5820252 h 5820285"/>
              <a:gd name="connsiteX5" fmla="*/ 1133093 w 6783734"/>
              <a:gd name="connsiteY5" fmla="*/ 5820285 h 5820285"/>
              <a:gd name="connsiteX6" fmla="*/ 0 w 6783734"/>
              <a:gd name="connsiteY6" fmla="*/ 4557433 h 5820285"/>
              <a:gd name="connsiteX7" fmla="*/ 89044 w 6783734"/>
              <a:gd name="connsiteY7" fmla="*/ 4065874 h 5820285"/>
              <a:gd name="connsiteX8" fmla="*/ 99665 w 6783734"/>
              <a:gd name="connsiteY8" fmla="*/ 4041302 h 5820285"/>
              <a:gd name="connsiteX9" fmla="*/ 1344154 w 6783734"/>
              <a:gd name="connsiteY9" fmla="*/ 0 h 5820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83734" h="5820285">
                <a:moveTo>
                  <a:pt x="1344154" y="0"/>
                </a:moveTo>
                <a:lnTo>
                  <a:pt x="6783734" y="0"/>
                </a:lnTo>
                <a:lnTo>
                  <a:pt x="6783734" y="5820285"/>
                </a:lnTo>
                <a:lnTo>
                  <a:pt x="1133702" y="5820285"/>
                </a:lnTo>
                <a:lnTo>
                  <a:pt x="1133681" y="5820252"/>
                </a:lnTo>
                <a:lnTo>
                  <a:pt x="1133093" y="5820285"/>
                </a:lnTo>
                <a:cubicBezTo>
                  <a:pt x="507303" y="5820285"/>
                  <a:pt x="0" y="5254887"/>
                  <a:pt x="0" y="4557433"/>
                </a:cubicBezTo>
                <a:cubicBezTo>
                  <a:pt x="0" y="4383070"/>
                  <a:pt x="31706" y="4216959"/>
                  <a:pt x="89044" y="4065874"/>
                </a:cubicBezTo>
                <a:lnTo>
                  <a:pt x="99665" y="4041302"/>
                </a:lnTo>
                <a:lnTo>
                  <a:pt x="1344154" y="0"/>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2" name="Title 1">
            <a:extLst>
              <a:ext uri="{FF2B5EF4-FFF2-40B4-BE49-F238E27FC236}">
                <a16:creationId xmlns:a16="http://schemas.microsoft.com/office/drawing/2014/main" id="{9923560A-D2A2-EE0E-9445-A912F4CB920E}"/>
              </a:ext>
            </a:extLst>
          </p:cNvPr>
          <p:cNvSpPr>
            <a:spLocks noGrp="1"/>
          </p:cNvSpPr>
          <p:nvPr>
            <p:ph type="title"/>
          </p:nvPr>
        </p:nvSpPr>
        <p:spPr>
          <a:xfrm>
            <a:off x="7084534" y="483407"/>
            <a:ext cx="4640741" cy="1297767"/>
          </a:xfrm>
        </p:spPr>
        <p:txBody>
          <a:bodyPr anchor="t"/>
          <a:lstStyle>
            <a:lvl1pPr algn="r">
              <a:defRPr/>
            </a:lvl1pPr>
          </a:lstStyle>
          <a:p>
            <a:r>
              <a:rPr lang="en-US"/>
              <a:t>Click to edit Master title style</a:t>
            </a:r>
            <a:endParaRPr lang="en-CA"/>
          </a:p>
        </p:txBody>
      </p:sp>
      <p:sp>
        <p:nvSpPr>
          <p:cNvPr id="4" name="Freeform: Shape 3">
            <a:extLst>
              <a:ext uri="{FF2B5EF4-FFF2-40B4-BE49-F238E27FC236}">
                <a16:creationId xmlns:a16="http://schemas.microsoft.com/office/drawing/2014/main" id="{040C3D09-4C3D-A185-A3C8-6CD281AAA21C}"/>
              </a:ext>
            </a:extLst>
          </p:cNvPr>
          <p:cNvSpPr/>
          <p:nvPr userDrawn="1"/>
        </p:nvSpPr>
        <p:spPr>
          <a:xfrm rot="18556041">
            <a:off x="8513066" y="4360781"/>
            <a:ext cx="3592320" cy="3721180"/>
          </a:xfrm>
          <a:custGeom>
            <a:avLst/>
            <a:gdLst>
              <a:gd name="connsiteX0" fmla="*/ 1543683 w 3592320"/>
              <a:gd name="connsiteY0" fmla="*/ 295906 h 3721180"/>
              <a:gd name="connsiteX1" fmla="*/ 3592320 w 3592320"/>
              <a:gd name="connsiteY1" fmla="*/ 2824048 h 3721180"/>
              <a:gd name="connsiteX2" fmla="*/ 2494963 w 3592320"/>
              <a:gd name="connsiteY2" fmla="*/ 3721180 h 3721180"/>
              <a:gd name="connsiteX3" fmla="*/ 0 w 3592320"/>
              <a:gd name="connsiteY3" fmla="*/ 669384 h 3721180"/>
              <a:gd name="connsiteX4" fmla="*/ 302642 w 3592320"/>
              <a:gd name="connsiteY4" fmla="*/ 295906 h 3721180"/>
              <a:gd name="connsiteX5" fmla="*/ 1543683 w 3592320"/>
              <a:gd name="connsiteY5" fmla="*/ 295906 h 3721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92320" h="3721180">
                <a:moveTo>
                  <a:pt x="1543683" y="295906"/>
                </a:moveTo>
                <a:lnTo>
                  <a:pt x="3592320" y="2824048"/>
                </a:lnTo>
                <a:lnTo>
                  <a:pt x="2494963" y="3721180"/>
                </a:lnTo>
                <a:lnTo>
                  <a:pt x="0" y="669384"/>
                </a:lnTo>
                <a:lnTo>
                  <a:pt x="302642" y="295906"/>
                </a:lnTo>
                <a:cubicBezTo>
                  <a:pt x="622336" y="-98635"/>
                  <a:pt x="1223989" y="-98635"/>
                  <a:pt x="1543683" y="295906"/>
                </a:cubicBezTo>
                <a:close/>
              </a:path>
            </a:pathLst>
          </a:custGeom>
          <a:gradFill>
            <a:gsLst>
              <a:gs pos="6000">
                <a:srgbClr val="EA4335">
                  <a:alpha val="75000"/>
                </a:srgbClr>
              </a:gs>
              <a:gs pos="94000">
                <a:srgbClr val="F2CB0A">
                  <a:alpha val="50000"/>
                </a:srgbClr>
              </a:gs>
            </a:gsLst>
            <a:lin ang="16800000" scaled="0"/>
          </a:gradFill>
          <a:ln w="3604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 name="Text Placeholder 19">
            <a:extLst>
              <a:ext uri="{FF2B5EF4-FFF2-40B4-BE49-F238E27FC236}">
                <a16:creationId xmlns:a16="http://schemas.microsoft.com/office/drawing/2014/main" id="{B55296EB-136C-7002-1E33-A3894353ED88}"/>
              </a:ext>
            </a:extLst>
          </p:cNvPr>
          <p:cNvSpPr>
            <a:spLocks noGrp="1"/>
          </p:cNvSpPr>
          <p:nvPr>
            <p:ph type="body" sz="quarter" idx="11"/>
          </p:nvPr>
        </p:nvSpPr>
        <p:spPr>
          <a:xfrm>
            <a:off x="6586334" y="1971674"/>
            <a:ext cx="5138941" cy="34626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Text Placeholder 19">
            <a:extLst>
              <a:ext uri="{FF2B5EF4-FFF2-40B4-BE49-F238E27FC236}">
                <a16:creationId xmlns:a16="http://schemas.microsoft.com/office/drawing/2014/main" id="{3DBFB334-BCD7-91FC-342F-FCB8807B308C}"/>
              </a:ext>
            </a:extLst>
          </p:cNvPr>
          <p:cNvSpPr>
            <a:spLocks noGrp="1"/>
          </p:cNvSpPr>
          <p:nvPr>
            <p:ph type="body" sz="quarter" idx="12"/>
          </p:nvPr>
        </p:nvSpPr>
        <p:spPr>
          <a:xfrm>
            <a:off x="609257" y="454832"/>
            <a:ext cx="5138941" cy="2031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9" name="Picture Placeholder 8">
            <a:extLst>
              <a:ext uri="{FF2B5EF4-FFF2-40B4-BE49-F238E27FC236}">
                <a16:creationId xmlns:a16="http://schemas.microsoft.com/office/drawing/2014/main" id="{C448695A-441E-55A0-58B3-14D470F90377}"/>
              </a:ext>
            </a:extLst>
          </p:cNvPr>
          <p:cNvSpPr>
            <a:spLocks noGrp="1"/>
          </p:cNvSpPr>
          <p:nvPr>
            <p:ph type="pic" sz="quarter" idx="13"/>
          </p:nvPr>
        </p:nvSpPr>
        <p:spPr>
          <a:xfrm>
            <a:off x="-1" y="3033642"/>
            <a:ext cx="7362826" cy="3824360"/>
          </a:xfrm>
          <a:custGeom>
            <a:avLst/>
            <a:gdLst>
              <a:gd name="connsiteX0" fmla="*/ 0 w 7362826"/>
              <a:gd name="connsiteY0" fmla="*/ 0 h 3824360"/>
              <a:gd name="connsiteX1" fmla="*/ 1753034 w 7362826"/>
              <a:gd name="connsiteY1" fmla="*/ 0 h 3824360"/>
              <a:gd name="connsiteX2" fmla="*/ 4151123 w 7362826"/>
              <a:gd name="connsiteY2" fmla="*/ 0 h 3824360"/>
              <a:gd name="connsiteX3" fmla="*/ 5324885 w 7362826"/>
              <a:gd name="connsiteY3" fmla="*/ 0 h 3824360"/>
              <a:gd name="connsiteX4" fmla="*/ 5324903 w 7362826"/>
              <a:gd name="connsiteY4" fmla="*/ 29 h 3824360"/>
              <a:gd name="connsiteX5" fmla="*/ 5325426 w 7362826"/>
              <a:gd name="connsiteY5" fmla="*/ 0 h 3824360"/>
              <a:gd name="connsiteX6" fmla="*/ 6332458 w 7362826"/>
              <a:gd name="connsiteY6" fmla="*/ 1122356 h 3824360"/>
              <a:gd name="connsiteX7" fmla="*/ 6253320 w 7362826"/>
              <a:gd name="connsiteY7" fmla="*/ 1559227 h 3824360"/>
              <a:gd name="connsiteX8" fmla="*/ 6243880 w 7362826"/>
              <a:gd name="connsiteY8" fmla="*/ 1581066 h 3824360"/>
              <a:gd name="connsiteX9" fmla="*/ 5553075 w 7362826"/>
              <a:gd name="connsiteY9" fmla="*/ 3824359 h 3824360"/>
              <a:gd name="connsiteX10" fmla="*/ 7362826 w 7362826"/>
              <a:gd name="connsiteY10" fmla="*/ 3824359 h 3824360"/>
              <a:gd name="connsiteX11" fmla="*/ 7362826 w 7362826"/>
              <a:gd name="connsiteY11" fmla="*/ 3824360 h 3824360"/>
              <a:gd name="connsiteX12" fmla="*/ 0 w 7362826"/>
              <a:gd name="connsiteY12" fmla="*/ 3824360 h 3824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62826" h="3824360">
                <a:moveTo>
                  <a:pt x="0" y="0"/>
                </a:moveTo>
                <a:lnTo>
                  <a:pt x="1753034" y="0"/>
                </a:lnTo>
                <a:lnTo>
                  <a:pt x="4151123" y="0"/>
                </a:lnTo>
                <a:lnTo>
                  <a:pt x="5324885" y="0"/>
                </a:lnTo>
                <a:lnTo>
                  <a:pt x="5324903" y="29"/>
                </a:lnTo>
                <a:lnTo>
                  <a:pt x="5325426" y="0"/>
                </a:lnTo>
                <a:cubicBezTo>
                  <a:pt x="5881595" y="0"/>
                  <a:pt x="6332458" y="502496"/>
                  <a:pt x="6332458" y="1122356"/>
                </a:cubicBezTo>
                <a:cubicBezTo>
                  <a:pt x="6332458" y="1277321"/>
                  <a:pt x="6304279" y="1424951"/>
                  <a:pt x="6253320" y="1559227"/>
                </a:cubicBezTo>
                <a:lnTo>
                  <a:pt x="6243880" y="1581066"/>
                </a:lnTo>
                <a:lnTo>
                  <a:pt x="5553075" y="3824359"/>
                </a:lnTo>
                <a:lnTo>
                  <a:pt x="7362826" y="3824359"/>
                </a:lnTo>
                <a:lnTo>
                  <a:pt x="7362826" y="3824360"/>
                </a:lnTo>
                <a:lnTo>
                  <a:pt x="0" y="3824360"/>
                </a:lnTo>
                <a:close/>
              </a:path>
            </a:pathLst>
          </a:custGeom>
          <a:solidFill>
            <a:schemeClr val="bg1">
              <a:lumMod val="85000"/>
            </a:schemeClr>
          </a:solidFill>
        </p:spPr>
        <p:txBody>
          <a:bodyPr wrap="square">
            <a:noAutofit/>
          </a:bodyPr>
          <a:lstStyle/>
          <a:p>
            <a:endParaRPr lang="en-CA"/>
          </a:p>
        </p:txBody>
      </p:sp>
    </p:spTree>
    <p:extLst>
      <p:ext uri="{BB962C8B-B14F-4D97-AF65-F5344CB8AC3E}">
        <p14:creationId xmlns:p14="http://schemas.microsoft.com/office/powerpoint/2010/main" val="221156293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854F3-EFDA-1489-9A84-F4A22005EBB6}"/>
              </a:ext>
            </a:extLst>
          </p:cNvPr>
          <p:cNvSpPr>
            <a:spLocks noGrp="1"/>
          </p:cNvSpPr>
          <p:nvPr>
            <p:ph type="title"/>
          </p:nvPr>
        </p:nvSpPr>
        <p:spPr>
          <a:xfrm>
            <a:off x="496914" y="5701763"/>
            <a:ext cx="5684811" cy="936733"/>
          </a:xfrm>
        </p:spPr>
        <p:txBody>
          <a:bodyPr/>
          <a:lstStyle/>
          <a:p>
            <a:r>
              <a:rPr lang="en-US"/>
              <a:t>Click to edit Master title style</a:t>
            </a:r>
            <a:endParaRPr lang="en-CA"/>
          </a:p>
        </p:txBody>
      </p:sp>
      <p:sp>
        <p:nvSpPr>
          <p:cNvPr id="4" name="Freeform: Shape 3">
            <a:extLst>
              <a:ext uri="{FF2B5EF4-FFF2-40B4-BE49-F238E27FC236}">
                <a16:creationId xmlns:a16="http://schemas.microsoft.com/office/drawing/2014/main" id="{BCD18E48-FDC5-870B-59DF-AEAF0BA40C99}"/>
              </a:ext>
            </a:extLst>
          </p:cNvPr>
          <p:cNvSpPr/>
          <p:nvPr userDrawn="1"/>
        </p:nvSpPr>
        <p:spPr>
          <a:xfrm flipV="1">
            <a:off x="0" y="0"/>
            <a:ext cx="5943598" cy="5497915"/>
          </a:xfrm>
          <a:custGeom>
            <a:avLst/>
            <a:gdLst>
              <a:gd name="connsiteX0" fmla="*/ 0 w 5943598"/>
              <a:gd name="connsiteY0" fmla="*/ 5497915 h 5497915"/>
              <a:gd name="connsiteX1" fmla="*/ 4698716 w 5943598"/>
              <a:gd name="connsiteY1" fmla="*/ 5497915 h 5497915"/>
              <a:gd name="connsiteX2" fmla="*/ 5843933 w 5943598"/>
              <a:gd name="connsiteY2" fmla="*/ 1778983 h 5497915"/>
              <a:gd name="connsiteX3" fmla="*/ 5854554 w 5943598"/>
              <a:gd name="connsiteY3" fmla="*/ 1754411 h 5497915"/>
              <a:gd name="connsiteX4" fmla="*/ 5943598 w 5943598"/>
              <a:gd name="connsiteY4" fmla="*/ 1262852 h 5497915"/>
              <a:gd name="connsiteX5" fmla="*/ 4810505 w 5943598"/>
              <a:gd name="connsiteY5" fmla="*/ 0 h 5497915"/>
              <a:gd name="connsiteX6" fmla="*/ 4809917 w 5943598"/>
              <a:gd name="connsiteY6" fmla="*/ 33 h 5497915"/>
              <a:gd name="connsiteX7" fmla="*/ 4809896 w 5943598"/>
              <a:gd name="connsiteY7" fmla="*/ 0 h 5497915"/>
              <a:gd name="connsiteX8" fmla="*/ 3271991 w 5943598"/>
              <a:gd name="connsiteY8" fmla="*/ 0 h 5497915"/>
              <a:gd name="connsiteX9" fmla="*/ 3271382 w 5943598"/>
              <a:gd name="connsiteY9" fmla="*/ 0 h 5497915"/>
              <a:gd name="connsiteX10" fmla="*/ 0 w 5943598"/>
              <a:gd name="connsiteY10" fmla="*/ 0 h 5497915"/>
              <a:gd name="connsiteX11" fmla="*/ 0 w 5943598"/>
              <a:gd name="connsiteY11" fmla="*/ 5497915 h 5497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43598" h="5497915">
                <a:moveTo>
                  <a:pt x="0" y="5497915"/>
                </a:moveTo>
                <a:lnTo>
                  <a:pt x="4698716" y="5497915"/>
                </a:lnTo>
                <a:lnTo>
                  <a:pt x="5843933" y="1778983"/>
                </a:lnTo>
                <a:lnTo>
                  <a:pt x="5854554" y="1754411"/>
                </a:lnTo>
                <a:cubicBezTo>
                  <a:pt x="5911892" y="1603326"/>
                  <a:pt x="5943598" y="1437215"/>
                  <a:pt x="5943598" y="1262852"/>
                </a:cubicBezTo>
                <a:cubicBezTo>
                  <a:pt x="5943598" y="565398"/>
                  <a:pt x="5436295" y="0"/>
                  <a:pt x="4810505" y="0"/>
                </a:cubicBezTo>
                <a:lnTo>
                  <a:pt x="4809917" y="33"/>
                </a:lnTo>
                <a:lnTo>
                  <a:pt x="4809896" y="0"/>
                </a:lnTo>
                <a:lnTo>
                  <a:pt x="3271991" y="0"/>
                </a:lnTo>
                <a:lnTo>
                  <a:pt x="3271382" y="0"/>
                </a:lnTo>
                <a:lnTo>
                  <a:pt x="0" y="0"/>
                </a:lnTo>
                <a:lnTo>
                  <a:pt x="0" y="5497915"/>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CA">
              <a:latin typeface="Arial" panose="020B0604020202020204" pitchFamily="34" charset="0"/>
              <a:cs typeface="Arial" panose="020B0604020202020204" pitchFamily="34" charset="0"/>
            </a:endParaRPr>
          </a:p>
        </p:txBody>
      </p:sp>
      <p:sp>
        <p:nvSpPr>
          <p:cNvPr id="5" name="Freeform: Shape 4">
            <a:extLst>
              <a:ext uri="{FF2B5EF4-FFF2-40B4-BE49-F238E27FC236}">
                <a16:creationId xmlns:a16="http://schemas.microsoft.com/office/drawing/2014/main" id="{E4B54D25-938A-8E3E-24E1-43597CFD13B2}"/>
              </a:ext>
            </a:extLst>
          </p:cNvPr>
          <p:cNvSpPr/>
          <p:nvPr userDrawn="1"/>
        </p:nvSpPr>
        <p:spPr>
          <a:xfrm rot="3043959" flipV="1">
            <a:off x="7567353" y="-1890275"/>
            <a:ext cx="4097470" cy="4348880"/>
          </a:xfrm>
          <a:custGeom>
            <a:avLst/>
            <a:gdLst>
              <a:gd name="connsiteX0" fmla="*/ 1317614 w 4097470"/>
              <a:gd name="connsiteY0" fmla="*/ 393359 h 4348880"/>
              <a:gd name="connsiteX1" fmla="*/ 45150 w 4097470"/>
              <a:gd name="connsiteY1" fmla="*/ 98339 h 4348880"/>
              <a:gd name="connsiteX2" fmla="*/ 0 w 4097470"/>
              <a:gd name="connsiteY2" fmla="*/ 122433 h 4348880"/>
              <a:gd name="connsiteX3" fmla="*/ 3455286 w 4097470"/>
              <a:gd name="connsiteY3" fmla="*/ 4348880 h 4348880"/>
              <a:gd name="connsiteX4" fmla="*/ 4097470 w 4097470"/>
              <a:gd name="connsiteY4" fmla="*/ 3823869 h 4348880"/>
              <a:gd name="connsiteX5" fmla="*/ 1317614 w 4097470"/>
              <a:gd name="connsiteY5" fmla="*/ 393359 h 4348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97470" h="4348880">
                <a:moveTo>
                  <a:pt x="1317614" y="393359"/>
                </a:moveTo>
                <a:cubicBezTo>
                  <a:pt x="998878" y="0"/>
                  <a:pt x="469305" y="-98340"/>
                  <a:pt x="45150" y="98339"/>
                </a:cubicBezTo>
                <a:lnTo>
                  <a:pt x="0" y="122433"/>
                </a:lnTo>
                <a:lnTo>
                  <a:pt x="3455286" y="4348880"/>
                </a:lnTo>
                <a:lnTo>
                  <a:pt x="4097470" y="3823869"/>
                </a:lnTo>
                <a:lnTo>
                  <a:pt x="1317614" y="393359"/>
                </a:lnTo>
                <a:close/>
              </a:path>
            </a:pathLst>
          </a:custGeom>
          <a:gradFill>
            <a:gsLst>
              <a:gs pos="6000">
                <a:srgbClr val="EA4335">
                  <a:alpha val="75000"/>
                </a:srgbClr>
              </a:gs>
              <a:gs pos="94000">
                <a:srgbClr val="F2CB0A">
                  <a:alpha val="50000"/>
                </a:srgbClr>
              </a:gs>
            </a:gsLst>
            <a:lin ang="16800000" scaled="0"/>
          </a:gradFill>
          <a:ln w="3604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                </a:t>
            </a:r>
            <a:endParaRPr kumimoji="0" lang="en-CA" sz="18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9" name="Text Placeholder 19">
            <a:extLst>
              <a:ext uri="{FF2B5EF4-FFF2-40B4-BE49-F238E27FC236}">
                <a16:creationId xmlns:a16="http://schemas.microsoft.com/office/drawing/2014/main" id="{A4F7DCEB-332D-4A0A-56E6-E5DAB551C47C}"/>
              </a:ext>
            </a:extLst>
          </p:cNvPr>
          <p:cNvSpPr>
            <a:spLocks noGrp="1"/>
          </p:cNvSpPr>
          <p:nvPr>
            <p:ph type="body" sz="quarter" idx="11"/>
          </p:nvPr>
        </p:nvSpPr>
        <p:spPr>
          <a:xfrm>
            <a:off x="496914" y="562649"/>
            <a:ext cx="4375668" cy="46570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10" name="Text Placeholder 19">
            <a:extLst>
              <a:ext uri="{FF2B5EF4-FFF2-40B4-BE49-F238E27FC236}">
                <a16:creationId xmlns:a16="http://schemas.microsoft.com/office/drawing/2014/main" id="{8EBBDC6A-4BCD-61CF-5029-DBD03D9E97C6}"/>
              </a:ext>
            </a:extLst>
          </p:cNvPr>
          <p:cNvSpPr>
            <a:spLocks noGrp="1"/>
          </p:cNvSpPr>
          <p:nvPr>
            <p:ph type="body" sz="quarter" idx="13"/>
          </p:nvPr>
        </p:nvSpPr>
        <p:spPr>
          <a:xfrm>
            <a:off x="6019798" y="1122627"/>
            <a:ext cx="5751488" cy="22180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18" name="Picture Placeholder 17">
            <a:extLst>
              <a:ext uri="{FF2B5EF4-FFF2-40B4-BE49-F238E27FC236}">
                <a16:creationId xmlns:a16="http://schemas.microsoft.com/office/drawing/2014/main" id="{F7939E24-62F3-FD32-76FA-5F743368860D}"/>
              </a:ext>
            </a:extLst>
          </p:cNvPr>
          <p:cNvSpPr>
            <a:spLocks noGrp="1"/>
          </p:cNvSpPr>
          <p:nvPr>
            <p:ph type="pic" sz="quarter" idx="14"/>
          </p:nvPr>
        </p:nvSpPr>
        <p:spPr>
          <a:xfrm>
            <a:off x="6342945" y="3620961"/>
            <a:ext cx="5849055" cy="3237039"/>
          </a:xfrm>
          <a:custGeom>
            <a:avLst/>
            <a:gdLst>
              <a:gd name="connsiteX0" fmla="*/ 957182 w 5849055"/>
              <a:gd name="connsiteY0" fmla="*/ 0 h 3237039"/>
              <a:gd name="connsiteX1" fmla="*/ 957679 w 5849055"/>
              <a:gd name="connsiteY1" fmla="*/ 28 h 3237039"/>
              <a:gd name="connsiteX2" fmla="*/ 957696 w 5849055"/>
              <a:gd name="connsiteY2" fmla="*/ 0 h 3237039"/>
              <a:gd name="connsiteX3" fmla="*/ 2033034 w 5849055"/>
              <a:gd name="connsiteY3" fmla="*/ 0 h 3237039"/>
              <a:gd name="connsiteX4" fmla="*/ 2771205 w 5849055"/>
              <a:gd name="connsiteY4" fmla="*/ 0 h 3237039"/>
              <a:gd name="connsiteX5" fmla="*/ 3315376 w 5849055"/>
              <a:gd name="connsiteY5" fmla="*/ 0 h 3237039"/>
              <a:gd name="connsiteX6" fmla="*/ 3983226 w 5849055"/>
              <a:gd name="connsiteY6" fmla="*/ 0 h 3237039"/>
              <a:gd name="connsiteX7" fmla="*/ 4053548 w 5849055"/>
              <a:gd name="connsiteY7" fmla="*/ 0 h 3237039"/>
              <a:gd name="connsiteX8" fmla="*/ 4721398 w 5849055"/>
              <a:gd name="connsiteY8" fmla="*/ 0 h 3237039"/>
              <a:gd name="connsiteX9" fmla="*/ 5849055 w 5849055"/>
              <a:gd name="connsiteY9" fmla="*/ 0 h 3237039"/>
              <a:gd name="connsiteX10" fmla="*/ 5849055 w 5849055"/>
              <a:gd name="connsiteY10" fmla="*/ 3237039 h 3237039"/>
              <a:gd name="connsiteX11" fmla="*/ 618238 w 5849055"/>
              <a:gd name="connsiteY11" fmla="*/ 3237039 h 3237039"/>
              <a:gd name="connsiteX12" fmla="*/ 84192 w 5849055"/>
              <a:gd name="connsiteY12" fmla="*/ 1502800 h 3237039"/>
              <a:gd name="connsiteX13" fmla="*/ 75218 w 5849055"/>
              <a:gd name="connsiteY13" fmla="*/ 1482043 h 3237039"/>
              <a:gd name="connsiteX14" fmla="*/ 0 w 5849055"/>
              <a:gd name="connsiteY14" fmla="*/ 1066797 h 3237039"/>
              <a:gd name="connsiteX15" fmla="*/ 957182 w 5849055"/>
              <a:gd name="connsiteY15" fmla="*/ 0 h 3237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849055" h="3237039">
                <a:moveTo>
                  <a:pt x="957182" y="0"/>
                </a:moveTo>
                <a:lnTo>
                  <a:pt x="957679" y="28"/>
                </a:lnTo>
                <a:lnTo>
                  <a:pt x="957696" y="0"/>
                </a:lnTo>
                <a:lnTo>
                  <a:pt x="2033034" y="0"/>
                </a:lnTo>
                <a:lnTo>
                  <a:pt x="2771205" y="0"/>
                </a:lnTo>
                <a:lnTo>
                  <a:pt x="3315376" y="0"/>
                </a:lnTo>
                <a:lnTo>
                  <a:pt x="3983226" y="0"/>
                </a:lnTo>
                <a:lnTo>
                  <a:pt x="4053548" y="0"/>
                </a:lnTo>
                <a:lnTo>
                  <a:pt x="4721398" y="0"/>
                </a:lnTo>
                <a:lnTo>
                  <a:pt x="5849055" y="0"/>
                </a:lnTo>
                <a:lnTo>
                  <a:pt x="5849055" y="3237039"/>
                </a:lnTo>
                <a:lnTo>
                  <a:pt x="618238" y="3237039"/>
                </a:lnTo>
                <a:lnTo>
                  <a:pt x="84192" y="1502800"/>
                </a:lnTo>
                <a:lnTo>
                  <a:pt x="75218" y="1482043"/>
                </a:lnTo>
                <a:cubicBezTo>
                  <a:pt x="26783" y="1354413"/>
                  <a:pt x="0" y="1214091"/>
                  <a:pt x="0" y="1066797"/>
                </a:cubicBezTo>
                <a:cubicBezTo>
                  <a:pt x="0" y="477622"/>
                  <a:pt x="428545" y="0"/>
                  <a:pt x="957182" y="0"/>
                </a:cubicBezTo>
                <a:close/>
              </a:path>
            </a:pathLst>
          </a:custGeom>
          <a:solidFill>
            <a:schemeClr val="bg1">
              <a:lumMod val="85000"/>
            </a:schemeClr>
          </a:solidFill>
        </p:spPr>
        <p:txBody>
          <a:bodyPr wrap="square">
            <a:noAutofit/>
          </a:bodyPr>
          <a:lstStyle/>
          <a:p>
            <a:endParaRPr lang="en-CA"/>
          </a:p>
        </p:txBody>
      </p:sp>
    </p:spTree>
    <p:extLst>
      <p:ext uri="{BB962C8B-B14F-4D97-AF65-F5344CB8AC3E}">
        <p14:creationId xmlns:p14="http://schemas.microsoft.com/office/powerpoint/2010/main" val="234046827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6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B0D6A-3F0D-1E58-643F-83DD12A1EA64}"/>
              </a:ext>
            </a:extLst>
          </p:cNvPr>
          <p:cNvSpPr>
            <a:spLocks noGrp="1"/>
          </p:cNvSpPr>
          <p:nvPr>
            <p:ph type="title"/>
          </p:nvPr>
        </p:nvSpPr>
        <p:spPr>
          <a:xfrm>
            <a:off x="715989" y="548738"/>
            <a:ext cx="4574741" cy="1822987"/>
          </a:xfrm>
        </p:spPr>
        <p:txBody>
          <a:bodyPr anchor="t"/>
          <a:lstStyle/>
          <a:p>
            <a:r>
              <a:rPr lang="en-US"/>
              <a:t>Click to edit Master title style</a:t>
            </a:r>
            <a:endParaRPr lang="en-CA"/>
          </a:p>
        </p:txBody>
      </p:sp>
      <p:sp>
        <p:nvSpPr>
          <p:cNvPr id="3" name="Freeform: Shape 2">
            <a:extLst>
              <a:ext uri="{FF2B5EF4-FFF2-40B4-BE49-F238E27FC236}">
                <a16:creationId xmlns:a16="http://schemas.microsoft.com/office/drawing/2014/main" id="{944930C6-7A7A-F376-6F7B-546E91BEE209}"/>
              </a:ext>
            </a:extLst>
          </p:cNvPr>
          <p:cNvSpPr/>
          <p:nvPr userDrawn="1"/>
        </p:nvSpPr>
        <p:spPr>
          <a:xfrm rot="15656168">
            <a:off x="6591064" y="-1355049"/>
            <a:ext cx="4932724" cy="6841744"/>
          </a:xfrm>
          <a:custGeom>
            <a:avLst/>
            <a:gdLst>
              <a:gd name="connsiteX0" fmla="*/ 4932724 w 4932724"/>
              <a:gd name="connsiteY0" fmla="*/ 1073835 h 6841744"/>
              <a:gd name="connsiteX1" fmla="*/ 4012585 w 4932724"/>
              <a:gd name="connsiteY1" fmla="*/ 6841744 h 6841744"/>
              <a:gd name="connsiteX2" fmla="*/ 0 w 4932724"/>
              <a:gd name="connsiteY2" fmla="*/ 6201627 h 6841744"/>
              <a:gd name="connsiteX3" fmla="*/ 30834 w 4932724"/>
              <a:gd name="connsiteY3" fmla="*/ 1565339 h 6841744"/>
              <a:gd name="connsiteX4" fmla="*/ 27839 w 4932724"/>
              <a:gd name="connsiteY4" fmla="*/ 1536262 h 6841744"/>
              <a:gd name="connsiteX5" fmla="*/ 96484 w 4932724"/>
              <a:gd name="connsiteY5" fmla="*/ 995112 h 6841744"/>
              <a:gd name="connsiteX6" fmla="*/ 1321551 w 4932724"/>
              <a:gd name="connsiteY6" fmla="*/ 455 h 6841744"/>
              <a:gd name="connsiteX7" fmla="*/ 1691092 w 4932724"/>
              <a:gd name="connsiteY7" fmla="*/ 51946 h 6841744"/>
              <a:gd name="connsiteX8" fmla="*/ 1691694 w 4932724"/>
              <a:gd name="connsiteY8" fmla="*/ 52173 h 6841744"/>
              <a:gd name="connsiteX9" fmla="*/ 1691726 w 4932724"/>
              <a:gd name="connsiteY9" fmla="*/ 52147 h 6841744"/>
              <a:gd name="connsiteX10" fmla="*/ 4932724 w 4932724"/>
              <a:gd name="connsiteY10" fmla="*/ 1073835 h 6841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932724" h="6841744">
                <a:moveTo>
                  <a:pt x="4932724" y="1073835"/>
                </a:moveTo>
                <a:lnTo>
                  <a:pt x="4012585" y="6841744"/>
                </a:lnTo>
                <a:lnTo>
                  <a:pt x="0" y="6201627"/>
                </a:lnTo>
                <a:lnTo>
                  <a:pt x="30834" y="1565339"/>
                </a:lnTo>
                <a:lnTo>
                  <a:pt x="27839" y="1536262"/>
                </a:lnTo>
                <a:cubicBezTo>
                  <a:pt x="17728" y="1360096"/>
                  <a:pt x="39242" y="1176697"/>
                  <a:pt x="96484" y="995112"/>
                </a:cubicBezTo>
                <a:cubicBezTo>
                  <a:pt x="282522" y="404961"/>
                  <a:pt x="788709" y="15544"/>
                  <a:pt x="1321551" y="455"/>
                </a:cubicBezTo>
                <a:cubicBezTo>
                  <a:pt x="1444514" y="-3027"/>
                  <a:pt x="1568898" y="13426"/>
                  <a:pt x="1691092" y="51946"/>
                </a:cubicBezTo>
                <a:lnTo>
                  <a:pt x="1691694" y="52173"/>
                </a:lnTo>
                <a:lnTo>
                  <a:pt x="1691726" y="52147"/>
                </a:lnTo>
                <a:lnTo>
                  <a:pt x="4932724" y="1073835"/>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 name="Freeform: Shape 3">
            <a:extLst>
              <a:ext uri="{FF2B5EF4-FFF2-40B4-BE49-F238E27FC236}">
                <a16:creationId xmlns:a16="http://schemas.microsoft.com/office/drawing/2014/main" id="{1E2316DF-2B8B-698D-2C3B-4B6175D4B53D}"/>
              </a:ext>
            </a:extLst>
          </p:cNvPr>
          <p:cNvSpPr/>
          <p:nvPr userDrawn="1"/>
        </p:nvSpPr>
        <p:spPr>
          <a:xfrm rot="18014360" flipH="1">
            <a:off x="9400682" y="4089035"/>
            <a:ext cx="3271998" cy="3182464"/>
          </a:xfrm>
          <a:custGeom>
            <a:avLst/>
            <a:gdLst>
              <a:gd name="connsiteX0" fmla="*/ 0 w 3271998"/>
              <a:gd name="connsiteY0" fmla="*/ 1974834 h 3182464"/>
              <a:gd name="connsiteX1" fmla="*/ 2071644 w 3271998"/>
              <a:gd name="connsiteY1" fmla="*/ 3182464 h 3182464"/>
              <a:gd name="connsiteX2" fmla="*/ 3271998 w 3271998"/>
              <a:gd name="connsiteY2" fmla="*/ 1123302 h 3182464"/>
              <a:gd name="connsiteX3" fmla="*/ 2601532 w 3271998"/>
              <a:gd name="connsiteY3" fmla="*/ 295906 h 3182464"/>
              <a:gd name="connsiteX4" fmla="*/ 1360492 w 3271998"/>
              <a:gd name="connsiteY4" fmla="*/ 295905 h 3182464"/>
              <a:gd name="connsiteX5" fmla="*/ 0 w 3271998"/>
              <a:gd name="connsiteY5" fmla="*/ 1974834 h 3182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1998" h="3182464">
                <a:moveTo>
                  <a:pt x="0" y="1974834"/>
                </a:moveTo>
                <a:lnTo>
                  <a:pt x="2071644" y="3182464"/>
                </a:lnTo>
                <a:lnTo>
                  <a:pt x="3271998" y="1123302"/>
                </a:lnTo>
                <a:lnTo>
                  <a:pt x="2601532" y="295906"/>
                </a:lnTo>
                <a:cubicBezTo>
                  <a:pt x="2281839" y="-98635"/>
                  <a:pt x="1680185" y="-98636"/>
                  <a:pt x="1360492" y="295905"/>
                </a:cubicBezTo>
                <a:lnTo>
                  <a:pt x="0" y="1974834"/>
                </a:lnTo>
                <a:close/>
              </a:path>
            </a:pathLst>
          </a:custGeom>
          <a:gradFill>
            <a:gsLst>
              <a:gs pos="6000">
                <a:srgbClr val="EA4335">
                  <a:alpha val="75000"/>
                </a:srgbClr>
              </a:gs>
              <a:gs pos="94000">
                <a:srgbClr val="F2CB0A">
                  <a:alpha val="50000"/>
                </a:srgbClr>
              </a:gs>
            </a:gsLst>
            <a:lin ang="16800000" scaled="0"/>
          </a:gradFill>
          <a:ln w="3604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5" name="Picture Placeholder 8">
            <a:extLst>
              <a:ext uri="{FF2B5EF4-FFF2-40B4-BE49-F238E27FC236}">
                <a16:creationId xmlns:a16="http://schemas.microsoft.com/office/drawing/2014/main" id="{4EC69CD3-B2C2-1627-9FA9-4266B448DFC2}"/>
              </a:ext>
            </a:extLst>
          </p:cNvPr>
          <p:cNvSpPr>
            <a:spLocks noGrp="1"/>
          </p:cNvSpPr>
          <p:nvPr>
            <p:ph type="pic" sz="quarter" idx="11" hasCustomPrompt="1"/>
          </p:nvPr>
        </p:nvSpPr>
        <p:spPr>
          <a:xfrm>
            <a:off x="7423946" y="5185335"/>
            <a:ext cx="1414112" cy="1403933"/>
          </a:xfrm>
          <a:prstGeom prst="ellipse">
            <a:avLst/>
          </a:prstGeom>
          <a:noFill/>
        </p:spPr>
        <p:txBody>
          <a:bodyPr anchor="ctr">
            <a:normAutofit/>
          </a:bodyPr>
          <a:lstStyle>
            <a:lvl1pPr marL="0" indent="0" algn="ctr">
              <a:buNone/>
              <a:defRPr sz="1600"/>
            </a:lvl1pPr>
          </a:lstStyle>
          <a:p>
            <a:r>
              <a:rPr lang="en-CA"/>
              <a:t>Icon</a:t>
            </a:r>
            <a:endParaRPr lang="fr-CA"/>
          </a:p>
        </p:txBody>
      </p:sp>
      <p:sp>
        <p:nvSpPr>
          <p:cNvPr id="6" name="Text Placeholder 19">
            <a:extLst>
              <a:ext uri="{FF2B5EF4-FFF2-40B4-BE49-F238E27FC236}">
                <a16:creationId xmlns:a16="http://schemas.microsoft.com/office/drawing/2014/main" id="{E6A502FC-530A-F0F7-42BA-C15854D970D3}"/>
              </a:ext>
            </a:extLst>
          </p:cNvPr>
          <p:cNvSpPr>
            <a:spLocks noGrp="1"/>
          </p:cNvSpPr>
          <p:nvPr>
            <p:ph type="body" sz="quarter" idx="12"/>
          </p:nvPr>
        </p:nvSpPr>
        <p:spPr>
          <a:xfrm>
            <a:off x="6661013" y="571500"/>
            <a:ext cx="5235712" cy="3600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9" name="Picture Placeholder 8">
            <a:extLst>
              <a:ext uri="{FF2B5EF4-FFF2-40B4-BE49-F238E27FC236}">
                <a16:creationId xmlns:a16="http://schemas.microsoft.com/office/drawing/2014/main" id="{4268024E-EE29-CE28-2AE2-74EB92247796}"/>
              </a:ext>
            </a:extLst>
          </p:cNvPr>
          <p:cNvSpPr>
            <a:spLocks noGrp="1"/>
          </p:cNvSpPr>
          <p:nvPr>
            <p:ph type="pic" sz="quarter" idx="13"/>
          </p:nvPr>
        </p:nvSpPr>
        <p:spPr>
          <a:xfrm>
            <a:off x="0" y="2632995"/>
            <a:ext cx="6507116" cy="4225005"/>
          </a:xfrm>
          <a:custGeom>
            <a:avLst/>
            <a:gdLst>
              <a:gd name="connsiteX0" fmla="*/ 4959995 w 6507116"/>
              <a:gd name="connsiteY0" fmla="*/ 979 h 4225005"/>
              <a:gd name="connsiteX1" fmla="*/ 5252361 w 6507116"/>
              <a:gd name="connsiteY1" fmla="*/ 17445 h 4225005"/>
              <a:gd name="connsiteX2" fmla="*/ 6486453 w 6507116"/>
              <a:gd name="connsiteY2" fmla="*/ 1121666 h 4225005"/>
              <a:gd name="connsiteX3" fmla="*/ 6494466 w 6507116"/>
              <a:gd name="connsiteY3" fmla="*/ 1513131 h 4225005"/>
              <a:gd name="connsiteX4" fmla="*/ 6494329 w 6507116"/>
              <a:gd name="connsiteY4" fmla="*/ 1513791 h 4225005"/>
              <a:gd name="connsiteX5" fmla="*/ 6494363 w 6507116"/>
              <a:gd name="connsiteY5" fmla="*/ 1513821 h 4225005"/>
              <a:gd name="connsiteX6" fmla="*/ 6094408 w 6507116"/>
              <a:gd name="connsiteY6" fmla="*/ 4225005 h 4225005"/>
              <a:gd name="connsiteX7" fmla="*/ 0 w 6507116"/>
              <a:gd name="connsiteY7" fmla="*/ 4225005 h 4225005"/>
              <a:gd name="connsiteX8" fmla="*/ 0 w 6507116"/>
              <a:gd name="connsiteY8" fmla="*/ 757752 h 4225005"/>
              <a:gd name="connsiteX9" fmla="*/ 4650599 w 6507116"/>
              <a:gd name="connsiteY9" fmla="*/ 44113 h 4225005"/>
              <a:gd name="connsiteX10" fmla="*/ 4680229 w 6507116"/>
              <a:gd name="connsiteY10" fmla="*/ 36182 h 4225005"/>
              <a:gd name="connsiteX11" fmla="*/ 4959995 w 6507116"/>
              <a:gd name="connsiteY11" fmla="*/ 979 h 4225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07116" h="4225005">
                <a:moveTo>
                  <a:pt x="4959995" y="979"/>
                </a:moveTo>
                <a:cubicBezTo>
                  <a:pt x="5055713" y="-2383"/>
                  <a:pt x="5153530" y="2866"/>
                  <a:pt x="5252361" y="17445"/>
                </a:cubicBezTo>
                <a:cubicBezTo>
                  <a:pt x="5894763" y="112213"/>
                  <a:pt x="6382331" y="572048"/>
                  <a:pt x="6486453" y="1121666"/>
                </a:cubicBezTo>
                <a:cubicBezTo>
                  <a:pt x="6510480" y="1248501"/>
                  <a:pt x="6514087" y="1380118"/>
                  <a:pt x="6494466" y="1513131"/>
                </a:cubicBezTo>
                <a:lnTo>
                  <a:pt x="6494329" y="1513791"/>
                </a:lnTo>
                <a:lnTo>
                  <a:pt x="6494363" y="1513821"/>
                </a:lnTo>
                <a:lnTo>
                  <a:pt x="6094408" y="4225005"/>
                </a:lnTo>
                <a:lnTo>
                  <a:pt x="0" y="4225005"/>
                </a:lnTo>
                <a:lnTo>
                  <a:pt x="0" y="757752"/>
                </a:lnTo>
                <a:lnTo>
                  <a:pt x="4650599" y="44113"/>
                </a:lnTo>
                <a:lnTo>
                  <a:pt x="4680229" y="36182"/>
                </a:lnTo>
                <a:cubicBezTo>
                  <a:pt x="4770660" y="16316"/>
                  <a:pt x="4864278" y="4342"/>
                  <a:pt x="4959995" y="979"/>
                </a:cubicBezTo>
                <a:close/>
              </a:path>
            </a:pathLst>
          </a:custGeom>
          <a:solidFill>
            <a:schemeClr val="bg1">
              <a:lumMod val="85000"/>
            </a:schemeClr>
          </a:solidFill>
        </p:spPr>
        <p:txBody>
          <a:bodyPr wrap="square">
            <a:noAutofit/>
          </a:bodyPr>
          <a:lstStyle/>
          <a:p>
            <a:endParaRPr lang="en-CA"/>
          </a:p>
        </p:txBody>
      </p:sp>
    </p:spTree>
    <p:extLst>
      <p:ext uri="{BB962C8B-B14F-4D97-AF65-F5344CB8AC3E}">
        <p14:creationId xmlns:p14="http://schemas.microsoft.com/office/powerpoint/2010/main" val="182048367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8_Custom Layout">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9A600-311B-1639-FD80-C5C027A4A175}"/>
              </a:ext>
            </a:extLst>
          </p:cNvPr>
          <p:cNvSpPr>
            <a:spLocks noGrp="1"/>
          </p:cNvSpPr>
          <p:nvPr>
            <p:ph type="title"/>
          </p:nvPr>
        </p:nvSpPr>
        <p:spPr>
          <a:xfrm>
            <a:off x="5943600" y="301088"/>
            <a:ext cx="5802791" cy="1384837"/>
          </a:xfrm>
        </p:spPr>
        <p:txBody>
          <a:bodyPr/>
          <a:lstStyle>
            <a:lvl1pPr algn="r">
              <a:defRPr/>
            </a:lvl1pPr>
          </a:lstStyle>
          <a:p>
            <a:r>
              <a:rPr lang="en-US"/>
              <a:t>Click to edit Master title style</a:t>
            </a:r>
            <a:endParaRPr lang="en-CA"/>
          </a:p>
        </p:txBody>
      </p:sp>
      <p:sp>
        <p:nvSpPr>
          <p:cNvPr id="3" name="Freeform: Shape 2">
            <a:extLst>
              <a:ext uri="{FF2B5EF4-FFF2-40B4-BE49-F238E27FC236}">
                <a16:creationId xmlns:a16="http://schemas.microsoft.com/office/drawing/2014/main" id="{22381A98-BB37-017C-FFAC-15ECC8CDDB25}"/>
              </a:ext>
            </a:extLst>
          </p:cNvPr>
          <p:cNvSpPr/>
          <p:nvPr userDrawn="1"/>
        </p:nvSpPr>
        <p:spPr>
          <a:xfrm flipV="1">
            <a:off x="-3" y="1"/>
            <a:ext cx="6261608" cy="5649985"/>
          </a:xfrm>
          <a:custGeom>
            <a:avLst/>
            <a:gdLst>
              <a:gd name="connsiteX0" fmla="*/ 0 w 6261608"/>
              <a:gd name="connsiteY0" fmla="*/ 5649985 h 5649985"/>
              <a:gd name="connsiteX1" fmla="*/ 4960421 w 6261608"/>
              <a:gd name="connsiteY1" fmla="*/ 5649985 h 5649985"/>
              <a:gd name="connsiteX2" fmla="*/ 6164050 w 6261608"/>
              <a:gd name="connsiteY2" fmla="*/ 1741369 h 5649985"/>
              <a:gd name="connsiteX3" fmla="*/ 6174447 w 6261608"/>
              <a:gd name="connsiteY3" fmla="*/ 1717317 h 5649985"/>
              <a:gd name="connsiteX4" fmla="*/ 6261608 w 6261608"/>
              <a:gd name="connsiteY4" fmla="*/ 1236151 h 5649985"/>
              <a:gd name="connsiteX5" fmla="*/ 5152473 w 6261608"/>
              <a:gd name="connsiteY5" fmla="*/ 0 h 5649985"/>
              <a:gd name="connsiteX6" fmla="*/ 5151897 w 6261608"/>
              <a:gd name="connsiteY6" fmla="*/ 33 h 5649985"/>
              <a:gd name="connsiteX7" fmla="*/ 5151877 w 6261608"/>
              <a:gd name="connsiteY7" fmla="*/ 0 h 5649985"/>
              <a:gd name="connsiteX8" fmla="*/ 0 w 6261608"/>
              <a:gd name="connsiteY8" fmla="*/ 1 h 5649985"/>
              <a:gd name="connsiteX9" fmla="*/ 0 w 6261608"/>
              <a:gd name="connsiteY9" fmla="*/ 5649985 h 5649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261608" h="5649985">
                <a:moveTo>
                  <a:pt x="0" y="5649985"/>
                </a:moveTo>
                <a:lnTo>
                  <a:pt x="4960421" y="5649985"/>
                </a:lnTo>
                <a:lnTo>
                  <a:pt x="6164050" y="1741369"/>
                </a:lnTo>
                <a:lnTo>
                  <a:pt x="6174447" y="1717317"/>
                </a:lnTo>
                <a:cubicBezTo>
                  <a:pt x="6230572" y="1569426"/>
                  <a:pt x="6261608" y="1406828"/>
                  <a:pt x="6261608" y="1236151"/>
                </a:cubicBezTo>
                <a:cubicBezTo>
                  <a:pt x="6261608" y="553444"/>
                  <a:pt x="5765031" y="0"/>
                  <a:pt x="5152473" y="0"/>
                </a:cubicBezTo>
                <a:lnTo>
                  <a:pt x="5151897" y="33"/>
                </a:lnTo>
                <a:lnTo>
                  <a:pt x="5151877" y="0"/>
                </a:lnTo>
                <a:lnTo>
                  <a:pt x="0" y="1"/>
                </a:lnTo>
                <a:lnTo>
                  <a:pt x="0" y="5649985"/>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CA"/>
          </a:p>
        </p:txBody>
      </p:sp>
      <p:sp>
        <p:nvSpPr>
          <p:cNvPr id="4" name="Freeform: Shape 3">
            <a:extLst>
              <a:ext uri="{FF2B5EF4-FFF2-40B4-BE49-F238E27FC236}">
                <a16:creationId xmlns:a16="http://schemas.microsoft.com/office/drawing/2014/main" id="{7D741B3D-28D1-D0F9-320A-30E8C45ED147}"/>
              </a:ext>
            </a:extLst>
          </p:cNvPr>
          <p:cNvSpPr/>
          <p:nvPr userDrawn="1"/>
        </p:nvSpPr>
        <p:spPr>
          <a:xfrm rot="3043959" flipH="1">
            <a:off x="524980" y="4396223"/>
            <a:ext cx="4097470" cy="4348880"/>
          </a:xfrm>
          <a:custGeom>
            <a:avLst/>
            <a:gdLst>
              <a:gd name="connsiteX0" fmla="*/ 1317614 w 4097470"/>
              <a:gd name="connsiteY0" fmla="*/ 393359 h 4348880"/>
              <a:gd name="connsiteX1" fmla="*/ 45150 w 4097470"/>
              <a:gd name="connsiteY1" fmla="*/ 98339 h 4348880"/>
              <a:gd name="connsiteX2" fmla="*/ 0 w 4097470"/>
              <a:gd name="connsiteY2" fmla="*/ 122433 h 4348880"/>
              <a:gd name="connsiteX3" fmla="*/ 3455286 w 4097470"/>
              <a:gd name="connsiteY3" fmla="*/ 4348880 h 4348880"/>
              <a:gd name="connsiteX4" fmla="*/ 4097470 w 4097470"/>
              <a:gd name="connsiteY4" fmla="*/ 3823869 h 4348880"/>
              <a:gd name="connsiteX5" fmla="*/ 1317614 w 4097470"/>
              <a:gd name="connsiteY5" fmla="*/ 393359 h 4348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97470" h="4348880">
                <a:moveTo>
                  <a:pt x="1317614" y="393359"/>
                </a:moveTo>
                <a:cubicBezTo>
                  <a:pt x="998878" y="0"/>
                  <a:pt x="469305" y="-98340"/>
                  <a:pt x="45150" y="98339"/>
                </a:cubicBezTo>
                <a:lnTo>
                  <a:pt x="0" y="122433"/>
                </a:lnTo>
                <a:lnTo>
                  <a:pt x="3455286" y="4348880"/>
                </a:lnTo>
                <a:lnTo>
                  <a:pt x="4097470" y="3823869"/>
                </a:lnTo>
                <a:lnTo>
                  <a:pt x="1317614" y="393359"/>
                </a:lnTo>
                <a:close/>
              </a:path>
            </a:pathLst>
          </a:custGeom>
          <a:gradFill>
            <a:gsLst>
              <a:gs pos="6000">
                <a:srgbClr val="EA4335">
                  <a:alpha val="75000"/>
                </a:srgbClr>
              </a:gs>
              <a:gs pos="94000">
                <a:srgbClr val="F2CB0A">
                  <a:alpha val="50000"/>
                </a:srgbClr>
              </a:gs>
            </a:gsLst>
            <a:lin ang="16800000" scaled="0"/>
          </a:gradFill>
          <a:ln w="3604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                </a:t>
            </a:r>
            <a:endParaRPr kumimoji="0" lang="en-CA" sz="18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7" name="Picture Placeholder 6">
            <a:extLst>
              <a:ext uri="{FF2B5EF4-FFF2-40B4-BE49-F238E27FC236}">
                <a16:creationId xmlns:a16="http://schemas.microsoft.com/office/drawing/2014/main" id="{D0DFADDB-1B9C-3A0B-95F9-99DB2C51EE4D}"/>
              </a:ext>
            </a:extLst>
          </p:cNvPr>
          <p:cNvSpPr>
            <a:spLocks noGrp="1"/>
          </p:cNvSpPr>
          <p:nvPr>
            <p:ph type="pic" sz="quarter" idx="13"/>
          </p:nvPr>
        </p:nvSpPr>
        <p:spPr>
          <a:xfrm>
            <a:off x="5586682" y="1737311"/>
            <a:ext cx="6605319" cy="5120689"/>
          </a:xfrm>
          <a:custGeom>
            <a:avLst/>
            <a:gdLst>
              <a:gd name="connsiteX0" fmla="*/ 6605318 w 6605319"/>
              <a:gd name="connsiteY0" fmla="*/ 0 h 5120689"/>
              <a:gd name="connsiteX1" fmla="*/ 6605319 w 6605319"/>
              <a:gd name="connsiteY1" fmla="*/ 0 h 5120689"/>
              <a:gd name="connsiteX2" fmla="*/ 6605319 w 6605319"/>
              <a:gd name="connsiteY2" fmla="*/ 5120689 h 5120689"/>
              <a:gd name="connsiteX3" fmla="*/ 1177581 w 6605319"/>
              <a:gd name="connsiteY3" fmla="*/ 5120689 h 5120689"/>
              <a:gd name="connsiteX4" fmla="*/ 159995 w 6605319"/>
              <a:gd name="connsiteY4" fmla="*/ 2389720 h 5120689"/>
              <a:gd name="connsiteX5" fmla="*/ 142943 w 6605319"/>
              <a:gd name="connsiteY5" fmla="*/ 2357120 h 5120689"/>
              <a:gd name="connsiteX6" fmla="*/ 0 w 6605319"/>
              <a:gd name="connsiteY6" fmla="*/ 1704968 h 5120689"/>
              <a:gd name="connsiteX7" fmla="*/ 1818969 w 6605319"/>
              <a:gd name="connsiteY7" fmla="*/ 29534 h 5120689"/>
              <a:gd name="connsiteX8" fmla="*/ 1819912 w 6605319"/>
              <a:gd name="connsiteY8" fmla="*/ 29578 h 5120689"/>
              <a:gd name="connsiteX9" fmla="*/ 1819945 w 6605319"/>
              <a:gd name="connsiteY9" fmla="*/ 29534 h 5120689"/>
              <a:gd name="connsiteX10" fmla="*/ 6605318 w 6605319"/>
              <a:gd name="connsiteY10" fmla="*/ 35566 h 5120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05319" h="5120689">
                <a:moveTo>
                  <a:pt x="6605318" y="0"/>
                </a:moveTo>
                <a:lnTo>
                  <a:pt x="6605319" y="0"/>
                </a:lnTo>
                <a:lnTo>
                  <a:pt x="6605319" y="5120689"/>
                </a:lnTo>
                <a:lnTo>
                  <a:pt x="1177581" y="5120689"/>
                </a:lnTo>
                <a:lnTo>
                  <a:pt x="159995" y="2389720"/>
                </a:lnTo>
                <a:lnTo>
                  <a:pt x="142943" y="2357120"/>
                </a:lnTo>
                <a:cubicBezTo>
                  <a:pt x="50898" y="2156675"/>
                  <a:pt x="0" y="1936295"/>
                  <a:pt x="0" y="1704968"/>
                </a:cubicBezTo>
                <a:cubicBezTo>
                  <a:pt x="0" y="779652"/>
                  <a:pt x="814379" y="29534"/>
                  <a:pt x="1818969" y="29534"/>
                </a:cubicBezTo>
                <a:lnTo>
                  <a:pt x="1819912" y="29578"/>
                </a:lnTo>
                <a:cubicBezTo>
                  <a:pt x="1819923" y="29563"/>
                  <a:pt x="1819934" y="29549"/>
                  <a:pt x="1819945" y="29534"/>
                </a:cubicBezTo>
                <a:lnTo>
                  <a:pt x="6605318" y="35566"/>
                </a:lnTo>
                <a:close/>
              </a:path>
            </a:pathLst>
          </a:custGeom>
          <a:solidFill>
            <a:schemeClr val="bg1">
              <a:lumMod val="85000"/>
            </a:schemeClr>
          </a:solidFill>
        </p:spPr>
        <p:txBody>
          <a:bodyPr wrap="square">
            <a:noAutofit/>
          </a:bodyPr>
          <a:lstStyle/>
          <a:p>
            <a:endParaRPr lang="en-CA"/>
          </a:p>
        </p:txBody>
      </p:sp>
      <p:sp>
        <p:nvSpPr>
          <p:cNvPr id="8" name="Text Placeholder 19">
            <a:extLst>
              <a:ext uri="{FF2B5EF4-FFF2-40B4-BE49-F238E27FC236}">
                <a16:creationId xmlns:a16="http://schemas.microsoft.com/office/drawing/2014/main" id="{737D8E1A-C991-A58B-1EE8-A18529563735}"/>
              </a:ext>
            </a:extLst>
          </p:cNvPr>
          <p:cNvSpPr>
            <a:spLocks noGrp="1"/>
          </p:cNvSpPr>
          <p:nvPr>
            <p:ph type="body" sz="quarter" idx="11"/>
          </p:nvPr>
        </p:nvSpPr>
        <p:spPr>
          <a:xfrm>
            <a:off x="496914" y="562649"/>
            <a:ext cx="4375668" cy="46570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72243791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1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722FE-3B3F-E8D8-59AE-D0AE8370136F}"/>
              </a:ext>
            </a:extLst>
          </p:cNvPr>
          <p:cNvSpPr>
            <a:spLocks noGrp="1"/>
          </p:cNvSpPr>
          <p:nvPr>
            <p:ph type="title"/>
          </p:nvPr>
        </p:nvSpPr>
        <p:spPr>
          <a:xfrm>
            <a:off x="630264" y="5111213"/>
            <a:ext cx="5684811" cy="1422937"/>
          </a:xfrm>
        </p:spPr>
        <p:txBody>
          <a:bodyPr/>
          <a:lstStyle/>
          <a:p>
            <a:r>
              <a:rPr lang="en-US"/>
              <a:t>Click to edit Master title style</a:t>
            </a:r>
            <a:endParaRPr lang="en-CA"/>
          </a:p>
        </p:txBody>
      </p:sp>
      <p:sp>
        <p:nvSpPr>
          <p:cNvPr id="3" name="Freeform: Shape 2">
            <a:extLst>
              <a:ext uri="{FF2B5EF4-FFF2-40B4-BE49-F238E27FC236}">
                <a16:creationId xmlns:a16="http://schemas.microsoft.com/office/drawing/2014/main" id="{5DB95D74-9D6A-B6CB-F39C-E531F33B0672}"/>
              </a:ext>
            </a:extLst>
          </p:cNvPr>
          <p:cNvSpPr/>
          <p:nvPr userDrawn="1"/>
        </p:nvSpPr>
        <p:spPr>
          <a:xfrm>
            <a:off x="6945229" y="1596509"/>
            <a:ext cx="5246768" cy="5261491"/>
          </a:xfrm>
          <a:custGeom>
            <a:avLst/>
            <a:gdLst>
              <a:gd name="connsiteX0" fmla="*/ 1204699 w 5246768"/>
              <a:gd name="connsiteY0" fmla="*/ 416 h 5261491"/>
              <a:gd name="connsiteX1" fmla="*/ 1542317 w 5246768"/>
              <a:gd name="connsiteY1" fmla="*/ 47459 h 5261491"/>
              <a:gd name="connsiteX2" fmla="*/ 1542867 w 5246768"/>
              <a:gd name="connsiteY2" fmla="*/ 47667 h 5261491"/>
              <a:gd name="connsiteX3" fmla="*/ 1542897 w 5246768"/>
              <a:gd name="connsiteY3" fmla="*/ 47643 h 5261491"/>
              <a:gd name="connsiteX4" fmla="*/ 5246768 w 5246768"/>
              <a:gd name="connsiteY4" fmla="*/ 1215246 h 5261491"/>
              <a:gd name="connsiteX5" fmla="*/ 5246768 w 5246768"/>
              <a:gd name="connsiteY5" fmla="*/ 5261491 h 5261491"/>
              <a:gd name="connsiteX6" fmla="*/ 0 w 5246768"/>
              <a:gd name="connsiteY6" fmla="*/ 5261491 h 5261491"/>
              <a:gd name="connsiteX7" fmla="*/ 25480 w 5246768"/>
              <a:gd name="connsiteY7" fmla="*/ 1430118 h 5261491"/>
              <a:gd name="connsiteX8" fmla="*/ 22745 w 5246768"/>
              <a:gd name="connsiteY8" fmla="*/ 1403553 h 5261491"/>
              <a:gd name="connsiteX9" fmla="*/ 85460 w 5246768"/>
              <a:gd name="connsiteY9" fmla="*/ 909150 h 5261491"/>
              <a:gd name="connsiteX10" fmla="*/ 1204699 w 5246768"/>
              <a:gd name="connsiteY10" fmla="*/ 416 h 5261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6768" h="5261491">
                <a:moveTo>
                  <a:pt x="1204699" y="416"/>
                </a:moveTo>
                <a:cubicBezTo>
                  <a:pt x="1317040" y="-2764"/>
                  <a:pt x="1430678" y="12267"/>
                  <a:pt x="1542317" y="47459"/>
                </a:cubicBezTo>
                <a:lnTo>
                  <a:pt x="1542867" y="47667"/>
                </a:lnTo>
                <a:lnTo>
                  <a:pt x="1542897" y="47643"/>
                </a:lnTo>
                <a:lnTo>
                  <a:pt x="5246768" y="1215246"/>
                </a:lnTo>
                <a:lnTo>
                  <a:pt x="5246768" y="5261491"/>
                </a:lnTo>
                <a:lnTo>
                  <a:pt x="0" y="5261491"/>
                </a:lnTo>
                <a:lnTo>
                  <a:pt x="25480" y="1430118"/>
                </a:lnTo>
                <a:lnTo>
                  <a:pt x="22745" y="1403553"/>
                </a:lnTo>
                <a:cubicBezTo>
                  <a:pt x="13506" y="1242605"/>
                  <a:pt x="33162" y="1075049"/>
                  <a:pt x="85460" y="909150"/>
                </a:cubicBezTo>
                <a:cubicBezTo>
                  <a:pt x="255427" y="369979"/>
                  <a:pt x="717887" y="14202"/>
                  <a:pt x="1204699" y="416"/>
                </a:cubicBez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CA"/>
          </a:p>
        </p:txBody>
      </p:sp>
      <p:sp>
        <p:nvSpPr>
          <p:cNvPr id="4" name="Freeform: Shape 3">
            <a:extLst>
              <a:ext uri="{FF2B5EF4-FFF2-40B4-BE49-F238E27FC236}">
                <a16:creationId xmlns:a16="http://schemas.microsoft.com/office/drawing/2014/main" id="{EF7EF585-F6D3-7F9A-C4DA-2DD81361897A}"/>
              </a:ext>
            </a:extLst>
          </p:cNvPr>
          <p:cNvSpPr/>
          <p:nvPr userDrawn="1"/>
        </p:nvSpPr>
        <p:spPr>
          <a:xfrm rot="14850548" flipH="1">
            <a:off x="9302063" y="-529353"/>
            <a:ext cx="3180288" cy="3233980"/>
          </a:xfrm>
          <a:custGeom>
            <a:avLst/>
            <a:gdLst>
              <a:gd name="connsiteX0" fmla="*/ 0 w 3180288"/>
              <a:gd name="connsiteY0" fmla="*/ 619541 h 3233980"/>
              <a:gd name="connsiteX1" fmla="*/ 1082448 w 3180288"/>
              <a:gd name="connsiteY1" fmla="*/ 3233980 h 3233980"/>
              <a:gd name="connsiteX2" fmla="*/ 3180288 w 3180288"/>
              <a:gd name="connsiteY2" fmla="*/ 2365418 h 3233980"/>
              <a:gd name="connsiteX3" fmla="*/ 1503294 w 3180288"/>
              <a:gd name="connsiteY3" fmla="*/ 295905 h 3233980"/>
              <a:gd name="connsiteX4" fmla="*/ 262253 w 3180288"/>
              <a:gd name="connsiteY4" fmla="*/ 295905 h 3233980"/>
              <a:gd name="connsiteX5" fmla="*/ 0 w 3180288"/>
              <a:gd name="connsiteY5" fmla="*/ 619541 h 3233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80288" h="3233980">
                <a:moveTo>
                  <a:pt x="0" y="619541"/>
                </a:moveTo>
                <a:lnTo>
                  <a:pt x="1082448" y="3233980"/>
                </a:lnTo>
                <a:lnTo>
                  <a:pt x="3180288" y="2365418"/>
                </a:lnTo>
                <a:lnTo>
                  <a:pt x="1503294" y="295905"/>
                </a:lnTo>
                <a:cubicBezTo>
                  <a:pt x="1183601" y="-98636"/>
                  <a:pt x="581947" y="-98635"/>
                  <a:pt x="262253" y="295905"/>
                </a:cubicBezTo>
                <a:lnTo>
                  <a:pt x="0" y="619541"/>
                </a:lnTo>
                <a:close/>
              </a:path>
            </a:pathLst>
          </a:custGeom>
          <a:gradFill>
            <a:gsLst>
              <a:gs pos="6000">
                <a:srgbClr val="EA4335">
                  <a:alpha val="75000"/>
                </a:srgbClr>
              </a:gs>
              <a:gs pos="94000">
                <a:srgbClr val="F2CB0A">
                  <a:alpha val="50000"/>
                </a:srgbClr>
              </a:gs>
            </a:gsLst>
            <a:lin ang="16800000" scaled="0"/>
          </a:gradFill>
          <a:ln w="36040" cap="flat">
            <a:noFill/>
            <a:prstDash val="solid"/>
            <a:miter/>
          </a:ln>
        </p:spPr>
        <p:txBody>
          <a:bodyPr wrap="square" rtlCol="0" anchor="ctr">
            <a:noAutofit/>
          </a:bodyPr>
          <a:lstStyle/>
          <a:p>
            <a:endParaRPr lang="en-CA"/>
          </a:p>
        </p:txBody>
      </p:sp>
      <p:sp>
        <p:nvSpPr>
          <p:cNvPr id="5" name="Text Placeholder 19">
            <a:extLst>
              <a:ext uri="{FF2B5EF4-FFF2-40B4-BE49-F238E27FC236}">
                <a16:creationId xmlns:a16="http://schemas.microsoft.com/office/drawing/2014/main" id="{72994487-44D7-16C0-A869-A8C7CCB9751C}"/>
              </a:ext>
            </a:extLst>
          </p:cNvPr>
          <p:cNvSpPr>
            <a:spLocks noGrp="1"/>
          </p:cNvSpPr>
          <p:nvPr>
            <p:ph type="body" sz="quarter" idx="11"/>
          </p:nvPr>
        </p:nvSpPr>
        <p:spPr>
          <a:xfrm>
            <a:off x="7380779" y="2932965"/>
            <a:ext cx="4375668" cy="3601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8" name="Picture Placeholder 7">
            <a:extLst>
              <a:ext uri="{FF2B5EF4-FFF2-40B4-BE49-F238E27FC236}">
                <a16:creationId xmlns:a16="http://schemas.microsoft.com/office/drawing/2014/main" id="{A1D5479A-8EB9-DB93-D86C-79D247865004}"/>
              </a:ext>
            </a:extLst>
          </p:cNvPr>
          <p:cNvSpPr>
            <a:spLocks noGrp="1"/>
          </p:cNvSpPr>
          <p:nvPr>
            <p:ph type="pic" sz="quarter" idx="13"/>
          </p:nvPr>
        </p:nvSpPr>
        <p:spPr>
          <a:xfrm>
            <a:off x="-1" y="0"/>
            <a:ext cx="7135003" cy="5100012"/>
          </a:xfrm>
          <a:custGeom>
            <a:avLst/>
            <a:gdLst>
              <a:gd name="connsiteX0" fmla="*/ 0 w 7135003"/>
              <a:gd name="connsiteY0" fmla="*/ 0 h 5100012"/>
              <a:gd name="connsiteX1" fmla="*/ 7135003 w 7135003"/>
              <a:gd name="connsiteY1" fmla="*/ 0 h 5100012"/>
              <a:gd name="connsiteX2" fmla="*/ 7135003 w 7135003"/>
              <a:gd name="connsiteY2" fmla="*/ 1 h 5100012"/>
              <a:gd name="connsiteX3" fmla="*/ 6537912 w 7135003"/>
              <a:gd name="connsiteY3" fmla="*/ 1 h 5100012"/>
              <a:gd name="connsiteX4" fmla="*/ 6513433 w 7135003"/>
              <a:gd name="connsiteY4" fmla="*/ 3680530 h 5100012"/>
              <a:gd name="connsiteX5" fmla="*/ 6516149 w 7135003"/>
              <a:gd name="connsiteY5" fmla="*/ 3706898 h 5100012"/>
              <a:gd name="connsiteX6" fmla="*/ 6453900 w 7135003"/>
              <a:gd name="connsiteY6" fmla="*/ 4197624 h 5100012"/>
              <a:gd name="connsiteX7" fmla="*/ 5342983 w 7135003"/>
              <a:gd name="connsiteY7" fmla="*/ 5099600 h 5100012"/>
              <a:gd name="connsiteX8" fmla="*/ 5007875 w 7135003"/>
              <a:gd name="connsiteY8" fmla="*/ 5052907 h 5100012"/>
              <a:gd name="connsiteX9" fmla="*/ 5007330 w 7135003"/>
              <a:gd name="connsiteY9" fmla="*/ 5052700 h 5100012"/>
              <a:gd name="connsiteX10" fmla="*/ 5007301 w 7135003"/>
              <a:gd name="connsiteY10" fmla="*/ 5052725 h 5100012"/>
              <a:gd name="connsiteX11" fmla="*/ 0 w 7135003"/>
              <a:gd name="connsiteY11" fmla="*/ 3489470 h 5100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135003" h="5100012">
                <a:moveTo>
                  <a:pt x="0" y="0"/>
                </a:moveTo>
                <a:lnTo>
                  <a:pt x="7135003" y="0"/>
                </a:lnTo>
                <a:lnTo>
                  <a:pt x="7135003" y="1"/>
                </a:lnTo>
                <a:lnTo>
                  <a:pt x="6537912" y="1"/>
                </a:lnTo>
                <a:lnTo>
                  <a:pt x="6513433" y="3680530"/>
                </a:lnTo>
                <a:lnTo>
                  <a:pt x="6516149" y="3706898"/>
                </a:lnTo>
                <a:cubicBezTo>
                  <a:pt x="6525319" y="3866648"/>
                  <a:pt x="6505809" y="4032959"/>
                  <a:pt x="6453900" y="4197624"/>
                </a:cubicBezTo>
                <a:cubicBezTo>
                  <a:pt x="6285197" y="4732785"/>
                  <a:pt x="5826176" y="5085917"/>
                  <a:pt x="5342983" y="5099600"/>
                </a:cubicBezTo>
                <a:cubicBezTo>
                  <a:pt x="5231477" y="5102757"/>
                  <a:pt x="5118685" y="5087838"/>
                  <a:pt x="5007875" y="5052907"/>
                </a:cubicBezTo>
                <a:lnTo>
                  <a:pt x="5007330" y="5052700"/>
                </a:lnTo>
                <a:cubicBezTo>
                  <a:pt x="5007320" y="5052708"/>
                  <a:pt x="5007311" y="5052717"/>
                  <a:pt x="5007301" y="5052725"/>
                </a:cubicBezTo>
                <a:lnTo>
                  <a:pt x="0" y="3489470"/>
                </a:lnTo>
                <a:close/>
              </a:path>
            </a:pathLst>
          </a:custGeom>
          <a:solidFill>
            <a:schemeClr val="bg1">
              <a:lumMod val="85000"/>
            </a:schemeClr>
          </a:solidFill>
        </p:spPr>
        <p:txBody>
          <a:bodyPr wrap="square">
            <a:noAutofit/>
          </a:bodyPr>
          <a:lstStyle/>
          <a:p>
            <a:endParaRPr lang="en-CA"/>
          </a:p>
        </p:txBody>
      </p:sp>
    </p:spTree>
    <p:extLst>
      <p:ext uri="{BB962C8B-B14F-4D97-AF65-F5344CB8AC3E}">
        <p14:creationId xmlns:p14="http://schemas.microsoft.com/office/powerpoint/2010/main" val="373371495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BA4024DD-3431-4338-EC47-8D524131D1E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a:fillRect/>
          </a:stretch>
        </p:blipFill>
        <p:spPr>
          <a:xfrm>
            <a:off x="0" y="0"/>
            <a:ext cx="12192000" cy="6858000"/>
          </a:xfrm>
          <a:prstGeom prst="rect">
            <a:avLst/>
          </a:prstGeom>
        </p:spPr>
      </p:pic>
      <p:sp>
        <p:nvSpPr>
          <p:cNvPr id="20" name="Freeform: Shape 19">
            <a:extLst>
              <a:ext uri="{FF2B5EF4-FFF2-40B4-BE49-F238E27FC236}">
                <a16:creationId xmlns:a16="http://schemas.microsoft.com/office/drawing/2014/main" id="{4CF8C993-46F6-9C0D-CB9B-ED5787A9ECF5}"/>
              </a:ext>
            </a:extLst>
          </p:cNvPr>
          <p:cNvSpPr/>
          <p:nvPr userDrawn="1"/>
        </p:nvSpPr>
        <p:spPr>
          <a:xfrm flipV="1">
            <a:off x="-1" y="0"/>
            <a:ext cx="7021286" cy="6059949"/>
          </a:xfrm>
          <a:custGeom>
            <a:avLst/>
            <a:gdLst>
              <a:gd name="connsiteX0" fmla="*/ 0 w 7021286"/>
              <a:gd name="connsiteY0" fmla="*/ 6059949 h 6059949"/>
              <a:gd name="connsiteX1" fmla="*/ 7021286 w 7021286"/>
              <a:gd name="connsiteY1" fmla="*/ 6059949 h 6059949"/>
              <a:gd name="connsiteX2" fmla="*/ 7021286 w 7021286"/>
              <a:gd name="connsiteY2" fmla="*/ 1340367 h 6059949"/>
              <a:gd name="connsiteX3" fmla="*/ 7021248 w 7021286"/>
              <a:gd name="connsiteY3" fmla="*/ 1340344 h 6059949"/>
              <a:gd name="connsiteX4" fmla="*/ 7021286 w 7021286"/>
              <a:gd name="connsiteY4" fmla="*/ 1339648 h 6059949"/>
              <a:gd name="connsiteX5" fmla="*/ 5528225 w 7021286"/>
              <a:gd name="connsiteY5" fmla="*/ 0 h 6059949"/>
              <a:gd name="connsiteX6" fmla="*/ 4947059 w 7021286"/>
              <a:gd name="connsiteY6" fmla="*/ 105276 h 6059949"/>
              <a:gd name="connsiteX7" fmla="*/ 4918008 w 7021286"/>
              <a:gd name="connsiteY7" fmla="*/ 117834 h 6059949"/>
              <a:gd name="connsiteX8" fmla="*/ 0 w 7021286"/>
              <a:gd name="connsiteY8" fmla="*/ 1632297 h 6059949"/>
              <a:gd name="connsiteX9" fmla="*/ 0 w 7021286"/>
              <a:gd name="connsiteY9" fmla="*/ 6059949 h 6059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021286" h="6059949">
                <a:moveTo>
                  <a:pt x="0" y="6059949"/>
                </a:moveTo>
                <a:lnTo>
                  <a:pt x="7021286" y="6059949"/>
                </a:lnTo>
                <a:lnTo>
                  <a:pt x="7021286" y="1340367"/>
                </a:lnTo>
                <a:lnTo>
                  <a:pt x="7021248" y="1340344"/>
                </a:lnTo>
                <a:lnTo>
                  <a:pt x="7021286" y="1339648"/>
                </a:lnTo>
                <a:cubicBezTo>
                  <a:pt x="7021286" y="599781"/>
                  <a:pt x="6352820" y="0"/>
                  <a:pt x="5528225" y="0"/>
                </a:cubicBezTo>
                <a:cubicBezTo>
                  <a:pt x="5322078" y="0"/>
                  <a:pt x="5125686" y="37486"/>
                  <a:pt x="4947059" y="105276"/>
                </a:cubicBezTo>
                <a:lnTo>
                  <a:pt x="4918008" y="117834"/>
                </a:lnTo>
                <a:lnTo>
                  <a:pt x="0" y="1632297"/>
                </a:lnTo>
                <a:lnTo>
                  <a:pt x="0" y="6059949"/>
                </a:lnTo>
                <a:close/>
              </a:path>
            </a:pathLst>
          </a:custGeom>
          <a:solidFill>
            <a:srgbClr val="50152C">
              <a:alpha val="92000"/>
            </a:srgbClr>
          </a:solidFill>
          <a:ln>
            <a:noFill/>
          </a:ln>
        </p:spPr>
        <p:txBody>
          <a:bodyPr spcFirstLastPara="1" wrap="square" lIns="60950" tIns="30467" rIns="60950" bIns="30467" anchor="t" anchorCtr="0">
            <a:noAutofit/>
          </a:bodyPr>
          <a:lstStyle/>
          <a:p>
            <a:pPr defTabSz="609630">
              <a:buClr>
                <a:srgbClr val="000000"/>
              </a:buClr>
              <a:buSzPts val="1800"/>
            </a:pPr>
            <a:endParaRPr sz="1200" kern="0">
              <a:solidFill>
                <a:srgbClr val="000000"/>
              </a:solidFill>
              <a:latin typeface="Calibri"/>
              <a:ea typeface="Calibri"/>
              <a:cs typeface="Calibri"/>
              <a:sym typeface="Calibri"/>
            </a:endParaRPr>
          </a:p>
        </p:txBody>
      </p:sp>
      <p:sp>
        <p:nvSpPr>
          <p:cNvPr id="21" name="Freeform: Shape 20">
            <a:extLst>
              <a:ext uri="{FF2B5EF4-FFF2-40B4-BE49-F238E27FC236}">
                <a16:creationId xmlns:a16="http://schemas.microsoft.com/office/drawing/2014/main" id="{1CB4DA8E-2A3A-A2E1-DC09-2E051E604D03}"/>
              </a:ext>
            </a:extLst>
          </p:cNvPr>
          <p:cNvSpPr/>
          <p:nvPr userDrawn="1"/>
        </p:nvSpPr>
        <p:spPr>
          <a:xfrm rot="3973945">
            <a:off x="-91213" y="4526979"/>
            <a:ext cx="2873340" cy="3094469"/>
          </a:xfrm>
          <a:custGeom>
            <a:avLst/>
            <a:gdLst>
              <a:gd name="connsiteX0" fmla="*/ 0 w 2873340"/>
              <a:gd name="connsiteY0" fmla="*/ 2384702 h 3094469"/>
              <a:gd name="connsiteX1" fmla="*/ 1692622 w 2873340"/>
              <a:gd name="connsiteY1" fmla="*/ 295905 h 3094469"/>
              <a:gd name="connsiteX2" fmla="*/ 2870552 w 2873340"/>
              <a:gd name="connsiteY2" fmla="*/ 226553 h 3094469"/>
              <a:gd name="connsiteX3" fmla="*/ 2873340 w 2873340"/>
              <a:gd name="connsiteY3" fmla="*/ 229616 h 3094469"/>
              <a:gd name="connsiteX4" fmla="*/ 1611725 w 2873340"/>
              <a:gd name="connsiteY4" fmla="*/ 3094469 h 3094469"/>
              <a:gd name="connsiteX5" fmla="*/ 0 w 2873340"/>
              <a:gd name="connsiteY5" fmla="*/ 2384702 h 3094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73340" h="3094469">
                <a:moveTo>
                  <a:pt x="0" y="2384702"/>
                </a:moveTo>
                <a:lnTo>
                  <a:pt x="1692622" y="295905"/>
                </a:lnTo>
                <a:cubicBezTo>
                  <a:pt x="1992334" y="-73977"/>
                  <a:pt x="2539864" y="-97094"/>
                  <a:pt x="2870552" y="226553"/>
                </a:cubicBezTo>
                <a:lnTo>
                  <a:pt x="2873340" y="229616"/>
                </a:lnTo>
                <a:lnTo>
                  <a:pt x="1611725" y="3094469"/>
                </a:lnTo>
                <a:lnTo>
                  <a:pt x="0" y="2384702"/>
                </a:lnTo>
                <a:close/>
              </a:path>
            </a:pathLst>
          </a:custGeom>
          <a:gradFill>
            <a:gsLst>
              <a:gs pos="6000">
                <a:srgbClr val="EA4335">
                  <a:alpha val="75000"/>
                </a:srgbClr>
              </a:gs>
              <a:gs pos="94000">
                <a:srgbClr val="F2CB0A">
                  <a:alpha val="50000"/>
                </a:srgbClr>
              </a:gs>
            </a:gsLst>
            <a:lin ang="16800000" scaled="0"/>
          </a:gradFill>
          <a:ln w="36040" cap="flat">
            <a:noFill/>
            <a:prstDash val="solid"/>
            <a:miter/>
          </a:ln>
        </p:spPr>
        <p:txBody>
          <a:bodyPr wrap="square" rtlCol="0" anchor="ctr">
            <a:noAutofit/>
          </a:bodyPr>
          <a:lstStyle/>
          <a:p>
            <a:endParaRPr lang="en-CA"/>
          </a:p>
        </p:txBody>
      </p:sp>
      <p:sp>
        <p:nvSpPr>
          <p:cNvPr id="2" name="Title 1">
            <a:extLst>
              <a:ext uri="{FF2B5EF4-FFF2-40B4-BE49-F238E27FC236}">
                <a16:creationId xmlns:a16="http://schemas.microsoft.com/office/drawing/2014/main" id="{D2912A5D-8A9B-C0E9-A1E2-54A2666C4256}"/>
              </a:ext>
            </a:extLst>
          </p:cNvPr>
          <p:cNvSpPr>
            <a:spLocks noGrp="1"/>
          </p:cNvSpPr>
          <p:nvPr>
            <p:ph type="title"/>
          </p:nvPr>
        </p:nvSpPr>
        <p:spPr>
          <a:xfrm>
            <a:off x="1333409" y="798051"/>
            <a:ext cx="4976949" cy="2314569"/>
          </a:xfrm>
          <a:prstGeom prst="rect">
            <a:avLst/>
          </a:prstGeom>
          <a:noFill/>
          <a:ln w="34925">
            <a:noFill/>
          </a:ln>
        </p:spPr>
        <p:txBody>
          <a:bodyPr lIns="0" tIns="0" rIns="0" bIns="0" anchor="b">
            <a:normAutofit/>
          </a:bodyPr>
          <a:lstStyle>
            <a:lvl1pPr algn="r">
              <a:defRPr sz="3600" b="0">
                <a:solidFill>
                  <a:schemeClr val="bg1"/>
                </a:solidFill>
              </a:defRPr>
            </a:lvl1pPr>
          </a:lstStyle>
          <a:p>
            <a:r>
              <a:rPr lang="en-US"/>
              <a:t>Click to edit Master title style</a:t>
            </a:r>
            <a:endParaRPr lang="fr-CA"/>
          </a:p>
        </p:txBody>
      </p:sp>
      <p:sp>
        <p:nvSpPr>
          <p:cNvPr id="3" name="Text Placeholder 2">
            <a:extLst>
              <a:ext uri="{FF2B5EF4-FFF2-40B4-BE49-F238E27FC236}">
                <a16:creationId xmlns:a16="http://schemas.microsoft.com/office/drawing/2014/main" id="{39A4E616-1943-F18E-7B1E-0FE80AE1AB31}"/>
              </a:ext>
            </a:extLst>
          </p:cNvPr>
          <p:cNvSpPr>
            <a:spLocks noGrp="1"/>
          </p:cNvSpPr>
          <p:nvPr>
            <p:ph type="body" idx="1"/>
          </p:nvPr>
        </p:nvSpPr>
        <p:spPr>
          <a:xfrm>
            <a:off x="1333409" y="3303419"/>
            <a:ext cx="4976949" cy="856907"/>
          </a:xfrm>
        </p:spPr>
        <p:txBody>
          <a:bodyPr lIns="0" tIns="0" rIns="0" bIns="0">
            <a:normAutofit/>
          </a:bodyPr>
          <a:lstStyle>
            <a:lvl1pPr marL="0" indent="0" algn="r">
              <a:buNone/>
              <a:defRPr sz="1800">
                <a:solidFill>
                  <a:schemeClr val="bg1"/>
                </a:solidFill>
                <a:latin typeface="Arial" panose="020B0604020202020204" pitchFamily="34" charset="0"/>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4" name="Graphic 3">
            <a:extLst>
              <a:ext uri="{FF2B5EF4-FFF2-40B4-BE49-F238E27FC236}">
                <a16:creationId xmlns:a16="http://schemas.microsoft.com/office/drawing/2014/main" id="{127CECA7-4631-72AB-E63D-1B7CD7FB791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354626" y="4446015"/>
            <a:ext cx="2054801" cy="849825"/>
          </a:xfrm>
          <a:prstGeom prst="rect">
            <a:avLst/>
          </a:prstGeom>
        </p:spPr>
      </p:pic>
    </p:spTree>
    <p:extLst>
      <p:ext uri="{BB962C8B-B14F-4D97-AF65-F5344CB8AC3E}">
        <p14:creationId xmlns:p14="http://schemas.microsoft.com/office/powerpoint/2010/main" val="39851966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1_Section Header">
    <p:spTree>
      <p:nvGrpSpPr>
        <p:cNvPr id="1" name=""/>
        <p:cNvGrpSpPr/>
        <p:nvPr/>
      </p:nvGrpSpPr>
      <p:grpSpPr>
        <a:xfrm>
          <a:off x="0" y="0"/>
          <a:ext cx="0" cy="0"/>
          <a:chOff x="0" y="0"/>
          <a:chExt cx="0" cy="0"/>
        </a:xfrm>
      </p:grpSpPr>
      <p:pic>
        <p:nvPicPr>
          <p:cNvPr id="35" name="Picture 34">
            <a:extLst>
              <a:ext uri="{FF2B5EF4-FFF2-40B4-BE49-F238E27FC236}">
                <a16:creationId xmlns:a16="http://schemas.microsoft.com/office/drawing/2014/main" id="{A0E85A92-5BF6-D213-0A9F-0C7162B7C49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a:fillRect/>
          </a:stretch>
        </p:blipFill>
        <p:spPr>
          <a:xfrm flipH="1">
            <a:off x="-3" y="0"/>
            <a:ext cx="12191999" cy="6857998"/>
          </a:xfrm>
          <a:prstGeom prst="rect">
            <a:avLst/>
          </a:prstGeom>
        </p:spPr>
      </p:pic>
      <p:grpSp>
        <p:nvGrpSpPr>
          <p:cNvPr id="34" name="Group 33">
            <a:extLst>
              <a:ext uri="{FF2B5EF4-FFF2-40B4-BE49-F238E27FC236}">
                <a16:creationId xmlns:a16="http://schemas.microsoft.com/office/drawing/2014/main" id="{9C4D3F6A-F19D-E87C-0F71-28AEA5FCE43D}"/>
              </a:ext>
            </a:extLst>
          </p:cNvPr>
          <p:cNvGrpSpPr/>
          <p:nvPr userDrawn="1"/>
        </p:nvGrpSpPr>
        <p:grpSpPr>
          <a:xfrm flipH="1">
            <a:off x="5173342" y="0"/>
            <a:ext cx="7223063" cy="7510884"/>
            <a:chOff x="-201778" y="0"/>
            <a:chExt cx="7223063" cy="7510884"/>
          </a:xfrm>
        </p:grpSpPr>
        <p:sp>
          <p:nvSpPr>
            <p:cNvPr id="3" name="Freeform: Shape 2">
              <a:extLst>
                <a:ext uri="{FF2B5EF4-FFF2-40B4-BE49-F238E27FC236}">
                  <a16:creationId xmlns:a16="http://schemas.microsoft.com/office/drawing/2014/main" id="{DC062E26-C6DF-531B-1266-809D8DAF3E35}"/>
                </a:ext>
              </a:extLst>
            </p:cNvPr>
            <p:cNvSpPr/>
            <p:nvPr userDrawn="1"/>
          </p:nvSpPr>
          <p:spPr>
            <a:xfrm flipV="1">
              <a:off x="-1" y="0"/>
              <a:ext cx="7021286" cy="6059949"/>
            </a:xfrm>
            <a:custGeom>
              <a:avLst/>
              <a:gdLst>
                <a:gd name="connsiteX0" fmla="*/ 0 w 7021286"/>
                <a:gd name="connsiteY0" fmla="*/ 6059949 h 6059949"/>
                <a:gd name="connsiteX1" fmla="*/ 7021286 w 7021286"/>
                <a:gd name="connsiteY1" fmla="*/ 6059949 h 6059949"/>
                <a:gd name="connsiteX2" fmla="*/ 7021286 w 7021286"/>
                <a:gd name="connsiteY2" fmla="*/ 1340367 h 6059949"/>
                <a:gd name="connsiteX3" fmla="*/ 7021248 w 7021286"/>
                <a:gd name="connsiteY3" fmla="*/ 1340344 h 6059949"/>
                <a:gd name="connsiteX4" fmla="*/ 7021286 w 7021286"/>
                <a:gd name="connsiteY4" fmla="*/ 1339648 h 6059949"/>
                <a:gd name="connsiteX5" fmla="*/ 5528225 w 7021286"/>
                <a:gd name="connsiteY5" fmla="*/ 0 h 6059949"/>
                <a:gd name="connsiteX6" fmla="*/ 4947059 w 7021286"/>
                <a:gd name="connsiteY6" fmla="*/ 105276 h 6059949"/>
                <a:gd name="connsiteX7" fmla="*/ 4918008 w 7021286"/>
                <a:gd name="connsiteY7" fmla="*/ 117834 h 6059949"/>
                <a:gd name="connsiteX8" fmla="*/ 0 w 7021286"/>
                <a:gd name="connsiteY8" fmla="*/ 1632297 h 6059949"/>
                <a:gd name="connsiteX9" fmla="*/ 0 w 7021286"/>
                <a:gd name="connsiteY9" fmla="*/ 6059949 h 6059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021286" h="6059949">
                  <a:moveTo>
                    <a:pt x="0" y="6059949"/>
                  </a:moveTo>
                  <a:lnTo>
                    <a:pt x="7021286" y="6059949"/>
                  </a:lnTo>
                  <a:lnTo>
                    <a:pt x="7021286" y="1340367"/>
                  </a:lnTo>
                  <a:lnTo>
                    <a:pt x="7021248" y="1340344"/>
                  </a:lnTo>
                  <a:lnTo>
                    <a:pt x="7021286" y="1339648"/>
                  </a:lnTo>
                  <a:cubicBezTo>
                    <a:pt x="7021286" y="599781"/>
                    <a:pt x="6352820" y="0"/>
                    <a:pt x="5528225" y="0"/>
                  </a:cubicBezTo>
                  <a:cubicBezTo>
                    <a:pt x="5322078" y="0"/>
                    <a:pt x="5125686" y="37486"/>
                    <a:pt x="4947059" y="105276"/>
                  </a:cubicBezTo>
                  <a:lnTo>
                    <a:pt x="4918008" y="117834"/>
                  </a:lnTo>
                  <a:lnTo>
                    <a:pt x="0" y="1632297"/>
                  </a:lnTo>
                  <a:lnTo>
                    <a:pt x="0" y="6059949"/>
                  </a:lnTo>
                  <a:close/>
                </a:path>
              </a:pathLst>
            </a:custGeom>
            <a:solidFill>
              <a:srgbClr val="50152C">
                <a:alpha val="92000"/>
              </a:srgbClr>
            </a:solidFill>
            <a:ln>
              <a:noFill/>
            </a:ln>
          </p:spPr>
          <p:txBody>
            <a:bodyPr spcFirstLastPara="1" wrap="square" lIns="60950" tIns="30467" rIns="60950" bIns="30467" anchor="t" anchorCtr="0">
              <a:noAutofit/>
            </a:bodyPr>
            <a:lstStyle/>
            <a:p>
              <a:pPr defTabSz="609630">
                <a:buClr>
                  <a:srgbClr val="000000"/>
                </a:buClr>
                <a:buSzPts val="1800"/>
              </a:pPr>
              <a:endParaRPr sz="1200" kern="0">
                <a:solidFill>
                  <a:srgbClr val="000000"/>
                </a:solidFill>
                <a:latin typeface="Calibri"/>
                <a:ea typeface="Calibri"/>
                <a:cs typeface="Calibri"/>
                <a:sym typeface="Calibri"/>
              </a:endParaRPr>
            </a:p>
          </p:txBody>
        </p:sp>
        <p:sp>
          <p:nvSpPr>
            <p:cNvPr id="6" name="Freeform: Shape 5">
              <a:extLst>
                <a:ext uri="{FF2B5EF4-FFF2-40B4-BE49-F238E27FC236}">
                  <a16:creationId xmlns:a16="http://schemas.microsoft.com/office/drawing/2014/main" id="{10F9BAE7-3493-A11B-5B5E-D4B6FD2E9000}"/>
                </a:ext>
              </a:extLst>
            </p:cNvPr>
            <p:cNvSpPr/>
            <p:nvPr userDrawn="1"/>
          </p:nvSpPr>
          <p:spPr>
            <a:xfrm rot="3973945">
              <a:off x="-91213" y="4526979"/>
              <a:ext cx="2873340" cy="3094469"/>
            </a:xfrm>
            <a:custGeom>
              <a:avLst/>
              <a:gdLst>
                <a:gd name="connsiteX0" fmla="*/ 0 w 2873340"/>
                <a:gd name="connsiteY0" fmla="*/ 2384702 h 3094469"/>
                <a:gd name="connsiteX1" fmla="*/ 1692622 w 2873340"/>
                <a:gd name="connsiteY1" fmla="*/ 295905 h 3094469"/>
                <a:gd name="connsiteX2" fmla="*/ 2870552 w 2873340"/>
                <a:gd name="connsiteY2" fmla="*/ 226553 h 3094469"/>
                <a:gd name="connsiteX3" fmla="*/ 2873340 w 2873340"/>
                <a:gd name="connsiteY3" fmla="*/ 229616 h 3094469"/>
                <a:gd name="connsiteX4" fmla="*/ 1611725 w 2873340"/>
                <a:gd name="connsiteY4" fmla="*/ 3094469 h 3094469"/>
                <a:gd name="connsiteX5" fmla="*/ 0 w 2873340"/>
                <a:gd name="connsiteY5" fmla="*/ 2384702 h 3094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73340" h="3094469">
                  <a:moveTo>
                    <a:pt x="0" y="2384702"/>
                  </a:moveTo>
                  <a:lnTo>
                    <a:pt x="1692622" y="295905"/>
                  </a:lnTo>
                  <a:cubicBezTo>
                    <a:pt x="1992334" y="-73977"/>
                    <a:pt x="2539864" y="-97094"/>
                    <a:pt x="2870552" y="226553"/>
                  </a:cubicBezTo>
                  <a:lnTo>
                    <a:pt x="2873340" y="229616"/>
                  </a:lnTo>
                  <a:lnTo>
                    <a:pt x="1611725" y="3094469"/>
                  </a:lnTo>
                  <a:lnTo>
                    <a:pt x="0" y="2384702"/>
                  </a:lnTo>
                  <a:close/>
                </a:path>
              </a:pathLst>
            </a:custGeom>
            <a:gradFill>
              <a:gsLst>
                <a:gs pos="6000">
                  <a:srgbClr val="EA4335">
                    <a:alpha val="75000"/>
                  </a:srgbClr>
                </a:gs>
                <a:gs pos="94000">
                  <a:srgbClr val="F2CB0A">
                    <a:alpha val="50000"/>
                  </a:srgbClr>
                </a:gs>
              </a:gsLst>
              <a:lin ang="16800000" scaled="0"/>
            </a:gradFill>
            <a:ln w="36040" cap="flat">
              <a:noFill/>
              <a:prstDash val="solid"/>
              <a:miter/>
            </a:ln>
          </p:spPr>
          <p:txBody>
            <a:bodyPr wrap="square" rtlCol="0" anchor="ctr">
              <a:noAutofit/>
            </a:bodyPr>
            <a:lstStyle/>
            <a:p>
              <a:endParaRPr lang="en-CA"/>
            </a:p>
          </p:txBody>
        </p:sp>
      </p:grpSp>
      <p:sp>
        <p:nvSpPr>
          <p:cNvPr id="7" name="Title 1">
            <a:extLst>
              <a:ext uri="{FF2B5EF4-FFF2-40B4-BE49-F238E27FC236}">
                <a16:creationId xmlns:a16="http://schemas.microsoft.com/office/drawing/2014/main" id="{95CE9AE8-5142-C3B9-42C4-E77CB439A469}"/>
              </a:ext>
            </a:extLst>
          </p:cNvPr>
          <p:cNvSpPr>
            <a:spLocks noGrp="1"/>
          </p:cNvSpPr>
          <p:nvPr>
            <p:ph type="title"/>
          </p:nvPr>
        </p:nvSpPr>
        <p:spPr>
          <a:xfrm>
            <a:off x="5906766" y="630865"/>
            <a:ext cx="5702427" cy="2261390"/>
          </a:xfrm>
          <a:prstGeom prst="roundRect">
            <a:avLst>
              <a:gd name="adj" fmla="val 0"/>
            </a:avLst>
          </a:prstGeom>
          <a:noFill/>
          <a:ln w="34925">
            <a:noFill/>
          </a:ln>
        </p:spPr>
        <p:txBody>
          <a:bodyPr lIns="0" tIns="0" rIns="0" bIns="0" anchor="b">
            <a:normAutofit/>
          </a:bodyPr>
          <a:lstStyle>
            <a:lvl1pPr>
              <a:defRPr sz="3600" b="0">
                <a:solidFill>
                  <a:schemeClr val="bg1"/>
                </a:solidFill>
              </a:defRPr>
            </a:lvl1pPr>
          </a:lstStyle>
          <a:p>
            <a:r>
              <a:rPr lang="en-US"/>
              <a:t>Click to edit Master title style</a:t>
            </a:r>
            <a:endParaRPr lang="fr-CA"/>
          </a:p>
        </p:txBody>
      </p:sp>
      <p:sp>
        <p:nvSpPr>
          <p:cNvPr id="8" name="Text Placeholder 2">
            <a:extLst>
              <a:ext uri="{FF2B5EF4-FFF2-40B4-BE49-F238E27FC236}">
                <a16:creationId xmlns:a16="http://schemas.microsoft.com/office/drawing/2014/main" id="{CE85D2FD-BC18-DDA2-BDAC-D0AC933C1D75}"/>
              </a:ext>
            </a:extLst>
          </p:cNvPr>
          <p:cNvSpPr>
            <a:spLocks noGrp="1"/>
          </p:cNvSpPr>
          <p:nvPr>
            <p:ph type="body" idx="1"/>
          </p:nvPr>
        </p:nvSpPr>
        <p:spPr>
          <a:xfrm>
            <a:off x="5906766" y="3142740"/>
            <a:ext cx="5702427" cy="856907"/>
          </a:xfrm>
        </p:spPr>
        <p:txBody>
          <a:bodyPr lIns="0" tIns="0" rIns="0" bIns="0">
            <a:normAutofit/>
          </a:bodyPr>
          <a:lstStyle>
            <a:lvl1pPr marL="0" indent="0">
              <a:buNone/>
              <a:defRPr sz="1800">
                <a:solidFill>
                  <a:schemeClr val="bg1"/>
                </a:solidFill>
                <a:latin typeface="Arial" panose="020B0604020202020204" pitchFamily="34" charset="0"/>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4" name="Graphic 3">
            <a:extLst>
              <a:ext uri="{FF2B5EF4-FFF2-40B4-BE49-F238E27FC236}">
                <a16:creationId xmlns:a16="http://schemas.microsoft.com/office/drawing/2014/main" id="{A417FBAF-ECF1-6D33-AFCB-F180A7A9F7B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805797" y="4315612"/>
            <a:ext cx="2054801" cy="849825"/>
          </a:xfrm>
          <a:prstGeom prst="rect">
            <a:avLst/>
          </a:prstGeom>
        </p:spPr>
      </p:pic>
    </p:spTree>
    <p:extLst>
      <p:ext uri="{BB962C8B-B14F-4D97-AF65-F5344CB8AC3E}">
        <p14:creationId xmlns:p14="http://schemas.microsoft.com/office/powerpoint/2010/main" val="268671812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2_Section Header">
    <p:spTree>
      <p:nvGrpSpPr>
        <p:cNvPr id="1" name=""/>
        <p:cNvGrpSpPr/>
        <p:nvPr/>
      </p:nvGrpSpPr>
      <p:grpSpPr>
        <a:xfrm>
          <a:off x="0" y="0"/>
          <a:ext cx="0" cy="0"/>
          <a:chOff x="0" y="0"/>
          <a:chExt cx="0" cy="0"/>
        </a:xfrm>
      </p:grpSpPr>
      <p:pic>
        <p:nvPicPr>
          <p:cNvPr id="35" name="Picture 34">
            <a:extLst>
              <a:ext uri="{FF2B5EF4-FFF2-40B4-BE49-F238E27FC236}">
                <a16:creationId xmlns:a16="http://schemas.microsoft.com/office/drawing/2014/main" id="{A0E85A92-5BF6-D213-0A9F-0C7162B7C49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a:fillRect/>
          </a:stretch>
        </p:blipFill>
        <p:spPr>
          <a:xfrm flipH="1">
            <a:off x="-3" y="0"/>
            <a:ext cx="12191999" cy="6857998"/>
          </a:xfrm>
          <a:prstGeom prst="rect">
            <a:avLst/>
          </a:prstGeom>
        </p:spPr>
      </p:pic>
      <p:grpSp>
        <p:nvGrpSpPr>
          <p:cNvPr id="34" name="Group 33">
            <a:extLst>
              <a:ext uri="{FF2B5EF4-FFF2-40B4-BE49-F238E27FC236}">
                <a16:creationId xmlns:a16="http://schemas.microsoft.com/office/drawing/2014/main" id="{9C4D3F6A-F19D-E87C-0F71-28AEA5FCE43D}"/>
              </a:ext>
            </a:extLst>
          </p:cNvPr>
          <p:cNvGrpSpPr/>
          <p:nvPr userDrawn="1"/>
        </p:nvGrpSpPr>
        <p:grpSpPr>
          <a:xfrm flipH="1">
            <a:off x="5173342" y="0"/>
            <a:ext cx="7223063" cy="7510884"/>
            <a:chOff x="-201778" y="0"/>
            <a:chExt cx="7223063" cy="7510884"/>
          </a:xfrm>
        </p:grpSpPr>
        <p:sp>
          <p:nvSpPr>
            <p:cNvPr id="3" name="Freeform: Shape 2">
              <a:extLst>
                <a:ext uri="{FF2B5EF4-FFF2-40B4-BE49-F238E27FC236}">
                  <a16:creationId xmlns:a16="http://schemas.microsoft.com/office/drawing/2014/main" id="{DC062E26-C6DF-531B-1266-809D8DAF3E35}"/>
                </a:ext>
              </a:extLst>
            </p:cNvPr>
            <p:cNvSpPr/>
            <p:nvPr userDrawn="1"/>
          </p:nvSpPr>
          <p:spPr>
            <a:xfrm flipV="1">
              <a:off x="-1" y="0"/>
              <a:ext cx="7021286" cy="6059949"/>
            </a:xfrm>
            <a:custGeom>
              <a:avLst/>
              <a:gdLst>
                <a:gd name="connsiteX0" fmla="*/ 0 w 7021286"/>
                <a:gd name="connsiteY0" fmla="*/ 6059949 h 6059949"/>
                <a:gd name="connsiteX1" fmla="*/ 7021286 w 7021286"/>
                <a:gd name="connsiteY1" fmla="*/ 6059949 h 6059949"/>
                <a:gd name="connsiteX2" fmla="*/ 7021286 w 7021286"/>
                <a:gd name="connsiteY2" fmla="*/ 1340367 h 6059949"/>
                <a:gd name="connsiteX3" fmla="*/ 7021248 w 7021286"/>
                <a:gd name="connsiteY3" fmla="*/ 1340344 h 6059949"/>
                <a:gd name="connsiteX4" fmla="*/ 7021286 w 7021286"/>
                <a:gd name="connsiteY4" fmla="*/ 1339648 h 6059949"/>
                <a:gd name="connsiteX5" fmla="*/ 5528225 w 7021286"/>
                <a:gd name="connsiteY5" fmla="*/ 0 h 6059949"/>
                <a:gd name="connsiteX6" fmla="*/ 4947059 w 7021286"/>
                <a:gd name="connsiteY6" fmla="*/ 105276 h 6059949"/>
                <a:gd name="connsiteX7" fmla="*/ 4918008 w 7021286"/>
                <a:gd name="connsiteY7" fmla="*/ 117834 h 6059949"/>
                <a:gd name="connsiteX8" fmla="*/ 0 w 7021286"/>
                <a:gd name="connsiteY8" fmla="*/ 1632297 h 6059949"/>
                <a:gd name="connsiteX9" fmla="*/ 0 w 7021286"/>
                <a:gd name="connsiteY9" fmla="*/ 6059949 h 6059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021286" h="6059949">
                  <a:moveTo>
                    <a:pt x="0" y="6059949"/>
                  </a:moveTo>
                  <a:lnTo>
                    <a:pt x="7021286" y="6059949"/>
                  </a:lnTo>
                  <a:lnTo>
                    <a:pt x="7021286" y="1340367"/>
                  </a:lnTo>
                  <a:lnTo>
                    <a:pt x="7021248" y="1340344"/>
                  </a:lnTo>
                  <a:lnTo>
                    <a:pt x="7021286" y="1339648"/>
                  </a:lnTo>
                  <a:cubicBezTo>
                    <a:pt x="7021286" y="599781"/>
                    <a:pt x="6352820" y="0"/>
                    <a:pt x="5528225" y="0"/>
                  </a:cubicBezTo>
                  <a:cubicBezTo>
                    <a:pt x="5322078" y="0"/>
                    <a:pt x="5125686" y="37486"/>
                    <a:pt x="4947059" y="105276"/>
                  </a:cubicBezTo>
                  <a:lnTo>
                    <a:pt x="4918008" y="117834"/>
                  </a:lnTo>
                  <a:lnTo>
                    <a:pt x="0" y="1632297"/>
                  </a:lnTo>
                  <a:lnTo>
                    <a:pt x="0" y="6059949"/>
                  </a:lnTo>
                  <a:close/>
                </a:path>
              </a:pathLst>
            </a:custGeom>
            <a:solidFill>
              <a:srgbClr val="50152C">
                <a:alpha val="92000"/>
              </a:srgbClr>
            </a:solidFill>
            <a:ln>
              <a:noFill/>
            </a:ln>
          </p:spPr>
          <p:txBody>
            <a:bodyPr spcFirstLastPara="1" wrap="square" lIns="60950" tIns="30467" rIns="60950" bIns="30467" anchor="t" anchorCtr="0">
              <a:noAutofit/>
            </a:bodyPr>
            <a:lstStyle/>
            <a:p>
              <a:pPr defTabSz="609630">
                <a:buClr>
                  <a:srgbClr val="000000"/>
                </a:buClr>
                <a:buSzPts val="1800"/>
              </a:pPr>
              <a:endParaRPr sz="1200" kern="0">
                <a:solidFill>
                  <a:srgbClr val="000000"/>
                </a:solidFill>
                <a:latin typeface="Calibri"/>
                <a:ea typeface="Calibri"/>
                <a:cs typeface="Calibri"/>
                <a:sym typeface="Calibri"/>
              </a:endParaRPr>
            </a:p>
          </p:txBody>
        </p:sp>
        <p:sp>
          <p:nvSpPr>
            <p:cNvPr id="6" name="Freeform: Shape 5">
              <a:extLst>
                <a:ext uri="{FF2B5EF4-FFF2-40B4-BE49-F238E27FC236}">
                  <a16:creationId xmlns:a16="http://schemas.microsoft.com/office/drawing/2014/main" id="{10F9BAE7-3493-A11B-5B5E-D4B6FD2E9000}"/>
                </a:ext>
              </a:extLst>
            </p:cNvPr>
            <p:cNvSpPr/>
            <p:nvPr userDrawn="1"/>
          </p:nvSpPr>
          <p:spPr>
            <a:xfrm rot="3973945">
              <a:off x="-91213" y="4526979"/>
              <a:ext cx="2873340" cy="3094469"/>
            </a:xfrm>
            <a:custGeom>
              <a:avLst/>
              <a:gdLst>
                <a:gd name="connsiteX0" fmla="*/ 0 w 2873340"/>
                <a:gd name="connsiteY0" fmla="*/ 2384702 h 3094469"/>
                <a:gd name="connsiteX1" fmla="*/ 1692622 w 2873340"/>
                <a:gd name="connsiteY1" fmla="*/ 295905 h 3094469"/>
                <a:gd name="connsiteX2" fmla="*/ 2870552 w 2873340"/>
                <a:gd name="connsiteY2" fmla="*/ 226553 h 3094469"/>
                <a:gd name="connsiteX3" fmla="*/ 2873340 w 2873340"/>
                <a:gd name="connsiteY3" fmla="*/ 229616 h 3094469"/>
                <a:gd name="connsiteX4" fmla="*/ 1611725 w 2873340"/>
                <a:gd name="connsiteY4" fmla="*/ 3094469 h 3094469"/>
                <a:gd name="connsiteX5" fmla="*/ 0 w 2873340"/>
                <a:gd name="connsiteY5" fmla="*/ 2384702 h 3094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73340" h="3094469">
                  <a:moveTo>
                    <a:pt x="0" y="2384702"/>
                  </a:moveTo>
                  <a:lnTo>
                    <a:pt x="1692622" y="295905"/>
                  </a:lnTo>
                  <a:cubicBezTo>
                    <a:pt x="1992334" y="-73977"/>
                    <a:pt x="2539864" y="-97094"/>
                    <a:pt x="2870552" y="226553"/>
                  </a:cubicBezTo>
                  <a:lnTo>
                    <a:pt x="2873340" y="229616"/>
                  </a:lnTo>
                  <a:lnTo>
                    <a:pt x="1611725" y="3094469"/>
                  </a:lnTo>
                  <a:lnTo>
                    <a:pt x="0" y="2384702"/>
                  </a:lnTo>
                  <a:close/>
                </a:path>
              </a:pathLst>
            </a:custGeom>
            <a:gradFill>
              <a:gsLst>
                <a:gs pos="6000">
                  <a:srgbClr val="EA4335">
                    <a:alpha val="75000"/>
                  </a:srgbClr>
                </a:gs>
                <a:gs pos="94000">
                  <a:srgbClr val="F2CB0A">
                    <a:alpha val="50000"/>
                  </a:srgbClr>
                </a:gs>
              </a:gsLst>
              <a:lin ang="16800000" scaled="0"/>
            </a:gradFill>
            <a:ln w="36040" cap="flat">
              <a:noFill/>
              <a:prstDash val="solid"/>
              <a:miter/>
            </a:ln>
          </p:spPr>
          <p:txBody>
            <a:bodyPr wrap="square" rtlCol="0" anchor="ctr">
              <a:noAutofit/>
            </a:bodyPr>
            <a:lstStyle/>
            <a:p>
              <a:endParaRPr lang="en-CA"/>
            </a:p>
          </p:txBody>
        </p:sp>
      </p:grpSp>
      <p:sp>
        <p:nvSpPr>
          <p:cNvPr id="7" name="Title 1">
            <a:extLst>
              <a:ext uri="{FF2B5EF4-FFF2-40B4-BE49-F238E27FC236}">
                <a16:creationId xmlns:a16="http://schemas.microsoft.com/office/drawing/2014/main" id="{95CE9AE8-5142-C3B9-42C4-E77CB439A469}"/>
              </a:ext>
            </a:extLst>
          </p:cNvPr>
          <p:cNvSpPr>
            <a:spLocks noGrp="1"/>
          </p:cNvSpPr>
          <p:nvPr>
            <p:ph type="title"/>
          </p:nvPr>
        </p:nvSpPr>
        <p:spPr>
          <a:xfrm>
            <a:off x="5906766" y="630865"/>
            <a:ext cx="5702427" cy="2261390"/>
          </a:xfrm>
          <a:prstGeom prst="roundRect">
            <a:avLst>
              <a:gd name="adj" fmla="val 0"/>
            </a:avLst>
          </a:prstGeom>
          <a:noFill/>
          <a:ln w="34925">
            <a:noFill/>
          </a:ln>
        </p:spPr>
        <p:txBody>
          <a:bodyPr lIns="0" tIns="0" rIns="0" bIns="0" anchor="b">
            <a:normAutofit/>
          </a:bodyPr>
          <a:lstStyle>
            <a:lvl1pPr>
              <a:defRPr sz="3600" b="0">
                <a:solidFill>
                  <a:schemeClr val="bg1"/>
                </a:solidFill>
              </a:defRPr>
            </a:lvl1pPr>
          </a:lstStyle>
          <a:p>
            <a:r>
              <a:rPr lang="en-US"/>
              <a:t>Click to edit Master title style</a:t>
            </a:r>
            <a:endParaRPr lang="fr-CA"/>
          </a:p>
        </p:txBody>
      </p:sp>
      <p:sp>
        <p:nvSpPr>
          <p:cNvPr id="8" name="Text Placeholder 2">
            <a:extLst>
              <a:ext uri="{FF2B5EF4-FFF2-40B4-BE49-F238E27FC236}">
                <a16:creationId xmlns:a16="http://schemas.microsoft.com/office/drawing/2014/main" id="{CE85D2FD-BC18-DDA2-BDAC-D0AC933C1D75}"/>
              </a:ext>
            </a:extLst>
          </p:cNvPr>
          <p:cNvSpPr>
            <a:spLocks noGrp="1"/>
          </p:cNvSpPr>
          <p:nvPr>
            <p:ph type="body" idx="1"/>
          </p:nvPr>
        </p:nvSpPr>
        <p:spPr>
          <a:xfrm>
            <a:off x="5906766" y="3142740"/>
            <a:ext cx="5702427" cy="856907"/>
          </a:xfrm>
        </p:spPr>
        <p:txBody>
          <a:bodyPr lIns="0" tIns="0" rIns="0" bIns="0">
            <a:normAutofit/>
          </a:bodyPr>
          <a:lstStyle>
            <a:lvl1pPr marL="0" indent="0">
              <a:buNone/>
              <a:defRPr sz="1800">
                <a:solidFill>
                  <a:schemeClr val="bg1"/>
                </a:solidFill>
                <a:latin typeface="Arial" panose="020B0604020202020204" pitchFamily="34" charset="0"/>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5" name="Graphic 4">
            <a:extLst>
              <a:ext uri="{FF2B5EF4-FFF2-40B4-BE49-F238E27FC236}">
                <a16:creationId xmlns:a16="http://schemas.microsoft.com/office/drawing/2014/main" id="{70740000-08C0-AB71-DD47-065901B13D7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815959" y="4122961"/>
            <a:ext cx="1942148" cy="803234"/>
          </a:xfrm>
          <a:prstGeom prst="rect">
            <a:avLst/>
          </a:prstGeom>
        </p:spPr>
      </p:pic>
      <p:grpSp>
        <p:nvGrpSpPr>
          <p:cNvPr id="9" name="Group 4">
            <a:extLst>
              <a:ext uri="{FF2B5EF4-FFF2-40B4-BE49-F238E27FC236}">
                <a16:creationId xmlns:a16="http://schemas.microsoft.com/office/drawing/2014/main" id="{F0ADC158-68F1-F21F-4C58-8CCC1D9F57BA}"/>
              </a:ext>
            </a:extLst>
          </p:cNvPr>
          <p:cNvGrpSpPr>
            <a:grpSpLocks noChangeAspect="1"/>
          </p:cNvGrpSpPr>
          <p:nvPr userDrawn="1"/>
        </p:nvGrpSpPr>
        <p:grpSpPr bwMode="auto">
          <a:xfrm>
            <a:off x="7758107" y="4326802"/>
            <a:ext cx="1585345" cy="599393"/>
            <a:chOff x="2098" y="1500"/>
            <a:chExt cx="3486" cy="1318"/>
          </a:xfrm>
        </p:grpSpPr>
        <p:sp>
          <p:nvSpPr>
            <p:cNvPr id="10" name="Freeform 5">
              <a:extLst>
                <a:ext uri="{FF2B5EF4-FFF2-40B4-BE49-F238E27FC236}">
                  <a16:creationId xmlns:a16="http://schemas.microsoft.com/office/drawing/2014/main" id="{7FCDF6EB-C88A-0A21-5C54-F234AF7DFF36}"/>
                </a:ext>
              </a:extLst>
            </p:cNvPr>
            <p:cNvSpPr>
              <a:spLocks/>
            </p:cNvSpPr>
            <p:nvPr userDrawn="1"/>
          </p:nvSpPr>
          <p:spPr bwMode="auto">
            <a:xfrm>
              <a:off x="2098" y="1500"/>
              <a:ext cx="1776" cy="1318"/>
            </a:xfrm>
            <a:custGeom>
              <a:avLst/>
              <a:gdLst>
                <a:gd name="T0" fmla="*/ 654 w 748"/>
                <a:gd name="T1" fmla="*/ 0 h 553"/>
                <a:gd name="T2" fmla="*/ 94 w 748"/>
                <a:gd name="T3" fmla="*/ 0 h 553"/>
                <a:gd name="T4" fmla="*/ 0 w 748"/>
                <a:gd name="T5" fmla="*/ 94 h 553"/>
                <a:gd name="T6" fmla="*/ 0 w 748"/>
                <a:gd name="T7" fmla="*/ 459 h 553"/>
                <a:gd name="T8" fmla="*/ 94 w 748"/>
                <a:gd name="T9" fmla="*/ 553 h 553"/>
                <a:gd name="T10" fmla="*/ 513 w 748"/>
                <a:gd name="T11" fmla="*/ 553 h 553"/>
                <a:gd name="T12" fmla="*/ 527 w 748"/>
                <a:gd name="T13" fmla="*/ 485 h 553"/>
                <a:gd name="T14" fmla="*/ 94 w 748"/>
                <a:gd name="T15" fmla="*/ 485 h 553"/>
                <a:gd name="T16" fmla="*/ 68 w 748"/>
                <a:gd name="T17" fmla="*/ 459 h 553"/>
                <a:gd name="T18" fmla="*/ 68 w 748"/>
                <a:gd name="T19" fmla="*/ 94 h 553"/>
                <a:gd name="T20" fmla="*/ 94 w 748"/>
                <a:gd name="T21" fmla="*/ 68 h 553"/>
                <a:gd name="T22" fmla="*/ 654 w 748"/>
                <a:gd name="T23" fmla="*/ 68 h 553"/>
                <a:gd name="T24" fmla="*/ 680 w 748"/>
                <a:gd name="T25" fmla="*/ 94 h 553"/>
                <a:gd name="T26" fmla="*/ 680 w 748"/>
                <a:gd name="T27" fmla="*/ 459 h 553"/>
                <a:gd name="T28" fmla="*/ 654 w 748"/>
                <a:gd name="T29" fmla="*/ 485 h 553"/>
                <a:gd name="T30" fmla="*/ 595 w 748"/>
                <a:gd name="T31" fmla="*/ 485 h 553"/>
                <a:gd name="T32" fmla="*/ 534 w 748"/>
                <a:gd name="T33" fmla="*/ 553 h 553"/>
                <a:gd name="T34" fmla="*/ 654 w 748"/>
                <a:gd name="T35" fmla="*/ 553 h 553"/>
                <a:gd name="T36" fmla="*/ 748 w 748"/>
                <a:gd name="T37" fmla="*/ 459 h 553"/>
                <a:gd name="T38" fmla="*/ 748 w 748"/>
                <a:gd name="T39" fmla="*/ 94 h 553"/>
                <a:gd name="T40" fmla="*/ 654 w 748"/>
                <a:gd name="T41" fmla="*/ 0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48" h="553">
                  <a:moveTo>
                    <a:pt x="654" y="0"/>
                  </a:moveTo>
                  <a:cubicBezTo>
                    <a:pt x="94" y="0"/>
                    <a:pt x="94" y="0"/>
                    <a:pt x="94" y="0"/>
                  </a:cubicBezTo>
                  <a:cubicBezTo>
                    <a:pt x="42" y="0"/>
                    <a:pt x="0" y="42"/>
                    <a:pt x="0" y="94"/>
                  </a:cubicBezTo>
                  <a:cubicBezTo>
                    <a:pt x="0" y="459"/>
                    <a:pt x="0" y="459"/>
                    <a:pt x="0" y="459"/>
                  </a:cubicBezTo>
                  <a:cubicBezTo>
                    <a:pt x="0" y="511"/>
                    <a:pt x="42" y="553"/>
                    <a:pt x="94" y="553"/>
                  </a:cubicBezTo>
                  <a:cubicBezTo>
                    <a:pt x="513" y="553"/>
                    <a:pt x="513" y="553"/>
                    <a:pt x="513" y="553"/>
                  </a:cubicBezTo>
                  <a:cubicBezTo>
                    <a:pt x="524" y="537"/>
                    <a:pt x="536" y="512"/>
                    <a:pt x="527" y="485"/>
                  </a:cubicBezTo>
                  <a:cubicBezTo>
                    <a:pt x="94" y="485"/>
                    <a:pt x="94" y="485"/>
                    <a:pt x="94" y="485"/>
                  </a:cubicBezTo>
                  <a:cubicBezTo>
                    <a:pt x="80" y="485"/>
                    <a:pt x="68" y="473"/>
                    <a:pt x="68" y="459"/>
                  </a:cubicBezTo>
                  <a:cubicBezTo>
                    <a:pt x="68" y="94"/>
                    <a:pt x="68" y="94"/>
                    <a:pt x="68" y="94"/>
                  </a:cubicBezTo>
                  <a:cubicBezTo>
                    <a:pt x="68" y="80"/>
                    <a:pt x="80" y="68"/>
                    <a:pt x="94" y="68"/>
                  </a:cubicBezTo>
                  <a:cubicBezTo>
                    <a:pt x="654" y="68"/>
                    <a:pt x="654" y="68"/>
                    <a:pt x="654" y="68"/>
                  </a:cubicBezTo>
                  <a:cubicBezTo>
                    <a:pt x="668" y="68"/>
                    <a:pt x="680" y="80"/>
                    <a:pt x="680" y="94"/>
                  </a:cubicBezTo>
                  <a:cubicBezTo>
                    <a:pt x="680" y="459"/>
                    <a:pt x="680" y="459"/>
                    <a:pt x="680" y="459"/>
                  </a:cubicBezTo>
                  <a:cubicBezTo>
                    <a:pt x="680" y="473"/>
                    <a:pt x="669" y="485"/>
                    <a:pt x="654" y="485"/>
                  </a:cubicBezTo>
                  <a:cubicBezTo>
                    <a:pt x="595" y="485"/>
                    <a:pt x="595" y="485"/>
                    <a:pt x="595" y="485"/>
                  </a:cubicBezTo>
                  <a:cubicBezTo>
                    <a:pt x="591" y="502"/>
                    <a:pt x="578" y="528"/>
                    <a:pt x="534" y="553"/>
                  </a:cubicBezTo>
                  <a:cubicBezTo>
                    <a:pt x="654" y="553"/>
                    <a:pt x="654" y="553"/>
                    <a:pt x="654" y="553"/>
                  </a:cubicBezTo>
                  <a:cubicBezTo>
                    <a:pt x="706" y="553"/>
                    <a:pt x="748" y="511"/>
                    <a:pt x="748" y="459"/>
                  </a:cubicBezTo>
                  <a:cubicBezTo>
                    <a:pt x="748" y="94"/>
                    <a:pt x="748" y="94"/>
                    <a:pt x="748" y="94"/>
                  </a:cubicBezTo>
                  <a:cubicBezTo>
                    <a:pt x="748" y="42"/>
                    <a:pt x="706" y="0"/>
                    <a:pt x="654" y="0"/>
                  </a:cubicBezTo>
                </a:path>
              </a:pathLst>
            </a:custGeom>
            <a:solidFill>
              <a:srgbClr val="9BA3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a:p>
          </p:txBody>
        </p:sp>
        <p:sp>
          <p:nvSpPr>
            <p:cNvPr id="11" name="Freeform 6">
              <a:extLst>
                <a:ext uri="{FF2B5EF4-FFF2-40B4-BE49-F238E27FC236}">
                  <a16:creationId xmlns:a16="http://schemas.microsoft.com/office/drawing/2014/main" id="{77D56099-A443-1F35-07E0-F1274802EF79}"/>
                </a:ext>
              </a:extLst>
            </p:cNvPr>
            <p:cNvSpPr>
              <a:spLocks/>
            </p:cNvSpPr>
            <p:nvPr userDrawn="1"/>
          </p:nvSpPr>
          <p:spPr bwMode="auto">
            <a:xfrm>
              <a:off x="2454" y="1864"/>
              <a:ext cx="335" cy="601"/>
            </a:xfrm>
            <a:custGeom>
              <a:avLst/>
              <a:gdLst>
                <a:gd name="T0" fmla="*/ 335 w 335"/>
                <a:gd name="T1" fmla="*/ 98 h 601"/>
                <a:gd name="T2" fmla="*/ 110 w 335"/>
                <a:gd name="T3" fmla="*/ 98 h 601"/>
                <a:gd name="T4" fmla="*/ 110 w 335"/>
                <a:gd name="T5" fmla="*/ 248 h 601"/>
                <a:gd name="T6" fmla="*/ 300 w 335"/>
                <a:gd name="T7" fmla="*/ 248 h 601"/>
                <a:gd name="T8" fmla="*/ 300 w 335"/>
                <a:gd name="T9" fmla="*/ 341 h 601"/>
                <a:gd name="T10" fmla="*/ 110 w 335"/>
                <a:gd name="T11" fmla="*/ 341 h 601"/>
                <a:gd name="T12" fmla="*/ 110 w 335"/>
                <a:gd name="T13" fmla="*/ 601 h 601"/>
                <a:gd name="T14" fmla="*/ 0 w 335"/>
                <a:gd name="T15" fmla="*/ 601 h 601"/>
                <a:gd name="T16" fmla="*/ 0 w 335"/>
                <a:gd name="T17" fmla="*/ 0 h 601"/>
                <a:gd name="T18" fmla="*/ 335 w 335"/>
                <a:gd name="T19" fmla="*/ 0 h 601"/>
                <a:gd name="T20" fmla="*/ 335 w 335"/>
                <a:gd name="T21" fmla="*/ 98 h 6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35" h="601">
                  <a:moveTo>
                    <a:pt x="335" y="98"/>
                  </a:moveTo>
                  <a:lnTo>
                    <a:pt x="110" y="98"/>
                  </a:lnTo>
                  <a:lnTo>
                    <a:pt x="110" y="248"/>
                  </a:lnTo>
                  <a:lnTo>
                    <a:pt x="300" y="248"/>
                  </a:lnTo>
                  <a:lnTo>
                    <a:pt x="300" y="341"/>
                  </a:lnTo>
                  <a:lnTo>
                    <a:pt x="110" y="341"/>
                  </a:lnTo>
                  <a:lnTo>
                    <a:pt x="110" y="601"/>
                  </a:lnTo>
                  <a:lnTo>
                    <a:pt x="0" y="601"/>
                  </a:lnTo>
                  <a:lnTo>
                    <a:pt x="0" y="0"/>
                  </a:lnTo>
                  <a:lnTo>
                    <a:pt x="335" y="0"/>
                  </a:lnTo>
                  <a:lnTo>
                    <a:pt x="335" y="9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a:p>
          </p:txBody>
        </p:sp>
        <p:sp>
          <p:nvSpPr>
            <p:cNvPr id="12" name="Freeform 7">
              <a:extLst>
                <a:ext uri="{FF2B5EF4-FFF2-40B4-BE49-F238E27FC236}">
                  <a16:creationId xmlns:a16="http://schemas.microsoft.com/office/drawing/2014/main" id="{4CAF15D0-65FF-128A-7753-BB206B7287A9}"/>
                </a:ext>
              </a:extLst>
            </p:cNvPr>
            <p:cNvSpPr>
              <a:spLocks/>
            </p:cNvSpPr>
            <p:nvPr userDrawn="1"/>
          </p:nvSpPr>
          <p:spPr bwMode="auto">
            <a:xfrm>
              <a:off x="2856" y="1864"/>
              <a:ext cx="192" cy="601"/>
            </a:xfrm>
            <a:custGeom>
              <a:avLst/>
              <a:gdLst>
                <a:gd name="T0" fmla="*/ 83 w 192"/>
                <a:gd name="T1" fmla="*/ 98 h 601"/>
                <a:gd name="T2" fmla="*/ 0 w 192"/>
                <a:gd name="T3" fmla="*/ 98 h 601"/>
                <a:gd name="T4" fmla="*/ 0 w 192"/>
                <a:gd name="T5" fmla="*/ 0 h 601"/>
                <a:gd name="T6" fmla="*/ 192 w 192"/>
                <a:gd name="T7" fmla="*/ 0 h 601"/>
                <a:gd name="T8" fmla="*/ 192 w 192"/>
                <a:gd name="T9" fmla="*/ 601 h 601"/>
                <a:gd name="T10" fmla="*/ 83 w 192"/>
                <a:gd name="T11" fmla="*/ 601 h 601"/>
                <a:gd name="T12" fmla="*/ 83 w 192"/>
                <a:gd name="T13" fmla="*/ 98 h 601"/>
              </a:gdLst>
              <a:ahLst/>
              <a:cxnLst>
                <a:cxn ang="0">
                  <a:pos x="T0" y="T1"/>
                </a:cxn>
                <a:cxn ang="0">
                  <a:pos x="T2" y="T3"/>
                </a:cxn>
                <a:cxn ang="0">
                  <a:pos x="T4" y="T5"/>
                </a:cxn>
                <a:cxn ang="0">
                  <a:pos x="T6" y="T7"/>
                </a:cxn>
                <a:cxn ang="0">
                  <a:pos x="T8" y="T9"/>
                </a:cxn>
                <a:cxn ang="0">
                  <a:pos x="T10" y="T11"/>
                </a:cxn>
                <a:cxn ang="0">
                  <a:pos x="T12" y="T13"/>
                </a:cxn>
              </a:cxnLst>
              <a:rect l="0" t="0" r="r" b="b"/>
              <a:pathLst>
                <a:path w="192" h="601">
                  <a:moveTo>
                    <a:pt x="83" y="98"/>
                  </a:moveTo>
                  <a:lnTo>
                    <a:pt x="0" y="98"/>
                  </a:lnTo>
                  <a:lnTo>
                    <a:pt x="0" y="0"/>
                  </a:lnTo>
                  <a:lnTo>
                    <a:pt x="192" y="0"/>
                  </a:lnTo>
                  <a:lnTo>
                    <a:pt x="192" y="601"/>
                  </a:lnTo>
                  <a:lnTo>
                    <a:pt x="83" y="601"/>
                  </a:lnTo>
                  <a:lnTo>
                    <a:pt x="83" y="9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a:p>
          </p:txBody>
        </p:sp>
        <p:sp>
          <p:nvSpPr>
            <p:cNvPr id="13" name="Freeform 8">
              <a:extLst>
                <a:ext uri="{FF2B5EF4-FFF2-40B4-BE49-F238E27FC236}">
                  <a16:creationId xmlns:a16="http://schemas.microsoft.com/office/drawing/2014/main" id="{DF6DB7E3-E249-D79C-62E8-CB422D30E445}"/>
                </a:ext>
              </a:extLst>
            </p:cNvPr>
            <p:cNvSpPr>
              <a:spLocks/>
            </p:cNvSpPr>
            <p:nvPr userDrawn="1"/>
          </p:nvSpPr>
          <p:spPr bwMode="auto">
            <a:xfrm>
              <a:off x="3143" y="1852"/>
              <a:ext cx="409" cy="613"/>
            </a:xfrm>
            <a:custGeom>
              <a:avLst/>
              <a:gdLst>
                <a:gd name="T0" fmla="*/ 115 w 172"/>
                <a:gd name="T1" fmla="*/ 152 h 257"/>
                <a:gd name="T2" fmla="*/ 95 w 172"/>
                <a:gd name="T3" fmla="*/ 166 h 257"/>
                <a:gd name="T4" fmla="*/ 74 w 172"/>
                <a:gd name="T5" fmla="*/ 181 h 257"/>
                <a:gd name="T6" fmla="*/ 58 w 172"/>
                <a:gd name="T7" fmla="*/ 197 h 257"/>
                <a:gd name="T8" fmla="*/ 52 w 172"/>
                <a:gd name="T9" fmla="*/ 216 h 257"/>
                <a:gd name="T10" fmla="*/ 172 w 172"/>
                <a:gd name="T11" fmla="*/ 216 h 257"/>
                <a:gd name="T12" fmla="*/ 172 w 172"/>
                <a:gd name="T13" fmla="*/ 257 h 257"/>
                <a:gd name="T14" fmla="*/ 5 w 172"/>
                <a:gd name="T15" fmla="*/ 257 h 257"/>
                <a:gd name="T16" fmla="*/ 5 w 172"/>
                <a:gd name="T17" fmla="*/ 233 h 257"/>
                <a:gd name="T18" fmla="*/ 10 w 172"/>
                <a:gd name="T19" fmla="*/ 198 h 257"/>
                <a:gd name="T20" fmla="*/ 23 w 172"/>
                <a:gd name="T21" fmla="*/ 171 h 257"/>
                <a:gd name="T22" fmla="*/ 45 w 172"/>
                <a:gd name="T23" fmla="*/ 148 h 257"/>
                <a:gd name="T24" fmla="*/ 75 w 172"/>
                <a:gd name="T25" fmla="*/ 126 h 257"/>
                <a:gd name="T26" fmla="*/ 91 w 172"/>
                <a:gd name="T27" fmla="*/ 115 h 257"/>
                <a:gd name="T28" fmla="*/ 106 w 172"/>
                <a:gd name="T29" fmla="*/ 104 h 257"/>
                <a:gd name="T30" fmla="*/ 118 w 172"/>
                <a:gd name="T31" fmla="*/ 90 h 257"/>
                <a:gd name="T32" fmla="*/ 122 w 172"/>
                <a:gd name="T33" fmla="*/ 72 h 257"/>
                <a:gd name="T34" fmla="*/ 114 w 172"/>
                <a:gd name="T35" fmla="*/ 50 h 257"/>
                <a:gd name="T36" fmla="*/ 87 w 172"/>
                <a:gd name="T37" fmla="*/ 41 h 257"/>
                <a:gd name="T38" fmla="*/ 70 w 172"/>
                <a:gd name="T39" fmla="*/ 44 h 257"/>
                <a:gd name="T40" fmla="*/ 53 w 172"/>
                <a:gd name="T41" fmla="*/ 51 h 257"/>
                <a:gd name="T42" fmla="*/ 38 w 172"/>
                <a:gd name="T43" fmla="*/ 62 h 257"/>
                <a:gd name="T44" fmla="*/ 25 w 172"/>
                <a:gd name="T45" fmla="*/ 74 h 257"/>
                <a:gd name="T46" fmla="*/ 0 w 172"/>
                <a:gd name="T47" fmla="*/ 43 h 257"/>
                <a:gd name="T48" fmla="*/ 38 w 172"/>
                <a:gd name="T49" fmla="*/ 11 h 257"/>
                <a:gd name="T50" fmla="*/ 88 w 172"/>
                <a:gd name="T51" fmla="*/ 0 h 257"/>
                <a:gd name="T52" fmla="*/ 120 w 172"/>
                <a:gd name="T53" fmla="*/ 4 h 257"/>
                <a:gd name="T54" fmla="*/ 146 w 172"/>
                <a:gd name="T55" fmla="*/ 16 h 257"/>
                <a:gd name="T56" fmla="*/ 163 w 172"/>
                <a:gd name="T57" fmla="*/ 37 h 257"/>
                <a:gd name="T58" fmla="*/ 169 w 172"/>
                <a:gd name="T59" fmla="*/ 67 h 257"/>
                <a:gd name="T60" fmla="*/ 166 w 172"/>
                <a:gd name="T61" fmla="*/ 93 h 257"/>
                <a:gd name="T62" fmla="*/ 156 w 172"/>
                <a:gd name="T63" fmla="*/ 114 h 257"/>
                <a:gd name="T64" fmla="*/ 139 w 172"/>
                <a:gd name="T65" fmla="*/ 133 h 257"/>
                <a:gd name="T66" fmla="*/ 115 w 172"/>
                <a:gd name="T67" fmla="*/ 152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72" h="257">
                  <a:moveTo>
                    <a:pt x="115" y="152"/>
                  </a:moveTo>
                  <a:cubicBezTo>
                    <a:pt x="109" y="157"/>
                    <a:pt x="102" y="161"/>
                    <a:pt x="95" y="166"/>
                  </a:cubicBezTo>
                  <a:cubicBezTo>
                    <a:pt x="87" y="171"/>
                    <a:pt x="80" y="176"/>
                    <a:pt x="74" y="181"/>
                  </a:cubicBezTo>
                  <a:cubicBezTo>
                    <a:pt x="68" y="186"/>
                    <a:pt x="62" y="191"/>
                    <a:pt x="58" y="197"/>
                  </a:cubicBezTo>
                  <a:cubicBezTo>
                    <a:pt x="54" y="203"/>
                    <a:pt x="52" y="209"/>
                    <a:pt x="52" y="216"/>
                  </a:cubicBezTo>
                  <a:cubicBezTo>
                    <a:pt x="172" y="216"/>
                    <a:pt x="172" y="216"/>
                    <a:pt x="172" y="216"/>
                  </a:cubicBezTo>
                  <a:cubicBezTo>
                    <a:pt x="172" y="257"/>
                    <a:pt x="172" y="257"/>
                    <a:pt x="172" y="257"/>
                  </a:cubicBezTo>
                  <a:cubicBezTo>
                    <a:pt x="5" y="257"/>
                    <a:pt x="5" y="257"/>
                    <a:pt x="5" y="257"/>
                  </a:cubicBezTo>
                  <a:cubicBezTo>
                    <a:pt x="5" y="233"/>
                    <a:pt x="5" y="233"/>
                    <a:pt x="5" y="233"/>
                  </a:cubicBezTo>
                  <a:cubicBezTo>
                    <a:pt x="5" y="220"/>
                    <a:pt x="7" y="208"/>
                    <a:pt x="10" y="198"/>
                  </a:cubicBezTo>
                  <a:cubicBezTo>
                    <a:pt x="13" y="188"/>
                    <a:pt x="17" y="179"/>
                    <a:pt x="23" y="171"/>
                  </a:cubicBezTo>
                  <a:cubicBezTo>
                    <a:pt x="29" y="163"/>
                    <a:pt x="36" y="155"/>
                    <a:pt x="45" y="148"/>
                  </a:cubicBezTo>
                  <a:cubicBezTo>
                    <a:pt x="54" y="141"/>
                    <a:pt x="63" y="133"/>
                    <a:pt x="75" y="126"/>
                  </a:cubicBezTo>
                  <a:cubicBezTo>
                    <a:pt x="80" y="122"/>
                    <a:pt x="86" y="119"/>
                    <a:pt x="91" y="115"/>
                  </a:cubicBezTo>
                  <a:cubicBezTo>
                    <a:pt x="97" y="112"/>
                    <a:pt x="102" y="108"/>
                    <a:pt x="106" y="104"/>
                  </a:cubicBezTo>
                  <a:cubicBezTo>
                    <a:pt x="111" y="100"/>
                    <a:pt x="115" y="95"/>
                    <a:pt x="118" y="90"/>
                  </a:cubicBezTo>
                  <a:cubicBezTo>
                    <a:pt x="120" y="85"/>
                    <a:pt x="122" y="79"/>
                    <a:pt x="122" y="72"/>
                  </a:cubicBezTo>
                  <a:cubicBezTo>
                    <a:pt x="122" y="63"/>
                    <a:pt x="119" y="56"/>
                    <a:pt x="114" y="50"/>
                  </a:cubicBezTo>
                  <a:cubicBezTo>
                    <a:pt x="108" y="44"/>
                    <a:pt x="99" y="41"/>
                    <a:pt x="87" y="41"/>
                  </a:cubicBezTo>
                  <a:cubicBezTo>
                    <a:pt x="82" y="41"/>
                    <a:pt x="76" y="42"/>
                    <a:pt x="70" y="44"/>
                  </a:cubicBezTo>
                  <a:cubicBezTo>
                    <a:pt x="64" y="46"/>
                    <a:pt x="58" y="48"/>
                    <a:pt x="53" y="51"/>
                  </a:cubicBezTo>
                  <a:cubicBezTo>
                    <a:pt x="47" y="55"/>
                    <a:pt x="42" y="58"/>
                    <a:pt x="38" y="62"/>
                  </a:cubicBezTo>
                  <a:cubicBezTo>
                    <a:pt x="33" y="66"/>
                    <a:pt x="29" y="70"/>
                    <a:pt x="25" y="74"/>
                  </a:cubicBezTo>
                  <a:cubicBezTo>
                    <a:pt x="0" y="43"/>
                    <a:pt x="0" y="43"/>
                    <a:pt x="0" y="43"/>
                  </a:cubicBezTo>
                  <a:cubicBezTo>
                    <a:pt x="10" y="30"/>
                    <a:pt x="23" y="19"/>
                    <a:pt x="38" y="11"/>
                  </a:cubicBezTo>
                  <a:cubicBezTo>
                    <a:pt x="54" y="4"/>
                    <a:pt x="70" y="0"/>
                    <a:pt x="88" y="0"/>
                  </a:cubicBezTo>
                  <a:cubicBezTo>
                    <a:pt x="100" y="0"/>
                    <a:pt x="110" y="1"/>
                    <a:pt x="120" y="4"/>
                  </a:cubicBezTo>
                  <a:cubicBezTo>
                    <a:pt x="130" y="6"/>
                    <a:pt x="139" y="10"/>
                    <a:pt x="146" y="16"/>
                  </a:cubicBezTo>
                  <a:cubicBezTo>
                    <a:pt x="153" y="21"/>
                    <a:pt x="159" y="28"/>
                    <a:pt x="163" y="37"/>
                  </a:cubicBezTo>
                  <a:cubicBezTo>
                    <a:pt x="167" y="45"/>
                    <a:pt x="169" y="55"/>
                    <a:pt x="169" y="67"/>
                  </a:cubicBezTo>
                  <a:cubicBezTo>
                    <a:pt x="169" y="77"/>
                    <a:pt x="168" y="86"/>
                    <a:pt x="166" y="93"/>
                  </a:cubicBezTo>
                  <a:cubicBezTo>
                    <a:pt x="164" y="101"/>
                    <a:pt x="160" y="108"/>
                    <a:pt x="156" y="114"/>
                  </a:cubicBezTo>
                  <a:cubicBezTo>
                    <a:pt x="151" y="121"/>
                    <a:pt x="146" y="127"/>
                    <a:pt x="139" y="133"/>
                  </a:cubicBezTo>
                  <a:cubicBezTo>
                    <a:pt x="132" y="139"/>
                    <a:pt x="124" y="145"/>
                    <a:pt x="115" y="15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a:p>
          </p:txBody>
        </p:sp>
        <p:sp>
          <p:nvSpPr>
            <p:cNvPr id="14" name="Rectangle 9">
              <a:extLst>
                <a:ext uri="{FF2B5EF4-FFF2-40B4-BE49-F238E27FC236}">
                  <a16:creationId xmlns:a16="http://schemas.microsoft.com/office/drawing/2014/main" id="{A51EDA96-429B-8F60-203F-D7D3F130C2FF}"/>
                </a:ext>
              </a:extLst>
            </p:cNvPr>
            <p:cNvSpPr>
              <a:spLocks noChangeArrowheads="1"/>
            </p:cNvSpPr>
            <p:nvPr userDrawn="1"/>
          </p:nvSpPr>
          <p:spPr bwMode="auto">
            <a:xfrm>
              <a:off x="3979" y="2327"/>
              <a:ext cx="114" cy="1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a:p>
          </p:txBody>
        </p:sp>
        <p:sp>
          <p:nvSpPr>
            <p:cNvPr id="15" name="Freeform 10">
              <a:extLst>
                <a:ext uri="{FF2B5EF4-FFF2-40B4-BE49-F238E27FC236}">
                  <a16:creationId xmlns:a16="http://schemas.microsoft.com/office/drawing/2014/main" id="{B2B832B0-E51D-CB03-0DE2-59AE3193A042}"/>
                </a:ext>
              </a:extLst>
            </p:cNvPr>
            <p:cNvSpPr>
              <a:spLocks/>
            </p:cNvSpPr>
            <p:nvPr userDrawn="1"/>
          </p:nvSpPr>
          <p:spPr bwMode="auto">
            <a:xfrm>
              <a:off x="4197" y="1988"/>
              <a:ext cx="392" cy="477"/>
            </a:xfrm>
            <a:custGeom>
              <a:avLst/>
              <a:gdLst>
                <a:gd name="T0" fmla="*/ 0 w 165"/>
                <a:gd name="T1" fmla="*/ 200 h 200"/>
                <a:gd name="T2" fmla="*/ 0 w 165"/>
                <a:gd name="T3" fmla="*/ 5 h 200"/>
                <a:gd name="T4" fmla="*/ 45 w 165"/>
                <a:gd name="T5" fmla="*/ 5 h 200"/>
                <a:gd name="T6" fmla="*/ 45 w 165"/>
                <a:gd name="T7" fmla="*/ 14 h 200"/>
                <a:gd name="T8" fmla="*/ 97 w 165"/>
                <a:gd name="T9" fmla="*/ 0 h 200"/>
                <a:gd name="T10" fmla="*/ 165 w 165"/>
                <a:gd name="T11" fmla="*/ 98 h 200"/>
                <a:gd name="T12" fmla="*/ 165 w 165"/>
                <a:gd name="T13" fmla="*/ 200 h 200"/>
                <a:gd name="T14" fmla="*/ 121 w 165"/>
                <a:gd name="T15" fmla="*/ 200 h 200"/>
                <a:gd name="T16" fmla="*/ 121 w 165"/>
                <a:gd name="T17" fmla="*/ 98 h 200"/>
                <a:gd name="T18" fmla="*/ 89 w 165"/>
                <a:gd name="T19" fmla="*/ 42 h 200"/>
                <a:gd name="T20" fmla="*/ 45 w 165"/>
                <a:gd name="T21" fmla="*/ 51 h 200"/>
                <a:gd name="T22" fmla="*/ 45 w 165"/>
                <a:gd name="T23" fmla="*/ 200 h 200"/>
                <a:gd name="T24" fmla="*/ 0 w 165"/>
                <a:gd name="T25" fmla="*/ 20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5" h="200">
                  <a:moveTo>
                    <a:pt x="0" y="200"/>
                  </a:moveTo>
                  <a:cubicBezTo>
                    <a:pt x="0" y="5"/>
                    <a:pt x="0" y="5"/>
                    <a:pt x="0" y="5"/>
                  </a:cubicBezTo>
                  <a:cubicBezTo>
                    <a:pt x="45" y="5"/>
                    <a:pt x="45" y="5"/>
                    <a:pt x="45" y="5"/>
                  </a:cubicBezTo>
                  <a:cubicBezTo>
                    <a:pt x="45" y="14"/>
                    <a:pt x="45" y="14"/>
                    <a:pt x="45" y="14"/>
                  </a:cubicBezTo>
                  <a:cubicBezTo>
                    <a:pt x="45" y="14"/>
                    <a:pt x="76" y="0"/>
                    <a:pt x="97" y="0"/>
                  </a:cubicBezTo>
                  <a:cubicBezTo>
                    <a:pt x="152" y="0"/>
                    <a:pt x="165" y="32"/>
                    <a:pt x="165" y="98"/>
                  </a:cubicBezTo>
                  <a:cubicBezTo>
                    <a:pt x="165" y="200"/>
                    <a:pt x="165" y="200"/>
                    <a:pt x="165" y="200"/>
                  </a:cubicBezTo>
                  <a:cubicBezTo>
                    <a:pt x="121" y="200"/>
                    <a:pt x="121" y="200"/>
                    <a:pt x="121" y="200"/>
                  </a:cubicBezTo>
                  <a:cubicBezTo>
                    <a:pt x="121" y="98"/>
                    <a:pt x="121" y="98"/>
                    <a:pt x="121" y="98"/>
                  </a:cubicBezTo>
                  <a:cubicBezTo>
                    <a:pt x="121" y="61"/>
                    <a:pt x="116" y="42"/>
                    <a:pt x="89" y="42"/>
                  </a:cubicBezTo>
                  <a:cubicBezTo>
                    <a:pt x="72" y="42"/>
                    <a:pt x="45" y="51"/>
                    <a:pt x="45" y="51"/>
                  </a:cubicBezTo>
                  <a:cubicBezTo>
                    <a:pt x="45" y="200"/>
                    <a:pt x="45" y="200"/>
                    <a:pt x="45" y="200"/>
                  </a:cubicBezTo>
                  <a:cubicBezTo>
                    <a:pt x="0" y="200"/>
                    <a:pt x="0" y="200"/>
                    <a:pt x="0" y="20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a:p>
          </p:txBody>
        </p:sp>
        <p:sp>
          <p:nvSpPr>
            <p:cNvPr id="16" name="Freeform 11">
              <a:extLst>
                <a:ext uri="{FF2B5EF4-FFF2-40B4-BE49-F238E27FC236}">
                  <a16:creationId xmlns:a16="http://schemas.microsoft.com/office/drawing/2014/main" id="{EADFBC0A-7E3D-4B3A-EAA8-2917819E85F6}"/>
                </a:ext>
              </a:extLst>
            </p:cNvPr>
            <p:cNvSpPr>
              <a:spLocks noEditPoints="1"/>
            </p:cNvSpPr>
            <p:nvPr userDrawn="1"/>
          </p:nvSpPr>
          <p:spPr bwMode="auto">
            <a:xfrm>
              <a:off x="4668" y="1988"/>
              <a:ext cx="399" cy="487"/>
            </a:xfrm>
            <a:custGeom>
              <a:avLst/>
              <a:gdLst>
                <a:gd name="T0" fmla="*/ 123 w 168"/>
                <a:gd name="T1" fmla="*/ 87 h 204"/>
                <a:gd name="T2" fmla="*/ 84 w 168"/>
                <a:gd name="T3" fmla="*/ 40 h 204"/>
                <a:gd name="T4" fmla="*/ 44 w 168"/>
                <a:gd name="T5" fmla="*/ 87 h 204"/>
                <a:gd name="T6" fmla="*/ 123 w 168"/>
                <a:gd name="T7" fmla="*/ 87 h 204"/>
                <a:gd name="T8" fmla="*/ 160 w 168"/>
                <a:gd name="T9" fmla="*/ 160 h 204"/>
                <a:gd name="T10" fmla="*/ 161 w 168"/>
                <a:gd name="T11" fmla="*/ 195 h 204"/>
                <a:gd name="T12" fmla="*/ 82 w 168"/>
                <a:gd name="T13" fmla="*/ 204 h 204"/>
                <a:gd name="T14" fmla="*/ 0 w 168"/>
                <a:gd name="T15" fmla="*/ 104 h 204"/>
                <a:gd name="T16" fmla="*/ 84 w 168"/>
                <a:gd name="T17" fmla="*/ 0 h 204"/>
                <a:gd name="T18" fmla="*/ 168 w 168"/>
                <a:gd name="T19" fmla="*/ 89 h 204"/>
                <a:gd name="T20" fmla="*/ 164 w 168"/>
                <a:gd name="T21" fmla="*/ 121 h 204"/>
                <a:gd name="T22" fmla="*/ 44 w 168"/>
                <a:gd name="T23" fmla="*/ 121 h 204"/>
                <a:gd name="T24" fmla="*/ 88 w 168"/>
                <a:gd name="T25" fmla="*/ 164 h 204"/>
                <a:gd name="T26" fmla="*/ 160 w 168"/>
                <a:gd name="T27" fmla="*/ 160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8" h="204">
                  <a:moveTo>
                    <a:pt x="123" y="87"/>
                  </a:moveTo>
                  <a:cubicBezTo>
                    <a:pt x="123" y="53"/>
                    <a:pt x="112" y="40"/>
                    <a:pt x="84" y="40"/>
                  </a:cubicBezTo>
                  <a:cubicBezTo>
                    <a:pt x="56" y="40"/>
                    <a:pt x="44" y="54"/>
                    <a:pt x="44" y="87"/>
                  </a:cubicBezTo>
                  <a:cubicBezTo>
                    <a:pt x="123" y="87"/>
                    <a:pt x="123" y="87"/>
                    <a:pt x="123" y="87"/>
                  </a:cubicBezTo>
                  <a:close/>
                  <a:moveTo>
                    <a:pt x="160" y="160"/>
                  </a:moveTo>
                  <a:cubicBezTo>
                    <a:pt x="161" y="195"/>
                    <a:pt x="161" y="195"/>
                    <a:pt x="161" y="195"/>
                  </a:cubicBezTo>
                  <a:cubicBezTo>
                    <a:pt x="161" y="195"/>
                    <a:pt x="116" y="204"/>
                    <a:pt x="82" y="204"/>
                  </a:cubicBezTo>
                  <a:cubicBezTo>
                    <a:pt x="22" y="204"/>
                    <a:pt x="0" y="173"/>
                    <a:pt x="0" y="104"/>
                  </a:cubicBezTo>
                  <a:cubicBezTo>
                    <a:pt x="0" y="36"/>
                    <a:pt x="30" y="0"/>
                    <a:pt x="84" y="0"/>
                  </a:cubicBezTo>
                  <a:cubicBezTo>
                    <a:pt x="139" y="0"/>
                    <a:pt x="168" y="28"/>
                    <a:pt x="168" y="89"/>
                  </a:cubicBezTo>
                  <a:cubicBezTo>
                    <a:pt x="164" y="121"/>
                    <a:pt x="164" y="121"/>
                    <a:pt x="164" y="121"/>
                  </a:cubicBezTo>
                  <a:cubicBezTo>
                    <a:pt x="44" y="121"/>
                    <a:pt x="44" y="121"/>
                    <a:pt x="44" y="121"/>
                  </a:cubicBezTo>
                  <a:cubicBezTo>
                    <a:pt x="45" y="150"/>
                    <a:pt x="56" y="164"/>
                    <a:pt x="88" y="164"/>
                  </a:cubicBezTo>
                  <a:cubicBezTo>
                    <a:pt x="120" y="164"/>
                    <a:pt x="160" y="160"/>
                    <a:pt x="160" y="16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a:p>
          </p:txBody>
        </p:sp>
        <p:sp>
          <p:nvSpPr>
            <p:cNvPr id="17" name="Freeform 12">
              <a:extLst>
                <a:ext uri="{FF2B5EF4-FFF2-40B4-BE49-F238E27FC236}">
                  <a16:creationId xmlns:a16="http://schemas.microsoft.com/office/drawing/2014/main" id="{C47B0BD8-8897-0E39-68EF-8572EF13C433}"/>
                </a:ext>
              </a:extLst>
            </p:cNvPr>
            <p:cNvSpPr>
              <a:spLocks/>
            </p:cNvSpPr>
            <p:nvPr userDrawn="1"/>
          </p:nvSpPr>
          <p:spPr bwMode="auto">
            <a:xfrm>
              <a:off x="5105" y="1864"/>
              <a:ext cx="294" cy="613"/>
            </a:xfrm>
            <a:custGeom>
              <a:avLst/>
              <a:gdLst>
                <a:gd name="T0" fmla="*/ 70 w 124"/>
                <a:gd name="T1" fmla="*/ 97 h 257"/>
                <a:gd name="T2" fmla="*/ 70 w 124"/>
                <a:gd name="T3" fmla="*/ 177 h 257"/>
                <a:gd name="T4" fmla="*/ 90 w 124"/>
                <a:gd name="T5" fmla="*/ 214 h 257"/>
                <a:gd name="T6" fmla="*/ 122 w 124"/>
                <a:gd name="T7" fmla="*/ 213 h 257"/>
                <a:gd name="T8" fmla="*/ 124 w 124"/>
                <a:gd name="T9" fmla="*/ 251 h 257"/>
                <a:gd name="T10" fmla="*/ 84 w 124"/>
                <a:gd name="T11" fmla="*/ 257 h 257"/>
                <a:gd name="T12" fmla="*/ 25 w 124"/>
                <a:gd name="T13" fmla="*/ 183 h 257"/>
                <a:gd name="T14" fmla="*/ 25 w 124"/>
                <a:gd name="T15" fmla="*/ 97 h 257"/>
                <a:gd name="T16" fmla="*/ 0 w 124"/>
                <a:gd name="T17" fmla="*/ 97 h 257"/>
                <a:gd name="T18" fmla="*/ 0 w 124"/>
                <a:gd name="T19" fmla="*/ 57 h 257"/>
                <a:gd name="T20" fmla="*/ 25 w 124"/>
                <a:gd name="T21" fmla="*/ 57 h 257"/>
                <a:gd name="T22" fmla="*/ 25 w 124"/>
                <a:gd name="T23" fmla="*/ 0 h 257"/>
                <a:gd name="T24" fmla="*/ 69 w 124"/>
                <a:gd name="T25" fmla="*/ 0 h 257"/>
                <a:gd name="T26" fmla="*/ 69 w 124"/>
                <a:gd name="T27" fmla="*/ 57 h 257"/>
                <a:gd name="T28" fmla="*/ 122 w 124"/>
                <a:gd name="T29" fmla="*/ 57 h 257"/>
                <a:gd name="T30" fmla="*/ 122 w 124"/>
                <a:gd name="T31" fmla="*/ 98 h 257"/>
                <a:gd name="T32" fmla="*/ 70 w 124"/>
                <a:gd name="T33" fmla="*/ 97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4" h="257">
                  <a:moveTo>
                    <a:pt x="70" y="97"/>
                  </a:moveTo>
                  <a:cubicBezTo>
                    <a:pt x="70" y="177"/>
                    <a:pt x="70" y="177"/>
                    <a:pt x="70" y="177"/>
                  </a:cubicBezTo>
                  <a:cubicBezTo>
                    <a:pt x="70" y="204"/>
                    <a:pt x="70" y="214"/>
                    <a:pt x="90" y="214"/>
                  </a:cubicBezTo>
                  <a:cubicBezTo>
                    <a:pt x="101" y="214"/>
                    <a:pt x="122" y="213"/>
                    <a:pt x="122" y="213"/>
                  </a:cubicBezTo>
                  <a:cubicBezTo>
                    <a:pt x="124" y="251"/>
                    <a:pt x="124" y="251"/>
                    <a:pt x="124" y="251"/>
                  </a:cubicBezTo>
                  <a:cubicBezTo>
                    <a:pt x="124" y="251"/>
                    <a:pt x="98" y="257"/>
                    <a:pt x="84" y="257"/>
                  </a:cubicBezTo>
                  <a:cubicBezTo>
                    <a:pt x="39" y="257"/>
                    <a:pt x="25" y="240"/>
                    <a:pt x="25" y="183"/>
                  </a:cubicBezTo>
                  <a:cubicBezTo>
                    <a:pt x="25" y="97"/>
                    <a:pt x="25" y="97"/>
                    <a:pt x="25" y="97"/>
                  </a:cubicBezTo>
                  <a:cubicBezTo>
                    <a:pt x="0" y="97"/>
                    <a:pt x="0" y="97"/>
                    <a:pt x="0" y="97"/>
                  </a:cubicBezTo>
                  <a:cubicBezTo>
                    <a:pt x="0" y="57"/>
                    <a:pt x="0" y="57"/>
                    <a:pt x="0" y="57"/>
                  </a:cubicBezTo>
                  <a:cubicBezTo>
                    <a:pt x="25" y="57"/>
                    <a:pt x="25" y="57"/>
                    <a:pt x="25" y="57"/>
                  </a:cubicBezTo>
                  <a:cubicBezTo>
                    <a:pt x="25" y="0"/>
                    <a:pt x="25" y="0"/>
                    <a:pt x="25" y="0"/>
                  </a:cubicBezTo>
                  <a:cubicBezTo>
                    <a:pt x="69" y="0"/>
                    <a:pt x="69" y="0"/>
                    <a:pt x="69" y="0"/>
                  </a:cubicBezTo>
                  <a:cubicBezTo>
                    <a:pt x="69" y="57"/>
                    <a:pt x="69" y="57"/>
                    <a:pt x="69" y="57"/>
                  </a:cubicBezTo>
                  <a:cubicBezTo>
                    <a:pt x="122" y="57"/>
                    <a:pt x="122" y="57"/>
                    <a:pt x="122" y="57"/>
                  </a:cubicBezTo>
                  <a:cubicBezTo>
                    <a:pt x="122" y="98"/>
                    <a:pt x="122" y="98"/>
                    <a:pt x="122" y="98"/>
                  </a:cubicBezTo>
                  <a:cubicBezTo>
                    <a:pt x="70" y="97"/>
                    <a:pt x="70" y="97"/>
                    <a:pt x="70" y="9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a:p>
          </p:txBody>
        </p:sp>
        <p:sp>
          <p:nvSpPr>
            <p:cNvPr id="18" name="Freeform 13">
              <a:extLst>
                <a:ext uri="{FF2B5EF4-FFF2-40B4-BE49-F238E27FC236}">
                  <a16:creationId xmlns:a16="http://schemas.microsoft.com/office/drawing/2014/main" id="{9CAA9130-0D0D-E8C1-B2A5-67980086685F}"/>
                </a:ext>
              </a:extLst>
            </p:cNvPr>
            <p:cNvSpPr>
              <a:spLocks/>
            </p:cNvSpPr>
            <p:nvPr userDrawn="1"/>
          </p:nvSpPr>
          <p:spPr bwMode="auto">
            <a:xfrm>
              <a:off x="5399" y="1762"/>
              <a:ext cx="74" cy="102"/>
            </a:xfrm>
            <a:custGeom>
              <a:avLst/>
              <a:gdLst>
                <a:gd name="T0" fmla="*/ 0 w 74"/>
                <a:gd name="T1" fmla="*/ 0 h 102"/>
                <a:gd name="T2" fmla="*/ 74 w 74"/>
                <a:gd name="T3" fmla="*/ 0 h 102"/>
                <a:gd name="T4" fmla="*/ 74 w 74"/>
                <a:gd name="T5" fmla="*/ 14 h 102"/>
                <a:gd name="T6" fmla="*/ 43 w 74"/>
                <a:gd name="T7" fmla="*/ 14 h 102"/>
                <a:gd name="T8" fmla="*/ 43 w 74"/>
                <a:gd name="T9" fmla="*/ 102 h 102"/>
                <a:gd name="T10" fmla="*/ 29 w 74"/>
                <a:gd name="T11" fmla="*/ 102 h 102"/>
                <a:gd name="T12" fmla="*/ 29 w 74"/>
                <a:gd name="T13" fmla="*/ 14 h 102"/>
                <a:gd name="T14" fmla="*/ 0 w 74"/>
                <a:gd name="T15" fmla="*/ 14 h 102"/>
                <a:gd name="T16" fmla="*/ 0 w 74"/>
                <a:gd name="T17"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102">
                  <a:moveTo>
                    <a:pt x="0" y="0"/>
                  </a:moveTo>
                  <a:lnTo>
                    <a:pt x="74" y="0"/>
                  </a:lnTo>
                  <a:lnTo>
                    <a:pt x="74" y="14"/>
                  </a:lnTo>
                  <a:lnTo>
                    <a:pt x="43" y="14"/>
                  </a:lnTo>
                  <a:lnTo>
                    <a:pt x="43" y="102"/>
                  </a:lnTo>
                  <a:lnTo>
                    <a:pt x="29" y="102"/>
                  </a:lnTo>
                  <a:lnTo>
                    <a:pt x="29" y="14"/>
                  </a:lnTo>
                  <a:lnTo>
                    <a:pt x="0" y="14"/>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a:p>
          </p:txBody>
        </p:sp>
        <p:sp>
          <p:nvSpPr>
            <p:cNvPr id="19" name="Freeform 14">
              <a:extLst>
                <a:ext uri="{FF2B5EF4-FFF2-40B4-BE49-F238E27FC236}">
                  <a16:creationId xmlns:a16="http://schemas.microsoft.com/office/drawing/2014/main" id="{DD3797B8-727F-48CF-A241-2F013E6AA18B}"/>
                </a:ext>
              </a:extLst>
            </p:cNvPr>
            <p:cNvSpPr>
              <a:spLocks/>
            </p:cNvSpPr>
            <p:nvPr userDrawn="1"/>
          </p:nvSpPr>
          <p:spPr bwMode="auto">
            <a:xfrm>
              <a:off x="5485" y="1762"/>
              <a:ext cx="99" cy="102"/>
            </a:xfrm>
            <a:custGeom>
              <a:avLst/>
              <a:gdLst>
                <a:gd name="T0" fmla="*/ 76 w 99"/>
                <a:gd name="T1" fmla="*/ 0 h 102"/>
                <a:gd name="T2" fmla="*/ 50 w 99"/>
                <a:gd name="T3" fmla="*/ 83 h 102"/>
                <a:gd name="T4" fmla="*/ 23 w 99"/>
                <a:gd name="T5" fmla="*/ 0 h 102"/>
                <a:gd name="T6" fmla="*/ 0 w 99"/>
                <a:gd name="T7" fmla="*/ 0 h 102"/>
                <a:gd name="T8" fmla="*/ 0 w 99"/>
                <a:gd name="T9" fmla="*/ 102 h 102"/>
                <a:gd name="T10" fmla="*/ 14 w 99"/>
                <a:gd name="T11" fmla="*/ 102 h 102"/>
                <a:gd name="T12" fmla="*/ 14 w 99"/>
                <a:gd name="T13" fmla="*/ 17 h 102"/>
                <a:gd name="T14" fmla="*/ 16 w 99"/>
                <a:gd name="T15" fmla="*/ 17 h 102"/>
                <a:gd name="T16" fmla="*/ 42 w 99"/>
                <a:gd name="T17" fmla="*/ 100 h 102"/>
                <a:gd name="T18" fmla="*/ 57 w 99"/>
                <a:gd name="T19" fmla="*/ 100 h 102"/>
                <a:gd name="T20" fmla="*/ 83 w 99"/>
                <a:gd name="T21" fmla="*/ 17 h 102"/>
                <a:gd name="T22" fmla="*/ 85 w 99"/>
                <a:gd name="T23" fmla="*/ 17 h 102"/>
                <a:gd name="T24" fmla="*/ 85 w 99"/>
                <a:gd name="T25" fmla="*/ 102 h 102"/>
                <a:gd name="T26" fmla="*/ 99 w 99"/>
                <a:gd name="T27" fmla="*/ 102 h 102"/>
                <a:gd name="T28" fmla="*/ 99 w 99"/>
                <a:gd name="T29" fmla="*/ 0 h 102"/>
                <a:gd name="T30" fmla="*/ 76 w 99"/>
                <a:gd name="T31"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9" h="102">
                  <a:moveTo>
                    <a:pt x="76" y="0"/>
                  </a:moveTo>
                  <a:lnTo>
                    <a:pt x="50" y="83"/>
                  </a:lnTo>
                  <a:lnTo>
                    <a:pt x="23" y="0"/>
                  </a:lnTo>
                  <a:lnTo>
                    <a:pt x="0" y="0"/>
                  </a:lnTo>
                  <a:lnTo>
                    <a:pt x="0" y="102"/>
                  </a:lnTo>
                  <a:lnTo>
                    <a:pt x="14" y="102"/>
                  </a:lnTo>
                  <a:lnTo>
                    <a:pt x="14" y="17"/>
                  </a:lnTo>
                  <a:lnTo>
                    <a:pt x="16" y="17"/>
                  </a:lnTo>
                  <a:lnTo>
                    <a:pt x="42" y="100"/>
                  </a:lnTo>
                  <a:lnTo>
                    <a:pt x="57" y="100"/>
                  </a:lnTo>
                  <a:lnTo>
                    <a:pt x="83" y="17"/>
                  </a:lnTo>
                  <a:lnTo>
                    <a:pt x="85" y="17"/>
                  </a:lnTo>
                  <a:lnTo>
                    <a:pt x="85" y="102"/>
                  </a:lnTo>
                  <a:lnTo>
                    <a:pt x="99" y="102"/>
                  </a:lnTo>
                  <a:lnTo>
                    <a:pt x="99" y="0"/>
                  </a:lnTo>
                  <a:lnTo>
                    <a:pt x="7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a:p>
          </p:txBody>
        </p:sp>
      </p:grpSp>
    </p:spTree>
    <p:extLst>
      <p:ext uri="{BB962C8B-B14F-4D97-AF65-F5344CB8AC3E}">
        <p14:creationId xmlns:p14="http://schemas.microsoft.com/office/powerpoint/2010/main" val="223874617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E00A86-4329-8E4C-6F29-A389A2D01899}"/>
              </a:ext>
            </a:extLst>
          </p:cNvPr>
          <p:cNvSpPr>
            <a:spLocks noGrp="1"/>
          </p:cNvSpPr>
          <p:nvPr>
            <p:ph type="dt" sz="half" idx="10"/>
          </p:nvPr>
        </p:nvSpPr>
        <p:spPr/>
        <p:txBody>
          <a:bodyPr/>
          <a:lstStyle/>
          <a:p>
            <a:fld id="{EBA6311C-2023-4FE3-BE7E-8450E339D675}" type="datetimeFigureOut">
              <a:rPr lang="en-US" smtClean="0"/>
              <a:t>10/28/2026</a:t>
            </a:fld>
            <a:endParaRPr lang="en-US"/>
          </a:p>
        </p:txBody>
      </p:sp>
      <p:sp>
        <p:nvSpPr>
          <p:cNvPr id="3" name="Footer Placeholder 2">
            <a:extLst>
              <a:ext uri="{FF2B5EF4-FFF2-40B4-BE49-F238E27FC236}">
                <a16:creationId xmlns:a16="http://schemas.microsoft.com/office/drawing/2014/main" id="{2F16D743-7CE2-92CE-B738-C0D6E3A5143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534991F-3311-7406-DC16-B84822B74DD4}"/>
              </a:ext>
            </a:extLst>
          </p:cNvPr>
          <p:cNvSpPr>
            <a:spLocks noGrp="1"/>
          </p:cNvSpPr>
          <p:nvPr>
            <p:ph type="sldNum" sz="quarter" idx="12"/>
          </p:nvPr>
        </p:nvSpPr>
        <p:spPr/>
        <p:txBody>
          <a:bodyPr/>
          <a:lstStyle/>
          <a:p>
            <a:fld id="{6E1A989A-B549-4E5B-9915-6F9BDD6C1FAE}" type="slidenum">
              <a:rPr lang="en-US" smtClean="0"/>
              <a:t>‹#›</a:t>
            </a:fld>
            <a:endParaRPr lang="en-US"/>
          </a:p>
        </p:txBody>
      </p:sp>
    </p:spTree>
    <p:extLst>
      <p:ext uri="{BB962C8B-B14F-4D97-AF65-F5344CB8AC3E}">
        <p14:creationId xmlns:p14="http://schemas.microsoft.com/office/powerpoint/2010/main" val="20658123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3A434486-BE17-BB04-E361-D8C833A3BA39}"/>
              </a:ext>
            </a:extLst>
          </p:cNvPr>
          <p:cNvSpPr/>
          <p:nvPr userDrawn="1"/>
        </p:nvSpPr>
        <p:spPr>
          <a:xfrm flipH="1">
            <a:off x="0" y="0"/>
            <a:ext cx="3194104" cy="5248422"/>
          </a:xfrm>
          <a:custGeom>
            <a:avLst/>
            <a:gdLst>
              <a:gd name="connsiteX0" fmla="*/ 3194104 w 3194104"/>
              <a:gd name="connsiteY0" fmla="*/ 0 h 5248422"/>
              <a:gd name="connsiteX1" fmla="*/ 0 w 3194104"/>
              <a:gd name="connsiteY1" fmla="*/ 0 h 5248422"/>
              <a:gd name="connsiteX2" fmla="*/ 0 w 3194104"/>
              <a:gd name="connsiteY2" fmla="*/ 21976 h 5248422"/>
              <a:gd name="connsiteX3" fmla="*/ 683687 w 3194104"/>
              <a:gd name="connsiteY3" fmla="*/ 21976 h 5248422"/>
              <a:gd name="connsiteX4" fmla="*/ 709007 w 3194104"/>
              <a:gd name="connsiteY4" fmla="*/ 3828940 h 5248422"/>
              <a:gd name="connsiteX5" fmla="*/ 706291 w 3194104"/>
              <a:gd name="connsiteY5" fmla="*/ 3855308 h 5248422"/>
              <a:gd name="connsiteX6" fmla="*/ 768540 w 3194104"/>
              <a:gd name="connsiteY6" fmla="*/ 4346034 h 5248422"/>
              <a:gd name="connsiteX7" fmla="*/ 1879457 w 3194104"/>
              <a:gd name="connsiteY7" fmla="*/ 5248010 h 5248422"/>
              <a:gd name="connsiteX8" fmla="*/ 2214565 w 3194104"/>
              <a:gd name="connsiteY8" fmla="*/ 5201317 h 5248422"/>
              <a:gd name="connsiteX9" fmla="*/ 2215110 w 3194104"/>
              <a:gd name="connsiteY9" fmla="*/ 5201110 h 5248422"/>
              <a:gd name="connsiteX10" fmla="*/ 2215139 w 3194104"/>
              <a:gd name="connsiteY10" fmla="*/ 5201135 h 5248422"/>
              <a:gd name="connsiteX11" fmla="*/ 3194104 w 3194104"/>
              <a:gd name="connsiteY11" fmla="*/ 4895507 h 5248422"/>
              <a:gd name="connsiteX12" fmla="*/ 3194104 w 3194104"/>
              <a:gd name="connsiteY12" fmla="*/ 0 h 5248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94104" h="5248422">
                <a:moveTo>
                  <a:pt x="3194104" y="0"/>
                </a:moveTo>
                <a:lnTo>
                  <a:pt x="0" y="0"/>
                </a:lnTo>
                <a:lnTo>
                  <a:pt x="0" y="21976"/>
                </a:lnTo>
                <a:lnTo>
                  <a:pt x="683687" y="21976"/>
                </a:lnTo>
                <a:lnTo>
                  <a:pt x="709007" y="3828940"/>
                </a:lnTo>
                <a:lnTo>
                  <a:pt x="706291" y="3855308"/>
                </a:lnTo>
                <a:cubicBezTo>
                  <a:pt x="697121" y="4015058"/>
                  <a:pt x="716631" y="4181369"/>
                  <a:pt x="768540" y="4346034"/>
                </a:cubicBezTo>
                <a:cubicBezTo>
                  <a:pt x="937243" y="4881195"/>
                  <a:pt x="1396264" y="5234327"/>
                  <a:pt x="1879457" y="5248010"/>
                </a:cubicBezTo>
                <a:cubicBezTo>
                  <a:pt x="1990963" y="5251167"/>
                  <a:pt x="2103755" y="5236248"/>
                  <a:pt x="2214565" y="5201317"/>
                </a:cubicBezTo>
                <a:lnTo>
                  <a:pt x="2215110" y="5201110"/>
                </a:lnTo>
                <a:cubicBezTo>
                  <a:pt x="2215120" y="5201118"/>
                  <a:pt x="2215129" y="5201127"/>
                  <a:pt x="2215139" y="5201135"/>
                </a:cubicBezTo>
                <a:lnTo>
                  <a:pt x="3194104" y="4895507"/>
                </a:lnTo>
                <a:lnTo>
                  <a:pt x="3194104" y="0"/>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5" name="Freeform: Shape 4">
            <a:extLst>
              <a:ext uri="{FF2B5EF4-FFF2-40B4-BE49-F238E27FC236}">
                <a16:creationId xmlns:a16="http://schemas.microsoft.com/office/drawing/2014/main" id="{790384C8-44F7-91DA-4867-6FB1D8F62C7F}"/>
              </a:ext>
            </a:extLst>
          </p:cNvPr>
          <p:cNvSpPr/>
          <p:nvPr userDrawn="1"/>
        </p:nvSpPr>
        <p:spPr>
          <a:xfrm rot="8552419">
            <a:off x="-419291" y="-303318"/>
            <a:ext cx="2372071" cy="2187678"/>
          </a:xfrm>
          <a:custGeom>
            <a:avLst/>
            <a:gdLst>
              <a:gd name="connsiteX0" fmla="*/ 1313867 w 2372071"/>
              <a:gd name="connsiteY0" fmla="*/ 2187678 h 2187678"/>
              <a:gd name="connsiteX1" fmla="*/ 0 w 2372071"/>
              <a:gd name="connsiteY1" fmla="*/ 1180980 h 2187678"/>
              <a:gd name="connsiteX2" fmla="*/ 717206 w 2372071"/>
              <a:gd name="connsiteY2" fmla="*/ 295905 h 2187678"/>
              <a:gd name="connsiteX3" fmla="*/ 1958247 w 2372071"/>
              <a:gd name="connsiteY3" fmla="*/ 295905 h 2187678"/>
              <a:gd name="connsiteX4" fmla="*/ 2372071 w 2372071"/>
              <a:gd name="connsiteY4" fmla="*/ 806588 h 2187678"/>
              <a:gd name="connsiteX5" fmla="*/ 1313867 w 2372071"/>
              <a:gd name="connsiteY5" fmla="*/ 2187678 h 2187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72071" h="2187678">
                <a:moveTo>
                  <a:pt x="1313867" y="2187678"/>
                </a:moveTo>
                <a:lnTo>
                  <a:pt x="0" y="1180980"/>
                </a:lnTo>
                <a:lnTo>
                  <a:pt x="717206" y="295905"/>
                </a:lnTo>
                <a:cubicBezTo>
                  <a:pt x="1036900" y="-98636"/>
                  <a:pt x="1638554" y="-98636"/>
                  <a:pt x="1958247" y="295905"/>
                </a:cubicBezTo>
                <a:lnTo>
                  <a:pt x="2372071" y="806588"/>
                </a:lnTo>
                <a:lnTo>
                  <a:pt x="1313867" y="2187678"/>
                </a:lnTo>
                <a:close/>
              </a:path>
            </a:pathLst>
          </a:custGeom>
          <a:gradFill>
            <a:gsLst>
              <a:gs pos="6000">
                <a:srgbClr val="EA4335">
                  <a:alpha val="75000"/>
                </a:srgbClr>
              </a:gs>
              <a:gs pos="94000">
                <a:srgbClr val="F2CB0A">
                  <a:alpha val="50000"/>
                </a:srgbClr>
              </a:gs>
            </a:gsLst>
            <a:lin ang="16800000" scaled="0"/>
          </a:gradFill>
          <a:ln w="3604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6" name="TextBox 35">
            <a:extLst>
              <a:ext uri="{FF2B5EF4-FFF2-40B4-BE49-F238E27FC236}">
                <a16:creationId xmlns:a16="http://schemas.microsoft.com/office/drawing/2014/main" id="{359E3BCE-7CDA-BACA-8ED6-894F9D7688E0}"/>
              </a:ext>
            </a:extLst>
          </p:cNvPr>
          <p:cNvSpPr txBox="1"/>
          <p:nvPr userDrawn="1"/>
        </p:nvSpPr>
        <p:spPr>
          <a:xfrm>
            <a:off x="230907" y="6376043"/>
            <a:ext cx="683988" cy="307777"/>
          </a:xfrm>
          <a:prstGeom prst="rect">
            <a:avLst/>
          </a:prstGeom>
          <a:noFill/>
        </p:spPr>
        <p:txBody>
          <a:bodyPr wrap="square" anchor="t">
            <a:spAutoFit/>
          </a:bodyPr>
          <a:lstStyle/>
          <a:p>
            <a:r>
              <a:rPr lang="fr-CA" sz="1400" b="0">
                <a:solidFill>
                  <a:srgbClr val="50152C"/>
                </a:solidFill>
                <a:latin typeface="Arial" panose="020B0604020202020204" pitchFamily="34" charset="0"/>
                <a:cs typeface="Arial" panose="020B0604020202020204" pitchFamily="34" charset="0"/>
              </a:rPr>
              <a:t>P.</a:t>
            </a:r>
            <a:endParaRPr lang="fr-CA" sz="1400" b="0">
              <a:latin typeface="Arial" panose="020B0604020202020204" pitchFamily="34" charset="0"/>
              <a:cs typeface="Arial" panose="020B0604020202020204" pitchFamily="34" charset="0"/>
            </a:endParaRPr>
          </a:p>
        </p:txBody>
      </p:sp>
      <p:sp>
        <p:nvSpPr>
          <p:cNvPr id="2" name="Title Placeholder 1">
            <a:extLst>
              <a:ext uri="{FF2B5EF4-FFF2-40B4-BE49-F238E27FC236}">
                <a16:creationId xmlns:a16="http://schemas.microsoft.com/office/drawing/2014/main" id="{8827BF98-4251-C443-D28D-8D949F7E7270}"/>
              </a:ext>
            </a:extLst>
          </p:cNvPr>
          <p:cNvSpPr>
            <a:spLocks noGrp="1"/>
          </p:cNvSpPr>
          <p:nvPr>
            <p:ph type="title"/>
          </p:nvPr>
        </p:nvSpPr>
        <p:spPr>
          <a:xfrm>
            <a:off x="2992464" y="301088"/>
            <a:ext cx="8753927" cy="936733"/>
          </a:xfrm>
          <a:prstGeom prst="rect">
            <a:avLst/>
          </a:prstGeom>
        </p:spPr>
        <p:txBody>
          <a:bodyPr vert="horz" lIns="91440" tIns="45720" rIns="91440" bIns="45720" rtlCol="0" anchor="ctr">
            <a:normAutofit/>
          </a:bodyPr>
          <a:lstStyle/>
          <a:p>
            <a:r>
              <a:rPr lang="en-US"/>
              <a:t>Click to edit Master title style</a:t>
            </a:r>
            <a:endParaRPr lang="fr-CA"/>
          </a:p>
        </p:txBody>
      </p:sp>
      <p:sp>
        <p:nvSpPr>
          <p:cNvPr id="3" name="Text Placeholder 2">
            <a:extLst>
              <a:ext uri="{FF2B5EF4-FFF2-40B4-BE49-F238E27FC236}">
                <a16:creationId xmlns:a16="http://schemas.microsoft.com/office/drawing/2014/main" id="{146D8FBF-A8BE-C219-ACF8-4D4CD69CEA84}"/>
              </a:ext>
            </a:extLst>
          </p:cNvPr>
          <p:cNvSpPr>
            <a:spLocks noGrp="1"/>
          </p:cNvSpPr>
          <p:nvPr>
            <p:ph type="body" idx="1"/>
          </p:nvPr>
        </p:nvSpPr>
        <p:spPr>
          <a:xfrm>
            <a:off x="2992464" y="1496198"/>
            <a:ext cx="8753926" cy="49579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34" name="Slide Number Placeholder 5">
            <a:extLst>
              <a:ext uri="{FF2B5EF4-FFF2-40B4-BE49-F238E27FC236}">
                <a16:creationId xmlns:a16="http://schemas.microsoft.com/office/drawing/2014/main" id="{3FA12EA4-1A08-D8DD-C198-C4CCEB44941F}"/>
              </a:ext>
            </a:extLst>
          </p:cNvPr>
          <p:cNvSpPr txBox="1">
            <a:spLocks/>
          </p:cNvSpPr>
          <p:nvPr userDrawn="1"/>
        </p:nvSpPr>
        <p:spPr>
          <a:xfrm>
            <a:off x="486368" y="6376043"/>
            <a:ext cx="549952" cy="307778"/>
          </a:xfrm>
          <a:prstGeom prst="rect">
            <a:avLst/>
          </a:prstGeom>
        </p:spPr>
        <p:txBody>
          <a:bodyPr vert="horz" lIns="0" tIns="45720" rIns="91440" bIns="45720" rtlCol="0" anchor="t"/>
          <a:lstStyle>
            <a:defPPr>
              <a:defRPr lang="fr-FR"/>
            </a:defPPr>
            <a:lvl1pPr marL="0" algn="l" defTabSz="91440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12F0B28-D135-404C-B963-539A79E1DE99}" type="slidenum">
              <a:rPr lang="fr-CA" sz="1400" b="0" smtClean="0">
                <a:solidFill>
                  <a:schemeClr val="bg1">
                    <a:lumMod val="65000"/>
                  </a:schemeClr>
                </a:solidFill>
              </a:rPr>
              <a:pPr/>
              <a:t>‹#›</a:t>
            </a:fld>
            <a:endParaRPr lang="fr-CA" sz="1400" b="0">
              <a:solidFill>
                <a:schemeClr val="bg1">
                  <a:lumMod val="65000"/>
                </a:schemeClr>
              </a:solidFill>
            </a:endParaRPr>
          </a:p>
        </p:txBody>
      </p:sp>
    </p:spTree>
    <p:extLst>
      <p:ext uri="{BB962C8B-B14F-4D97-AF65-F5344CB8AC3E}">
        <p14:creationId xmlns:p14="http://schemas.microsoft.com/office/powerpoint/2010/main" val="2722427727"/>
      </p:ext>
    </p:extLst>
  </p:cSld>
  <p:clrMap bg1="lt1" tx1="dk1" bg2="lt2" tx2="dk2" accent1="accent1" accent2="accent2" accent3="accent3" accent4="accent4" accent5="accent5" accent6="accent6" hlink="hlink" folHlink="folHlink"/>
  <p:sldLayoutIdLst>
    <p:sldLayoutId id="2147483649" r:id="rId1"/>
    <p:sldLayoutId id="2147483695" r:id="rId2"/>
    <p:sldLayoutId id="2147483659" r:id="rId3"/>
    <p:sldLayoutId id="2147483658" r:id="rId4"/>
    <p:sldLayoutId id="2147483660" r:id="rId5"/>
    <p:sldLayoutId id="2147483683" r:id="rId6"/>
    <p:sldLayoutId id="2147483684" r:id="rId7"/>
    <p:sldLayoutId id="2147483685" r:id="rId8"/>
    <p:sldLayoutId id="2147483686" r:id="rId9"/>
    <p:sldLayoutId id="2147483661" r:id="rId10"/>
    <p:sldLayoutId id="2147483677" r:id="rId11"/>
    <p:sldLayoutId id="2147483670" r:id="rId12"/>
    <p:sldLayoutId id="2147483671" r:id="rId13"/>
    <p:sldLayoutId id="2147483672" r:id="rId14"/>
    <p:sldLayoutId id="2147483673" r:id="rId15"/>
    <p:sldLayoutId id="2147483662" r:id="rId16"/>
    <p:sldLayoutId id="2147483680" r:id="rId17"/>
    <p:sldLayoutId id="2147483681" r:id="rId18"/>
    <p:sldLayoutId id="2147483687" r:id="rId19"/>
    <p:sldLayoutId id="2147483688" r:id="rId20"/>
    <p:sldLayoutId id="2147483689" r:id="rId21"/>
    <p:sldLayoutId id="2147483692" r:id="rId22"/>
    <p:sldLayoutId id="2147483690" r:id="rId23"/>
    <p:sldLayoutId id="2147483691" r:id="rId24"/>
    <p:sldLayoutId id="2147483693" r:id="rId25"/>
    <p:sldLayoutId id="2147483694" r:id="rId26"/>
    <p:sldLayoutId id="2147483651" r:id="rId27"/>
    <p:sldLayoutId id="2147483682" r:id="rId28"/>
    <p:sldLayoutId id="2147483696" r:id="rId29"/>
    <p:sldLayoutId id="2147483697" r:id="rId30"/>
  </p:sldLayoutIdLst>
  <p:hf hdr="0" ftr="0" dt="0"/>
  <p:txStyles>
    <p:titleStyle>
      <a:lvl1pPr algn="l" defTabSz="914400" rtl="0" eaLnBrk="1" latinLnBrk="0" hangingPunct="1">
        <a:lnSpc>
          <a:spcPct val="90000"/>
        </a:lnSpc>
        <a:spcBef>
          <a:spcPct val="0"/>
        </a:spcBef>
        <a:buNone/>
        <a:defRPr sz="3200" b="0" kern="1200">
          <a:solidFill>
            <a:srgbClr val="F68D2E"/>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Clr>
          <a:srgbClr val="F68D2E"/>
        </a:buClr>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Clr>
          <a:srgbClr val="F68D2E"/>
        </a:buClr>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Clr>
          <a:srgbClr val="F68D2E"/>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Clr>
          <a:srgbClr val="F68D2E"/>
        </a:buClr>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Clr>
          <a:srgbClr val="F68D2E"/>
        </a:buClr>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3C135-D06D-3B78-1CD6-00D723E5D853}"/>
              </a:ext>
            </a:extLst>
          </p:cNvPr>
          <p:cNvSpPr>
            <a:spLocks noGrp="1"/>
          </p:cNvSpPr>
          <p:nvPr>
            <p:ph type="title"/>
          </p:nvPr>
        </p:nvSpPr>
        <p:spPr/>
        <p:txBody>
          <a:bodyPr/>
          <a:lstStyle/>
          <a:p>
            <a:r>
              <a:rPr lang="en-CA"/>
              <a:t>Azure Databricks Platform Handoff</a:t>
            </a:r>
          </a:p>
        </p:txBody>
      </p:sp>
      <p:sp>
        <p:nvSpPr>
          <p:cNvPr id="3" name="Text Placeholder 2">
            <a:extLst>
              <a:ext uri="{FF2B5EF4-FFF2-40B4-BE49-F238E27FC236}">
                <a16:creationId xmlns:a16="http://schemas.microsoft.com/office/drawing/2014/main" id="{F1B1A854-18DA-B4B3-4A16-E887E2B3E3D3}"/>
              </a:ext>
            </a:extLst>
          </p:cNvPr>
          <p:cNvSpPr>
            <a:spLocks noGrp="1"/>
          </p:cNvSpPr>
          <p:nvPr>
            <p:ph type="body" idx="1"/>
          </p:nvPr>
        </p:nvSpPr>
        <p:spPr/>
        <p:txBody>
          <a:bodyPr/>
          <a:lstStyle/>
          <a:p>
            <a:r>
              <a:rPr lang="en-CA"/>
              <a:t>Prepared for:</a:t>
            </a:r>
            <a:br>
              <a:rPr lang="en-CA"/>
            </a:br>
            <a:r>
              <a:rPr lang="en-CA"/>
              <a:t>Baytex Energy</a:t>
            </a:r>
          </a:p>
        </p:txBody>
      </p:sp>
    </p:spTree>
    <p:extLst>
      <p:ext uri="{BB962C8B-B14F-4D97-AF65-F5344CB8AC3E}">
        <p14:creationId xmlns:p14="http://schemas.microsoft.com/office/powerpoint/2010/main" val="24606653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7AC15-438C-CD7B-46FF-3D30E5F8EBE6}"/>
              </a:ext>
            </a:extLst>
          </p:cNvPr>
          <p:cNvSpPr>
            <a:spLocks noGrp="1"/>
          </p:cNvSpPr>
          <p:nvPr>
            <p:ph type="title"/>
          </p:nvPr>
        </p:nvSpPr>
        <p:spPr/>
        <p:txBody>
          <a:bodyPr/>
          <a:lstStyle/>
          <a:p>
            <a:r>
              <a:rPr lang="en-CA">
                <a:solidFill>
                  <a:srgbClr val="FFFFFF"/>
                </a:solidFill>
              </a:rPr>
              <a:t>Platform Overview</a:t>
            </a:r>
          </a:p>
        </p:txBody>
      </p:sp>
      <p:sp>
        <p:nvSpPr>
          <p:cNvPr id="3" name="Text Placeholder 2">
            <a:extLst>
              <a:ext uri="{FF2B5EF4-FFF2-40B4-BE49-F238E27FC236}">
                <a16:creationId xmlns:a16="http://schemas.microsoft.com/office/drawing/2014/main" id="{938EB273-7A5F-CB8A-C3CA-D68C38662C83}"/>
              </a:ext>
            </a:extLst>
          </p:cNvPr>
          <p:cNvSpPr>
            <a:spLocks noGrp="1"/>
          </p:cNvSpPr>
          <p:nvPr>
            <p:ph type="body" idx="1"/>
          </p:nvPr>
        </p:nvSpPr>
        <p:spPr/>
        <p:txBody>
          <a:bodyPr/>
          <a:lstStyle/>
          <a:p>
            <a:r>
              <a:rPr lang="en-US"/>
              <a:t>What we built and how it fits together</a:t>
            </a:r>
            <a:endParaRPr lang="en-CA"/>
          </a:p>
        </p:txBody>
      </p:sp>
    </p:spTree>
    <p:extLst>
      <p:ext uri="{BB962C8B-B14F-4D97-AF65-F5344CB8AC3E}">
        <p14:creationId xmlns:p14="http://schemas.microsoft.com/office/powerpoint/2010/main" val="10246664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FDC0C-C508-F56B-ED45-A4573FC11E03}"/>
              </a:ext>
            </a:extLst>
          </p:cNvPr>
          <p:cNvSpPr>
            <a:spLocks noGrp="1"/>
          </p:cNvSpPr>
          <p:nvPr>
            <p:ph type="title"/>
          </p:nvPr>
        </p:nvSpPr>
        <p:spPr/>
        <p:txBody>
          <a:bodyPr>
            <a:normAutofit/>
          </a:bodyPr>
          <a:lstStyle/>
          <a:p>
            <a:r>
              <a:rPr lang="en-CA" b="1">
                <a:latin typeface="Aptos Display" panose="020B0004020202020204" pitchFamily="34" charset="0"/>
              </a:rPr>
              <a:t>What We Built</a:t>
            </a:r>
          </a:p>
        </p:txBody>
      </p:sp>
      <p:sp>
        <p:nvSpPr>
          <p:cNvPr id="4" name="TextBox 3">
            <a:extLst>
              <a:ext uri="{FF2B5EF4-FFF2-40B4-BE49-F238E27FC236}">
                <a16:creationId xmlns:a16="http://schemas.microsoft.com/office/drawing/2014/main" id="{66EC3368-5813-85D0-3CC0-FB34A0787C3E}"/>
              </a:ext>
            </a:extLst>
          </p:cNvPr>
          <p:cNvSpPr txBox="1"/>
          <p:nvPr/>
        </p:nvSpPr>
        <p:spPr>
          <a:xfrm>
            <a:off x="2844800" y="1320800"/>
            <a:ext cx="8902700" cy="558800"/>
          </a:xfrm>
          <a:prstGeom prst="rect">
            <a:avLst/>
          </a:prstGeom>
          <a:noFill/>
        </p:spPr>
        <p:txBody>
          <a:bodyPr vert="horz" wrap="square" lIns="0" tIns="0" rIns="0" bIns="0" rtlCol="0" anchor="t">
            <a:noAutofit/>
          </a:bodyPr>
          <a:lstStyle/>
          <a:p>
            <a:r>
              <a:rPr lang="en-US" sz="1500">
                <a:solidFill>
                  <a:srgbClr val="262626"/>
                </a:solidFill>
                <a:latin typeface="Calibri" panose="020F0502020204030204" pitchFamily="34" charset="0"/>
              </a:rPr>
              <a:t>One set of Terraform code builds three isolated environments, each connected to the existing Baytex hub. Every change reaches Azure through a reviewed and approved pipeline.</a:t>
            </a:r>
            <a:endParaRPr lang="en-CA" sz="1500">
              <a:solidFill>
                <a:srgbClr val="262626"/>
              </a:solidFill>
              <a:latin typeface="Calibri" panose="020F0502020204030204" pitchFamily="34" charset="0"/>
            </a:endParaRPr>
          </a:p>
        </p:txBody>
      </p:sp>
      <p:sp>
        <p:nvSpPr>
          <p:cNvPr id="5" name="Rectangle: Rounded Corners 4">
            <a:extLst>
              <a:ext uri="{FF2B5EF4-FFF2-40B4-BE49-F238E27FC236}">
                <a16:creationId xmlns:a16="http://schemas.microsoft.com/office/drawing/2014/main" id="{B736CE35-A8F9-4F3D-2BF0-56D061BEFBC0}"/>
              </a:ext>
            </a:extLst>
          </p:cNvPr>
          <p:cNvSpPr/>
          <p:nvPr/>
        </p:nvSpPr>
        <p:spPr>
          <a:xfrm>
            <a:off x="2844800" y="2057400"/>
            <a:ext cx="2082800" cy="2590800"/>
          </a:xfrm>
          <a:prstGeom prst="roundRect">
            <a:avLst>
              <a:gd name="adj" fmla="val 6000"/>
            </a:avLst>
          </a:prstGeom>
          <a:solidFill>
            <a:srgbClr val="50152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 name="TextBox 5">
            <a:extLst>
              <a:ext uri="{FF2B5EF4-FFF2-40B4-BE49-F238E27FC236}">
                <a16:creationId xmlns:a16="http://schemas.microsoft.com/office/drawing/2014/main" id="{F452AF32-163E-90A5-88DF-96F2F41DB598}"/>
              </a:ext>
            </a:extLst>
          </p:cNvPr>
          <p:cNvSpPr txBox="1"/>
          <p:nvPr/>
        </p:nvSpPr>
        <p:spPr>
          <a:xfrm>
            <a:off x="3022600" y="2209800"/>
            <a:ext cx="1727200" cy="660400"/>
          </a:xfrm>
          <a:prstGeom prst="rect">
            <a:avLst/>
          </a:prstGeom>
          <a:noFill/>
        </p:spPr>
        <p:txBody>
          <a:bodyPr vert="horz" wrap="square" lIns="0" tIns="0" rIns="0" bIns="0" rtlCol="0" anchor="t">
            <a:noAutofit/>
          </a:bodyPr>
          <a:lstStyle/>
          <a:p>
            <a:r>
              <a:rPr lang="en-CA" sz="4400" b="1">
                <a:solidFill>
                  <a:srgbClr val="F68D2E"/>
                </a:solidFill>
                <a:latin typeface="Aptos Display" panose="020B0004020202020204" pitchFamily="34" charset="0"/>
              </a:rPr>
              <a:t>3</a:t>
            </a:r>
          </a:p>
        </p:txBody>
      </p:sp>
      <p:sp>
        <p:nvSpPr>
          <p:cNvPr id="7" name="TextBox 6">
            <a:extLst>
              <a:ext uri="{FF2B5EF4-FFF2-40B4-BE49-F238E27FC236}">
                <a16:creationId xmlns:a16="http://schemas.microsoft.com/office/drawing/2014/main" id="{B806DD60-D8BE-6ACC-D4DE-1779C0C7112C}"/>
              </a:ext>
            </a:extLst>
          </p:cNvPr>
          <p:cNvSpPr txBox="1"/>
          <p:nvPr/>
        </p:nvSpPr>
        <p:spPr>
          <a:xfrm>
            <a:off x="3022600" y="2946400"/>
            <a:ext cx="1727200" cy="254000"/>
          </a:xfrm>
          <a:prstGeom prst="rect">
            <a:avLst/>
          </a:prstGeom>
          <a:noFill/>
        </p:spPr>
        <p:txBody>
          <a:bodyPr vert="horz" wrap="square" lIns="0" tIns="0" rIns="0" bIns="0" rtlCol="0" anchor="t">
            <a:noAutofit/>
          </a:bodyPr>
          <a:lstStyle/>
          <a:p>
            <a:r>
              <a:rPr lang="en-CA" sz="1400" b="1">
                <a:solidFill>
                  <a:srgbClr val="FFFFFF"/>
                </a:solidFill>
                <a:latin typeface="Aptos Display" panose="020B0004020202020204" pitchFamily="34" charset="0"/>
              </a:rPr>
              <a:t>Environments</a:t>
            </a:r>
          </a:p>
        </p:txBody>
      </p:sp>
      <p:sp>
        <p:nvSpPr>
          <p:cNvPr id="8" name="TextBox 7">
            <a:extLst>
              <a:ext uri="{FF2B5EF4-FFF2-40B4-BE49-F238E27FC236}">
                <a16:creationId xmlns:a16="http://schemas.microsoft.com/office/drawing/2014/main" id="{45B88280-A060-96F5-6991-A4F3CC8FA5FC}"/>
              </a:ext>
            </a:extLst>
          </p:cNvPr>
          <p:cNvSpPr txBox="1"/>
          <p:nvPr/>
        </p:nvSpPr>
        <p:spPr>
          <a:xfrm>
            <a:off x="3022600" y="3251200"/>
            <a:ext cx="1727200" cy="1270000"/>
          </a:xfrm>
          <a:prstGeom prst="rect">
            <a:avLst/>
          </a:prstGeom>
          <a:noFill/>
        </p:spPr>
        <p:txBody>
          <a:bodyPr vert="horz" wrap="square" lIns="0" tIns="0" rIns="0" bIns="0" rtlCol="0" anchor="t">
            <a:noAutofit/>
          </a:bodyPr>
          <a:lstStyle/>
          <a:p>
            <a:r>
              <a:rPr lang="en-US" sz="1300">
                <a:solidFill>
                  <a:srgbClr val="F3D9E0"/>
                </a:solidFill>
                <a:latin typeface="Calibri" panose="020F0502020204030204" pitchFamily="34" charset="0"/>
              </a:rPr>
              <a:t>Dev, test and prod, each in its own subscription and spoke network</a:t>
            </a:r>
            <a:endParaRPr lang="en-CA" sz="1300">
              <a:solidFill>
                <a:srgbClr val="F3D9E0"/>
              </a:solidFill>
              <a:latin typeface="Calibri" panose="020F0502020204030204" pitchFamily="34" charset="0"/>
            </a:endParaRPr>
          </a:p>
        </p:txBody>
      </p:sp>
      <p:sp>
        <p:nvSpPr>
          <p:cNvPr id="9" name="Rectangle: Rounded Corners 8">
            <a:extLst>
              <a:ext uri="{FF2B5EF4-FFF2-40B4-BE49-F238E27FC236}">
                <a16:creationId xmlns:a16="http://schemas.microsoft.com/office/drawing/2014/main" id="{255E03B9-82FA-776E-E5F9-F6B930BB32EF}"/>
              </a:ext>
            </a:extLst>
          </p:cNvPr>
          <p:cNvSpPr/>
          <p:nvPr/>
        </p:nvSpPr>
        <p:spPr>
          <a:xfrm>
            <a:off x="5118100" y="2057400"/>
            <a:ext cx="2082800" cy="2590800"/>
          </a:xfrm>
          <a:prstGeom prst="roundRect">
            <a:avLst>
              <a:gd name="adj" fmla="val 6000"/>
            </a:avLst>
          </a:prstGeom>
          <a:solidFill>
            <a:srgbClr val="50152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TextBox 9">
            <a:extLst>
              <a:ext uri="{FF2B5EF4-FFF2-40B4-BE49-F238E27FC236}">
                <a16:creationId xmlns:a16="http://schemas.microsoft.com/office/drawing/2014/main" id="{4896E0C3-BF78-ADDE-8101-8F26D7DA3A41}"/>
              </a:ext>
            </a:extLst>
          </p:cNvPr>
          <p:cNvSpPr txBox="1"/>
          <p:nvPr/>
        </p:nvSpPr>
        <p:spPr>
          <a:xfrm>
            <a:off x="5295900" y="2209800"/>
            <a:ext cx="1727200" cy="660400"/>
          </a:xfrm>
          <a:prstGeom prst="rect">
            <a:avLst/>
          </a:prstGeom>
          <a:noFill/>
        </p:spPr>
        <p:txBody>
          <a:bodyPr vert="horz" wrap="square" lIns="0" tIns="0" rIns="0" bIns="0" rtlCol="0" anchor="t">
            <a:noAutofit/>
          </a:bodyPr>
          <a:lstStyle/>
          <a:p>
            <a:r>
              <a:rPr lang="en-CA" sz="4400" b="1">
                <a:solidFill>
                  <a:srgbClr val="F68D2E"/>
                </a:solidFill>
                <a:latin typeface="Aptos Display" panose="020B0004020202020204" pitchFamily="34" charset="0"/>
              </a:rPr>
              <a:t>5</a:t>
            </a:r>
          </a:p>
        </p:txBody>
      </p:sp>
      <p:sp>
        <p:nvSpPr>
          <p:cNvPr id="11" name="TextBox 10">
            <a:extLst>
              <a:ext uri="{FF2B5EF4-FFF2-40B4-BE49-F238E27FC236}">
                <a16:creationId xmlns:a16="http://schemas.microsoft.com/office/drawing/2014/main" id="{28472BC7-3009-FDB9-D150-44FDF5BC17A2}"/>
              </a:ext>
            </a:extLst>
          </p:cNvPr>
          <p:cNvSpPr txBox="1"/>
          <p:nvPr/>
        </p:nvSpPr>
        <p:spPr>
          <a:xfrm>
            <a:off x="5295900" y="2946400"/>
            <a:ext cx="1727200" cy="254000"/>
          </a:xfrm>
          <a:prstGeom prst="rect">
            <a:avLst/>
          </a:prstGeom>
          <a:noFill/>
        </p:spPr>
        <p:txBody>
          <a:bodyPr vert="horz" wrap="square" lIns="0" tIns="0" rIns="0" bIns="0" rtlCol="0" anchor="t">
            <a:noAutofit/>
          </a:bodyPr>
          <a:lstStyle/>
          <a:p>
            <a:r>
              <a:rPr lang="en-CA" sz="1400" b="1">
                <a:solidFill>
                  <a:srgbClr val="FFFFFF"/>
                </a:solidFill>
                <a:latin typeface="Aptos Display" panose="020B0004020202020204" pitchFamily="34" charset="0"/>
              </a:rPr>
              <a:t>Terraform modules</a:t>
            </a:r>
          </a:p>
        </p:txBody>
      </p:sp>
      <p:sp>
        <p:nvSpPr>
          <p:cNvPr id="12" name="TextBox 11">
            <a:extLst>
              <a:ext uri="{FF2B5EF4-FFF2-40B4-BE49-F238E27FC236}">
                <a16:creationId xmlns:a16="http://schemas.microsoft.com/office/drawing/2014/main" id="{1882804E-F273-B57C-6140-D69AD030C3EC}"/>
              </a:ext>
            </a:extLst>
          </p:cNvPr>
          <p:cNvSpPr txBox="1"/>
          <p:nvPr/>
        </p:nvSpPr>
        <p:spPr>
          <a:xfrm>
            <a:off x="5295900" y="3251200"/>
            <a:ext cx="1727200" cy="1270000"/>
          </a:xfrm>
          <a:prstGeom prst="rect">
            <a:avLst/>
          </a:prstGeom>
          <a:noFill/>
        </p:spPr>
        <p:txBody>
          <a:bodyPr vert="horz" wrap="square" lIns="0" tIns="0" rIns="0" bIns="0" rtlCol="0" anchor="t">
            <a:noAutofit/>
          </a:bodyPr>
          <a:lstStyle/>
          <a:p>
            <a:r>
              <a:rPr lang="en-US" sz="1300">
                <a:solidFill>
                  <a:srgbClr val="F3D9E0"/>
                </a:solidFill>
                <a:latin typeface="Calibri" panose="020F0502020204030204" pitchFamily="34" charset="0"/>
              </a:rPr>
              <a:t>Network, data storage, workspace, HAProxy connectivity and NCC, shared by all three</a:t>
            </a:r>
            <a:endParaRPr lang="en-CA" sz="1300">
              <a:solidFill>
                <a:srgbClr val="F3D9E0"/>
              </a:solidFill>
              <a:latin typeface="Calibri" panose="020F0502020204030204" pitchFamily="34" charset="0"/>
            </a:endParaRPr>
          </a:p>
        </p:txBody>
      </p:sp>
      <p:sp>
        <p:nvSpPr>
          <p:cNvPr id="13" name="Rectangle: Rounded Corners 12">
            <a:extLst>
              <a:ext uri="{FF2B5EF4-FFF2-40B4-BE49-F238E27FC236}">
                <a16:creationId xmlns:a16="http://schemas.microsoft.com/office/drawing/2014/main" id="{D2338273-5FE0-3410-67F8-A3B8E0B3511A}"/>
              </a:ext>
            </a:extLst>
          </p:cNvPr>
          <p:cNvSpPr/>
          <p:nvPr/>
        </p:nvSpPr>
        <p:spPr>
          <a:xfrm>
            <a:off x="7391400" y="2057400"/>
            <a:ext cx="2082800" cy="2590800"/>
          </a:xfrm>
          <a:prstGeom prst="roundRect">
            <a:avLst>
              <a:gd name="adj" fmla="val 6000"/>
            </a:avLst>
          </a:prstGeom>
          <a:solidFill>
            <a:srgbClr val="50152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TextBox 13">
            <a:extLst>
              <a:ext uri="{FF2B5EF4-FFF2-40B4-BE49-F238E27FC236}">
                <a16:creationId xmlns:a16="http://schemas.microsoft.com/office/drawing/2014/main" id="{D9C9EE98-DC6D-DDCD-9121-D88B74DE34E3}"/>
              </a:ext>
            </a:extLst>
          </p:cNvPr>
          <p:cNvSpPr txBox="1"/>
          <p:nvPr/>
        </p:nvSpPr>
        <p:spPr>
          <a:xfrm>
            <a:off x="7569200" y="2209800"/>
            <a:ext cx="1727200" cy="660400"/>
          </a:xfrm>
          <a:prstGeom prst="rect">
            <a:avLst/>
          </a:prstGeom>
          <a:noFill/>
        </p:spPr>
        <p:txBody>
          <a:bodyPr vert="horz" wrap="square" lIns="0" tIns="0" rIns="0" bIns="0" rtlCol="0" anchor="t">
            <a:noAutofit/>
          </a:bodyPr>
          <a:lstStyle/>
          <a:p>
            <a:r>
              <a:rPr lang="en-CA" sz="4400" b="1">
                <a:solidFill>
                  <a:srgbClr val="F68D2E"/>
                </a:solidFill>
                <a:latin typeface="Aptos Display" panose="020B0004020202020204" pitchFamily="34" charset="0"/>
              </a:rPr>
              <a:t>13</a:t>
            </a:r>
          </a:p>
        </p:txBody>
      </p:sp>
      <p:sp>
        <p:nvSpPr>
          <p:cNvPr id="15" name="TextBox 14">
            <a:extLst>
              <a:ext uri="{FF2B5EF4-FFF2-40B4-BE49-F238E27FC236}">
                <a16:creationId xmlns:a16="http://schemas.microsoft.com/office/drawing/2014/main" id="{E06031AF-707B-2ADB-6478-057C54065C9C}"/>
              </a:ext>
            </a:extLst>
          </p:cNvPr>
          <p:cNvSpPr txBox="1"/>
          <p:nvPr/>
        </p:nvSpPr>
        <p:spPr>
          <a:xfrm>
            <a:off x="7569200" y="2946400"/>
            <a:ext cx="1727200" cy="254000"/>
          </a:xfrm>
          <a:prstGeom prst="rect">
            <a:avLst/>
          </a:prstGeom>
          <a:noFill/>
        </p:spPr>
        <p:txBody>
          <a:bodyPr vert="horz" wrap="square" lIns="0" tIns="0" rIns="0" bIns="0" rtlCol="0" anchor="t">
            <a:noAutofit/>
          </a:bodyPr>
          <a:lstStyle/>
          <a:p>
            <a:r>
              <a:rPr lang="en-CA" sz="1400" b="1">
                <a:solidFill>
                  <a:srgbClr val="FFFFFF"/>
                </a:solidFill>
                <a:latin typeface="Aptos Display" panose="020B0004020202020204" pitchFamily="34" charset="0"/>
              </a:rPr>
              <a:t>Databases</a:t>
            </a:r>
          </a:p>
        </p:txBody>
      </p:sp>
      <p:sp>
        <p:nvSpPr>
          <p:cNvPr id="16" name="TextBox 15">
            <a:extLst>
              <a:ext uri="{FF2B5EF4-FFF2-40B4-BE49-F238E27FC236}">
                <a16:creationId xmlns:a16="http://schemas.microsoft.com/office/drawing/2014/main" id="{3E9ECA1A-C449-8432-F2B9-2D0F41CB4693}"/>
              </a:ext>
            </a:extLst>
          </p:cNvPr>
          <p:cNvSpPr txBox="1"/>
          <p:nvPr/>
        </p:nvSpPr>
        <p:spPr>
          <a:xfrm>
            <a:off x="7569200" y="3251200"/>
            <a:ext cx="1727200" cy="1270000"/>
          </a:xfrm>
          <a:prstGeom prst="rect">
            <a:avLst/>
          </a:prstGeom>
          <a:noFill/>
        </p:spPr>
        <p:txBody>
          <a:bodyPr vert="horz" wrap="square" lIns="0" tIns="0" rIns="0" bIns="0" rtlCol="0" anchor="t">
            <a:noAutofit/>
          </a:bodyPr>
          <a:lstStyle/>
          <a:p>
            <a:r>
              <a:rPr lang="en-US" sz="1300">
                <a:solidFill>
                  <a:srgbClr val="F3D9E0"/>
                </a:solidFill>
                <a:latin typeface="Calibri" panose="020F0502020204030204" pitchFamily="34" charset="0"/>
              </a:rPr>
              <a:t>6 SQL Server and 7 Oracle on-premises, reachable from serverless compute</a:t>
            </a:r>
            <a:endParaRPr lang="en-CA" sz="1300">
              <a:solidFill>
                <a:srgbClr val="F3D9E0"/>
              </a:solidFill>
              <a:latin typeface="Calibri" panose="020F0502020204030204" pitchFamily="34" charset="0"/>
            </a:endParaRPr>
          </a:p>
        </p:txBody>
      </p:sp>
      <p:sp>
        <p:nvSpPr>
          <p:cNvPr id="17" name="Rectangle: Rounded Corners 16">
            <a:extLst>
              <a:ext uri="{FF2B5EF4-FFF2-40B4-BE49-F238E27FC236}">
                <a16:creationId xmlns:a16="http://schemas.microsoft.com/office/drawing/2014/main" id="{27CFA004-8300-8557-EDAB-984F8FD75655}"/>
              </a:ext>
            </a:extLst>
          </p:cNvPr>
          <p:cNvSpPr/>
          <p:nvPr/>
        </p:nvSpPr>
        <p:spPr>
          <a:xfrm>
            <a:off x="9664700" y="2057400"/>
            <a:ext cx="2082800" cy="2590800"/>
          </a:xfrm>
          <a:prstGeom prst="roundRect">
            <a:avLst>
              <a:gd name="adj" fmla="val 6000"/>
            </a:avLst>
          </a:prstGeom>
          <a:solidFill>
            <a:srgbClr val="50152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 name="TextBox 17">
            <a:extLst>
              <a:ext uri="{FF2B5EF4-FFF2-40B4-BE49-F238E27FC236}">
                <a16:creationId xmlns:a16="http://schemas.microsoft.com/office/drawing/2014/main" id="{83C1603D-9027-341B-DA46-0063F1F6F37A}"/>
              </a:ext>
            </a:extLst>
          </p:cNvPr>
          <p:cNvSpPr txBox="1"/>
          <p:nvPr/>
        </p:nvSpPr>
        <p:spPr>
          <a:xfrm>
            <a:off x="9842500" y="2209800"/>
            <a:ext cx="1727200" cy="660400"/>
          </a:xfrm>
          <a:prstGeom prst="rect">
            <a:avLst/>
          </a:prstGeom>
          <a:noFill/>
        </p:spPr>
        <p:txBody>
          <a:bodyPr vert="horz" wrap="square" lIns="0" tIns="0" rIns="0" bIns="0" rtlCol="0" anchor="t">
            <a:noAutofit/>
          </a:bodyPr>
          <a:lstStyle/>
          <a:p>
            <a:r>
              <a:rPr lang="en-CA" sz="4400" b="1">
                <a:solidFill>
                  <a:srgbClr val="F68D2E"/>
                </a:solidFill>
                <a:latin typeface="Aptos Display" panose="020B0004020202020204" pitchFamily="34" charset="0"/>
              </a:rPr>
              <a:t>5</a:t>
            </a:r>
          </a:p>
        </p:txBody>
      </p:sp>
      <p:sp>
        <p:nvSpPr>
          <p:cNvPr id="19" name="TextBox 18">
            <a:extLst>
              <a:ext uri="{FF2B5EF4-FFF2-40B4-BE49-F238E27FC236}">
                <a16:creationId xmlns:a16="http://schemas.microsoft.com/office/drawing/2014/main" id="{75A551F9-3DD6-FFB1-C446-4F85D75A3BF0}"/>
              </a:ext>
            </a:extLst>
          </p:cNvPr>
          <p:cNvSpPr txBox="1"/>
          <p:nvPr/>
        </p:nvSpPr>
        <p:spPr>
          <a:xfrm>
            <a:off x="9842500" y="2946400"/>
            <a:ext cx="1727200" cy="254000"/>
          </a:xfrm>
          <a:prstGeom prst="rect">
            <a:avLst/>
          </a:prstGeom>
          <a:noFill/>
        </p:spPr>
        <p:txBody>
          <a:bodyPr vert="horz" wrap="square" lIns="0" tIns="0" rIns="0" bIns="0" rtlCol="0" anchor="t">
            <a:noAutofit/>
          </a:bodyPr>
          <a:lstStyle/>
          <a:p>
            <a:r>
              <a:rPr lang="en-CA" sz="1400" b="1">
                <a:solidFill>
                  <a:srgbClr val="FFFFFF"/>
                </a:solidFill>
                <a:latin typeface="Aptos Display" panose="020B0004020202020204" pitchFamily="34" charset="0"/>
              </a:rPr>
              <a:t>Pipelines</a:t>
            </a:r>
          </a:p>
        </p:txBody>
      </p:sp>
      <p:sp>
        <p:nvSpPr>
          <p:cNvPr id="20" name="TextBox 19">
            <a:extLst>
              <a:ext uri="{FF2B5EF4-FFF2-40B4-BE49-F238E27FC236}">
                <a16:creationId xmlns:a16="http://schemas.microsoft.com/office/drawing/2014/main" id="{57DB5674-66C4-2FF2-DFD2-A4AE2E2BDFDC}"/>
              </a:ext>
            </a:extLst>
          </p:cNvPr>
          <p:cNvSpPr txBox="1"/>
          <p:nvPr/>
        </p:nvSpPr>
        <p:spPr>
          <a:xfrm>
            <a:off x="9842500" y="3251200"/>
            <a:ext cx="1727200" cy="1270000"/>
          </a:xfrm>
          <a:prstGeom prst="rect">
            <a:avLst/>
          </a:prstGeom>
          <a:noFill/>
        </p:spPr>
        <p:txBody>
          <a:bodyPr vert="horz" wrap="square" lIns="0" tIns="0" rIns="0" bIns="0" rtlCol="0" anchor="t">
            <a:noAutofit/>
          </a:bodyPr>
          <a:lstStyle/>
          <a:p>
            <a:r>
              <a:rPr lang="en-US" sz="1300">
                <a:solidFill>
                  <a:srgbClr val="F3D9E0"/>
                </a:solidFill>
                <a:latin typeface="Calibri" panose="020F0502020204030204" pitchFamily="34" charset="0"/>
              </a:rPr>
              <a:t>GitHub Actions for checks, state setup, deploy, destroy and unlock</a:t>
            </a:r>
            <a:endParaRPr lang="en-CA" sz="1300">
              <a:solidFill>
                <a:srgbClr val="F3D9E0"/>
              </a:solidFill>
              <a:latin typeface="Calibri" panose="020F0502020204030204" pitchFamily="34" charset="0"/>
            </a:endParaRPr>
          </a:p>
        </p:txBody>
      </p:sp>
      <p:sp>
        <p:nvSpPr>
          <p:cNvPr id="21" name="TextBox 20">
            <a:extLst>
              <a:ext uri="{FF2B5EF4-FFF2-40B4-BE49-F238E27FC236}">
                <a16:creationId xmlns:a16="http://schemas.microsoft.com/office/drawing/2014/main" id="{4EC6BAA9-485F-040F-4183-85C597FE92D2}"/>
              </a:ext>
            </a:extLst>
          </p:cNvPr>
          <p:cNvSpPr txBox="1"/>
          <p:nvPr/>
        </p:nvSpPr>
        <p:spPr>
          <a:xfrm>
            <a:off x="2844800" y="4876800"/>
            <a:ext cx="8902700" cy="457200"/>
          </a:xfrm>
          <a:prstGeom prst="rect">
            <a:avLst/>
          </a:prstGeom>
          <a:noFill/>
        </p:spPr>
        <p:txBody>
          <a:bodyPr vert="horz" wrap="square" lIns="0" tIns="0" rIns="0" bIns="0" rtlCol="0" anchor="t">
            <a:noAutofit/>
          </a:bodyPr>
          <a:lstStyle/>
          <a:p>
            <a:r>
              <a:rPr lang="en-US" sz="1200">
                <a:solidFill>
                  <a:srgbClr val="595959"/>
                </a:solidFill>
                <a:latin typeface="Calibri" panose="020F0502020204030204" pitchFamily="34" charset="0"/>
              </a:rPr>
              <a:t>All three environments are in Canada Central. Each environment’s settings are kept in the repository and changed through pull requests.</a:t>
            </a:r>
            <a:endParaRPr lang="en-CA" sz="1200">
              <a:solidFill>
                <a:srgbClr val="595959"/>
              </a:solidFill>
              <a:latin typeface="Calibri" panose="020F0502020204030204" pitchFamily="34" charset="0"/>
            </a:endParaRPr>
          </a:p>
        </p:txBody>
      </p:sp>
    </p:spTree>
    <p:extLst>
      <p:ext uri="{BB962C8B-B14F-4D97-AF65-F5344CB8AC3E}">
        <p14:creationId xmlns:p14="http://schemas.microsoft.com/office/powerpoint/2010/main" val="10396047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CB413-4A5F-7236-6249-052B091701D0}"/>
              </a:ext>
            </a:extLst>
          </p:cNvPr>
          <p:cNvSpPr>
            <a:spLocks noGrp="1"/>
          </p:cNvSpPr>
          <p:nvPr>
            <p:ph type="title"/>
          </p:nvPr>
        </p:nvSpPr>
        <p:spPr/>
        <p:txBody>
          <a:bodyPr>
            <a:normAutofit/>
          </a:bodyPr>
          <a:lstStyle/>
          <a:p>
            <a:r>
              <a:rPr lang="en-CA" b="1">
                <a:latin typeface="Aptos Display" panose="020B0004020202020204" pitchFamily="34" charset="0"/>
              </a:rPr>
              <a:t>Platform Architecture</a:t>
            </a:r>
          </a:p>
        </p:txBody>
      </p:sp>
      <p:sp>
        <p:nvSpPr>
          <p:cNvPr id="4" name="Rectangle: Rounded Corners 3">
            <a:extLst>
              <a:ext uri="{FF2B5EF4-FFF2-40B4-BE49-F238E27FC236}">
                <a16:creationId xmlns:a16="http://schemas.microsoft.com/office/drawing/2014/main" id="{936E19F5-826E-DDFC-5205-A137FB009156}"/>
              </a:ext>
            </a:extLst>
          </p:cNvPr>
          <p:cNvSpPr/>
          <p:nvPr/>
        </p:nvSpPr>
        <p:spPr>
          <a:xfrm>
            <a:off x="2844800" y="1320800"/>
            <a:ext cx="8902700" cy="685800"/>
          </a:xfrm>
          <a:prstGeom prst="roundRect">
            <a:avLst>
              <a:gd name="adj" fmla="val 20000"/>
            </a:avLst>
          </a:prstGeom>
          <a:solidFill>
            <a:srgbClr val="50152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TextBox 4">
            <a:extLst>
              <a:ext uri="{FF2B5EF4-FFF2-40B4-BE49-F238E27FC236}">
                <a16:creationId xmlns:a16="http://schemas.microsoft.com/office/drawing/2014/main" id="{31E5692B-BAA2-5A7D-1635-113376574CCE}"/>
              </a:ext>
            </a:extLst>
          </p:cNvPr>
          <p:cNvSpPr txBox="1"/>
          <p:nvPr/>
        </p:nvSpPr>
        <p:spPr>
          <a:xfrm>
            <a:off x="3022600" y="1320800"/>
            <a:ext cx="2603500" cy="685800"/>
          </a:xfrm>
          <a:prstGeom prst="rect">
            <a:avLst/>
          </a:prstGeom>
          <a:noFill/>
        </p:spPr>
        <p:txBody>
          <a:bodyPr vert="horz" wrap="square" lIns="0" tIns="0" rIns="0" bIns="0" rtlCol="0" anchor="ctr">
            <a:noAutofit/>
          </a:bodyPr>
          <a:lstStyle/>
          <a:p>
            <a:r>
              <a:rPr lang="en-CA" sz="1500" b="1">
                <a:solidFill>
                  <a:srgbClr val="FFFFFF"/>
                </a:solidFill>
                <a:latin typeface="Aptos Display" panose="020B0004020202020204" pitchFamily="34" charset="0"/>
              </a:rPr>
              <a:t>Existing Baytex hub</a:t>
            </a:r>
          </a:p>
        </p:txBody>
      </p:sp>
      <p:sp>
        <p:nvSpPr>
          <p:cNvPr id="6" name="Rectangle: Rounded Corners 5">
            <a:extLst>
              <a:ext uri="{FF2B5EF4-FFF2-40B4-BE49-F238E27FC236}">
                <a16:creationId xmlns:a16="http://schemas.microsoft.com/office/drawing/2014/main" id="{EF04845F-F2BE-7797-DA40-53F7B1646627}"/>
              </a:ext>
            </a:extLst>
          </p:cNvPr>
          <p:cNvSpPr/>
          <p:nvPr/>
        </p:nvSpPr>
        <p:spPr>
          <a:xfrm>
            <a:off x="5702300" y="1473200"/>
            <a:ext cx="1270000" cy="381000"/>
          </a:xfrm>
          <a:prstGeom prst="roundRect">
            <a:avLst>
              <a:gd name="adj" fmla="val 50000"/>
            </a:avLst>
          </a:prstGeom>
          <a:solidFill>
            <a:srgbClr val="6E2A4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38100" tIns="0" rIns="38100" bIns="0" rtlCol="0" anchor="ctr"/>
          <a:lstStyle/>
          <a:p>
            <a:pPr algn="ctr"/>
            <a:r>
              <a:rPr lang="en-CA" sz="1200">
                <a:solidFill>
                  <a:srgbClr val="FFFFFF"/>
                </a:solidFill>
                <a:latin typeface="Calibri" panose="020F0502020204030204" pitchFamily="34" charset="0"/>
              </a:rPr>
              <a:t>Cisco firewall</a:t>
            </a:r>
          </a:p>
        </p:txBody>
      </p:sp>
      <p:sp>
        <p:nvSpPr>
          <p:cNvPr id="7" name="Rectangle: Rounded Corners 6">
            <a:extLst>
              <a:ext uri="{FF2B5EF4-FFF2-40B4-BE49-F238E27FC236}">
                <a16:creationId xmlns:a16="http://schemas.microsoft.com/office/drawing/2014/main" id="{CBF03529-4E0C-79A7-3415-375AF2389F5A}"/>
              </a:ext>
            </a:extLst>
          </p:cNvPr>
          <p:cNvSpPr/>
          <p:nvPr/>
        </p:nvSpPr>
        <p:spPr>
          <a:xfrm>
            <a:off x="7073900" y="1473200"/>
            <a:ext cx="1574800" cy="381000"/>
          </a:xfrm>
          <a:prstGeom prst="roundRect">
            <a:avLst>
              <a:gd name="adj" fmla="val 50000"/>
            </a:avLst>
          </a:prstGeom>
          <a:solidFill>
            <a:srgbClr val="6E2A4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38100" tIns="0" rIns="38100" bIns="0" rtlCol="0" anchor="ctr"/>
          <a:lstStyle/>
          <a:p>
            <a:pPr algn="ctr"/>
            <a:r>
              <a:rPr lang="en-CA" sz="1200">
                <a:solidFill>
                  <a:srgbClr val="FFFFFF"/>
                </a:solidFill>
                <a:latin typeface="Calibri" panose="020F0502020204030204" pitchFamily="34" charset="0"/>
              </a:rPr>
              <a:t>VPN to on-premises</a:t>
            </a:r>
          </a:p>
        </p:txBody>
      </p:sp>
      <p:sp>
        <p:nvSpPr>
          <p:cNvPr id="8" name="Rectangle: Rounded Corners 7">
            <a:extLst>
              <a:ext uri="{FF2B5EF4-FFF2-40B4-BE49-F238E27FC236}">
                <a16:creationId xmlns:a16="http://schemas.microsoft.com/office/drawing/2014/main" id="{FD0F4126-C9EC-04D7-BDAE-5D6CC748FCE8}"/>
              </a:ext>
            </a:extLst>
          </p:cNvPr>
          <p:cNvSpPr/>
          <p:nvPr/>
        </p:nvSpPr>
        <p:spPr>
          <a:xfrm>
            <a:off x="8750300" y="1473200"/>
            <a:ext cx="1244600" cy="381000"/>
          </a:xfrm>
          <a:prstGeom prst="roundRect">
            <a:avLst>
              <a:gd name="adj" fmla="val 50000"/>
            </a:avLst>
          </a:prstGeom>
          <a:solidFill>
            <a:srgbClr val="6E2A4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38100" tIns="0" rIns="38100" bIns="0" rtlCol="0" anchor="ctr"/>
          <a:lstStyle/>
          <a:p>
            <a:pPr algn="ctr"/>
            <a:r>
              <a:rPr lang="en-CA" sz="1200">
                <a:solidFill>
                  <a:srgbClr val="FFFFFF"/>
                </a:solidFill>
                <a:latin typeface="Calibri" panose="020F0502020204030204" pitchFamily="34" charset="0"/>
              </a:rPr>
              <a:t>Corporate DNS</a:t>
            </a:r>
          </a:p>
        </p:txBody>
      </p:sp>
      <p:sp>
        <p:nvSpPr>
          <p:cNvPr id="9" name="Rectangle: Rounded Corners 8">
            <a:extLst>
              <a:ext uri="{FF2B5EF4-FFF2-40B4-BE49-F238E27FC236}">
                <a16:creationId xmlns:a16="http://schemas.microsoft.com/office/drawing/2014/main" id="{E1123B50-1F18-FDA1-C880-83BB55CE0B6C}"/>
              </a:ext>
            </a:extLst>
          </p:cNvPr>
          <p:cNvSpPr/>
          <p:nvPr/>
        </p:nvSpPr>
        <p:spPr>
          <a:xfrm>
            <a:off x="10096500" y="1473200"/>
            <a:ext cx="1498600" cy="381000"/>
          </a:xfrm>
          <a:prstGeom prst="roundRect">
            <a:avLst>
              <a:gd name="adj" fmla="val 50000"/>
            </a:avLst>
          </a:prstGeom>
          <a:solidFill>
            <a:srgbClr val="6E2A4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38100" tIns="0" rIns="38100" bIns="0" rtlCol="0" anchor="ctr"/>
          <a:lstStyle/>
          <a:p>
            <a:pPr algn="ctr"/>
            <a:r>
              <a:rPr lang="en-CA" sz="1200">
                <a:solidFill>
                  <a:srgbClr val="FFFFFF"/>
                </a:solidFill>
                <a:latin typeface="Calibri" panose="020F0502020204030204" pitchFamily="34" charset="0"/>
              </a:rPr>
              <a:t>Private DNS zones</a:t>
            </a:r>
          </a:p>
        </p:txBody>
      </p:sp>
      <p:cxnSp>
        <p:nvCxnSpPr>
          <p:cNvPr id="10" name="Straight Connector 9">
            <a:extLst>
              <a:ext uri="{FF2B5EF4-FFF2-40B4-BE49-F238E27FC236}">
                <a16:creationId xmlns:a16="http://schemas.microsoft.com/office/drawing/2014/main" id="{750AB314-458F-D087-5BFD-BF26FA710C8C}"/>
              </a:ext>
            </a:extLst>
          </p:cNvPr>
          <p:cNvCxnSpPr/>
          <p:nvPr/>
        </p:nvCxnSpPr>
        <p:spPr>
          <a:xfrm>
            <a:off x="4260850" y="2006600"/>
            <a:ext cx="0" cy="609600"/>
          </a:xfrm>
          <a:prstGeom prst="line">
            <a:avLst/>
          </a:prstGeom>
          <a:ln w="19050">
            <a:solidFill>
              <a:srgbClr val="F68D2E"/>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FE8C55B5-7B2D-6051-4E2A-5172936E4105}"/>
              </a:ext>
            </a:extLst>
          </p:cNvPr>
          <p:cNvSpPr txBox="1"/>
          <p:nvPr/>
        </p:nvSpPr>
        <p:spPr>
          <a:xfrm>
            <a:off x="4337050" y="2222500"/>
            <a:ext cx="1143000" cy="177800"/>
          </a:xfrm>
          <a:prstGeom prst="rect">
            <a:avLst/>
          </a:prstGeom>
          <a:noFill/>
        </p:spPr>
        <p:txBody>
          <a:bodyPr vert="horz" wrap="square" lIns="0" tIns="0" rIns="0" bIns="0" rtlCol="0" anchor="t">
            <a:noAutofit/>
          </a:bodyPr>
          <a:lstStyle/>
          <a:p>
            <a:r>
              <a:rPr lang="en-CA" sz="1000">
                <a:solidFill>
                  <a:srgbClr val="595959"/>
                </a:solidFill>
                <a:latin typeface="Calibri" panose="020F0502020204030204" pitchFamily="34" charset="0"/>
              </a:rPr>
              <a:t>VNet peering</a:t>
            </a:r>
          </a:p>
        </p:txBody>
      </p:sp>
      <p:sp>
        <p:nvSpPr>
          <p:cNvPr id="12" name="Rectangle: Rounded Corners 11">
            <a:extLst>
              <a:ext uri="{FF2B5EF4-FFF2-40B4-BE49-F238E27FC236}">
                <a16:creationId xmlns:a16="http://schemas.microsoft.com/office/drawing/2014/main" id="{730E8AEE-CFE8-271C-D3E3-8D1D4DFE12CF}"/>
              </a:ext>
            </a:extLst>
          </p:cNvPr>
          <p:cNvSpPr/>
          <p:nvPr/>
        </p:nvSpPr>
        <p:spPr>
          <a:xfrm>
            <a:off x="2844800" y="2616200"/>
            <a:ext cx="2832100" cy="1168400"/>
          </a:xfrm>
          <a:prstGeom prst="roundRect">
            <a:avLst>
              <a:gd name="adj" fmla="val 10000"/>
            </a:avLst>
          </a:prstGeom>
          <a:solidFill>
            <a:srgbClr val="FCEC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TextBox 12">
            <a:extLst>
              <a:ext uri="{FF2B5EF4-FFF2-40B4-BE49-F238E27FC236}">
                <a16:creationId xmlns:a16="http://schemas.microsoft.com/office/drawing/2014/main" id="{05C682E8-9788-BDF1-0A59-C5E8BCA0B600}"/>
              </a:ext>
            </a:extLst>
          </p:cNvPr>
          <p:cNvSpPr txBox="1"/>
          <p:nvPr/>
        </p:nvSpPr>
        <p:spPr>
          <a:xfrm>
            <a:off x="3022600" y="2743200"/>
            <a:ext cx="2476500" cy="279400"/>
          </a:xfrm>
          <a:prstGeom prst="rect">
            <a:avLst/>
          </a:prstGeom>
          <a:noFill/>
        </p:spPr>
        <p:txBody>
          <a:bodyPr vert="horz" wrap="square" lIns="0" tIns="0" rIns="0" bIns="0" rtlCol="0" anchor="t">
            <a:noAutofit/>
          </a:bodyPr>
          <a:lstStyle/>
          <a:p>
            <a:r>
              <a:rPr lang="en-CA" sz="1600" b="1">
                <a:solidFill>
                  <a:srgbClr val="50152C"/>
                </a:solidFill>
                <a:latin typeface="Aptos Display" panose="020B0004020202020204" pitchFamily="34" charset="0"/>
              </a:rPr>
              <a:t>Dev</a:t>
            </a:r>
          </a:p>
        </p:txBody>
      </p:sp>
      <p:sp>
        <p:nvSpPr>
          <p:cNvPr id="14" name="TextBox 13">
            <a:extLst>
              <a:ext uri="{FF2B5EF4-FFF2-40B4-BE49-F238E27FC236}">
                <a16:creationId xmlns:a16="http://schemas.microsoft.com/office/drawing/2014/main" id="{88CB01A5-36A9-E5CC-986D-9F7E787C156A}"/>
              </a:ext>
            </a:extLst>
          </p:cNvPr>
          <p:cNvSpPr txBox="1"/>
          <p:nvPr/>
        </p:nvSpPr>
        <p:spPr>
          <a:xfrm>
            <a:off x="3022600" y="3073400"/>
            <a:ext cx="2476500" cy="228600"/>
          </a:xfrm>
          <a:prstGeom prst="rect">
            <a:avLst/>
          </a:prstGeom>
          <a:noFill/>
        </p:spPr>
        <p:txBody>
          <a:bodyPr vert="horz" wrap="square" lIns="0" tIns="0" rIns="0" bIns="0" rtlCol="0" anchor="t">
            <a:noAutofit/>
          </a:bodyPr>
          <a:lstStyle/>
          <a:p>
            <a:r>
              <a:rPr lang="en-CA" sz="1300">
                <a:solidFill>
                  <a:srgbClr val="50152C"/>
                </a:solidFill>
                <a:latin typeface="Consolas" panose="020B0609020204030204" pitchFamily="49" charset="0"/>
              </a:rPr>
              <a:t>10.40.144.0/20</a:t>
            </a:r>
          </a:p>
        </p:txBody>
      </p:sp>
      <p:sp>
        <p:nvSpPr>
          <p:cNvPr id="15" name="TextBox 14">
            <a:extLst>
              <a:ext uri="{FF2B5EF4-FFF2-40B4-BE49-F238E27FC236}">
                <a16:creationId xmlns:a16="http://schemas.microsoft.com/office/drawing/2014/main" id="{FDBF46A6-6C2D-0AFD-1B7F-FAE00BBE8C97}"/>
              </a:ext>
            </a:extLst>
          </p:cNvPr>
          <p:cNvSpPr txBox="1"/>
          <p:nvPr/>
        </p:nvSpPr>
        <p:spPr>
          <a:xfrm>
            <a:off x="3022600" y="3378200"/>
            <a:ext cx="2476500" cy="203200"/>
          </a:xfrm>
          <a:prstGeom prst="rect">
            <a:avLst/>
          </a:prstGeom>
          <a:noFill/>
        </p:spPr>
        <p:txBody>
          <a:bodyPr vert="horz" wrap="square" lIns="0" tIns="0" rIns="0" bIns="0" rtlCol="0" anchor="t">
            <a:noAutofit/>
          </a:bodyPr>
          <a:lstStyle/>
          <a:p>
            <a:r>
              <a:rPr lang="en-CA" sz="1100">
                <a:solidFill>
                  <a:srgbClr val="595959"/>
                </a:solidFill>
                <a:latin typeface="Calibri" panose="020F0502020204030204" pitchFamily="34" charset="0"/>
              </a:rPr>
              <a:t>SUB-BTE-CAN-DATA-NONPROD</a:t>
            </a:r>
          </a:p>
        </p:txBody>
      </p:sp>
      <p:cxnSp>
        <p:nvCxnSpPr>
          <p:cNvPr id="16" name="Straight Connector 15">
            <a:extLst>
              <a:ext uri="{FF2B5EF4-FFF2-40B4-BE49-F238E27FC236}">
                <a16:creationId xmlns:a16="http://schemas.microsoft.com/office/drawing/2014/main" id="{30416F4E-75EF-A047-9100-8077CC759D9E}"/>
              </a:ext>
            </a:extLst>
          </p:cNvPr>
          <p:cNvCxnSpPr/>
          <p:nvPr/>
        </p:nvCxnSpPr>
        <p:spPr>
          <a:xfrm>
            <a:off x="7296150" y="2006600"/>
            <a:ext cx="0" cy="609600"/>
          </a:xfrm>
          <a:prstGeom prst="line">
            <a:avLst/>
          </a:prstGeom>
          <a:ln w="19050">
            <a:solidFill>
              <a:srgbClr val="F68D2E"/>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A5E28BC1-CA98-8BB7-336D-1BAEAC7247D2}"/>
              </a:ext>
            </a:extLst>
          </p:cNvPr>
          <p:cNvSpPr txBox="1"/>
          <p:nvPr/>
        </p:nvSpPr>
        <p:spPr>
          <a:xfrm>
            <a:off x="7372350" y="2222500"/>
            <a:ext cx="1143000" cy="177800"/>
          </a:xfrm>
          <a:prstGeom prst="rect">
            <a:avLst/>
          </a:prstGeom>
          <a:noFill/>
        </p:spPr>
        <p:txBody>
          <a:bodyPr vert="horz" wrap="square" lIns="0" tIns="0" rIns="0" bIns="0" rtlCol="0" anchor="t">
            <a:noAutofit/>
          </a:bodyPr>
          <a:lstStyle/>
          <a:p>
            <a:r>
              <a:rPr lang="en-CA" sz="1000">
                <a:solidFill>
                  <a:srgbClr val="595959"/>
                </a:solidFill>
                <a:latin typeface="Calibri" panose="020F0502020204030204" pitchFamily="34" charset="0"/>
              </a:rPr>
              <a:t>VNet peering</a:t>
            </a:r>
          </a:p>
        </p:txBody>
      </p:sp>
      <p:sp>
        <p:nvSpPr>
          <p:cNvPr id="18" name="Rectangle: Rounded Corners 17">
            <a:extLst>
              <a:ext uri="{FF2B5EF4-FFF2-40B4-BE49-F238E27FC236}">
                <a16:creationId xmlns:a16="http://schemas.microsoft.com/office/drawing/2014/main" id="{EB070621-A35D-2B4A-AD4E-02E6FA49E395}"/>
              </a:ext>
            </a:extLst>
          </p:cNvPr>
          <p:cNvSpPr/>
          <p:nvPr/>
        </p:nvSpPr>
        <p:spPr>
          <a:xfrm>
            <a:off x="5880100" y="2616200"/>
            <a:ext cx="2832100" cy="1168400"/>
          </a:xfrm>
          <a:prstGeom prst="roundRect">
            <a:avLst>
              <a:gd name="adj" fmla="val 10000"/>
            </a:avLst>
          </a:prstGeom>
          <a:solidFill>
            <a:srgbClr val="FCEC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TextBox 18">
            <a:extLst>
              <a:ext uri="{FF2B5EF4-FFF2-40B4-BE49-F238E27FC236}">
                <a16:creationId xmlns:a16="http://schemas.microsoft.com/office/drawing/2014/main" id="{F764708E-4B2C-5A50-8451-4847C1234C45}"/>
              </a:ext>
            </a:extLst>
          </p:cNvPr>
          <p:cNvSpPr txBox="1"/>
          <p:nvPr/>
        </p:nvSpPr>
        <p:spPr>
          <a:xfrm>
            <a:off x="6057900" y="2743200"/>
            <a:ext cx="2476500" cy="279400"/>
          </a:xfrm>
          <a:prstGeom prst="rect">
            <a:avLst/>
          </a:prstGeom>
          <a:noFill/>
        </p:spPr>
        <p:txBody>
          <a:bodyPr vert="horz" wrap="square" lIns="0" tIns="0" rIns="0" bIns="0" rtlCol="0" anchor="t">
            <a:noAutofit/>
          </a:bodyPr>
          <a:lstStyle/>
          <a:p>
            <a:r>
              <a:rPr lang="en-CA" sz="1600" b="1">
                <a:solidFill>
                  <a:srgbClr val="50152C"/>
                </a:solidFill>
                <a:latin typeface="Aptos Display" panose="020B0004020202020204" pitchFamily="34" charset="0"/>
              </a:rPr>
              <a:t>Test</a:t>
            </a:r>
          </a:p>
        </p:txBody>
      </p:sp>
      <p:sp>
        <p:nvSpPr>
          <p:cNvPr id="20" name="TextBox 19">
            <a:extLst>
              <a:ext uri="{FF2B5EF4-FFF2-40B4-BE49-F238E27FC236}">
                <a16:creationId xmlns:a16="http://schemas.microsoft.com/office/drawing/2014/main" id="{E4010D91-DDF9-CC81-80BF-D28B1C47B0B4}"/>
              </a:ext>
            </a:extLst>
          </p:cNvPr>
          <p:cNvSpPr txBox="1"/>
          <p:nvPr/>
        </p:nvSpPr>
        <p:spPr>
          <a:xfrm>
            <a:off x="6057900" y="3073400"/>
            <a:ext cx="2476500" cy="228600"/>
          </a:xfrm>
          <a:prstGeom prst="rect">
            <a:avLst/>
          </a:prstGeom>
          <a:noFill/>
        </p:spPr>
        <p:txBody>
          <a:bodyPr vert="horz" wrap="square" lIns="0" tIns="0" rIns="0" bIns="0" rtlCol="0" anchor="t">
            <a:noAutofit/>
          </a:bodyPr>
          <a:lstStyle/>
          <a:p>
            <a:r>
              <a:rPr lang="en-CA" sz="1300">
                <a:solidFill>
                  <a:srgbClr val="50152C"/>
                </a:solidFill>
                <a:latin typeface="Consolas" panose="020B0609020204030204" pitchFamily="49" charset="0"/>
              </a:rPr>
              <a:t>10.40.192.0/20</a:t>
            </a:r>
          </a:p>
        </p:txBody>
      </p:sp>
      <p:sp>
        <p:nvSpPr>
          <p:cNvPr id="21" name="TextBox 20">
            <a:extLst>
              <a:ext uri="{FF2B5EF4-FFF2-40B4-BE49-F238E27FC236}">
                <a16:creationId xmlns:a16="http://schemas.microsoft.com/office/drawing/2014/main" id="{5F057762-ED3F-F698-43A2-D8033E199240}"/>
              </a:ext>
            </a:extLst>
          </p:cNvPr>
          <p:cNvSpPr txBox="1"/>
          <p:nvPr/>
        </p:nvSpPr>
        <p:spPr>
          <a:xfrm>
            <a:off x="6057900" y="3378200"/>
            <a:ext cx="2476500" cy="203200"/>
          </a:xfrm>
          <a:prstGeom prst="rect">
            <a:avLst/>
          </a:prstGeom>
          <a:noFill/>
        </p:spPr>
        <p:txBody>
          <a:bodyPr vert="horz" wrap="square" lIns="0" tIns="0" rIns="0" bIns="0" rtlCol="0" anchor="t">
            <a:noAutofit/>
          </a:bodyPr>
          <a:lstStyle/>
          <a:p>
            <a:r>
              <a:rPr lang="en-CA" sz="1100">
                <a:solidFill>
                  <a:srgbClr val="595959"/>
                </a:solidFill>
                <a:latin typeface="Calibri" panose="020F0502020204030204" pitchFamily="34" charset="0"/>
              </a:rPr>
              <a:t>SUB-BTE-CAN-DATA-TEST</a:t>
            </a:r>
          </a:p>
        </p:txBody>
      </p:sp>
      <p:cxnSp>
        <p:nvCxnSpPr>
          <p:cNvPr id="22" name="Straight Connector 21">
            <a:extLst>
              <a:ext uri="{FF2B5EF4-FFF2-40B4-BE49-F238E27FC236}">
                <a16:creationId xmlns:a16="http://schemas.microsoft.com/office/drawing/2014/main" id="{D17A5DCD-81A0-5EDB-00B1-6295A4446989}"/>
              </a:ext>
            </a:extLst>
          </p:cNvPr>
          <p:cNvCxnSpPr/>
          <p:nvPr/>
        </p:nvCxnSpPr>
        <p:spPr>
          <a:xfrm>
            <a:off x="10331450" y="2006600"/>
            <a:ext cx="0" cy="609600"/>
          </a:xfrm>
          <a:prstGeom prst="line">
            <a:avLst/>
          </a:prstGeom>
          <a:ln w="19050">
            <a:solidFill>
              <a:srgbClr val="F68D2E"/>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F246B628-95D1-8F67-891A-7FFDD4DAB1A8}"/>
              </a:ext>
            </a:extLst>
          </p:cNvPr>
          <p:cNvSpPr txBox="1"/>
          <p:nvPr/>
        </p:nvSpPr>
        <p:spPr>
          <a:xfrm>
            <a:off x="10407650" y="2222500"/>
            <a:ext cx="1143000" cy="177800"/>
          </a:xfrm>
          <a:prstGeom prst="rect">
            <a:avLst/>
          </a:prstGeom>
          <a:noFill/>
        </p:spPr>
        <p:txBody>
          <a:bodyPr vert="horz" wrap="square" lIns="0" tIns="0" rIns="0" bIns="0" rtlCol="0" anchor="t">
            <a:noAutofit/>
          </a:bodyPr>
          <a:lstStyle/>
          <a:p>
            <a:r>
              <a:rPr lang="en-CA" sz="1000">
                <a:solidFill>
                  <a:srgbClr val="595959"/>
                </a:solidFill>
                <a:latin typeface="Calibri" panose="020F0502020204030204" pitchFamily="34" charset="0"/>
              </a:rPr>
              <a:t>VNet peering</a:t>
            </a:r>
          </a:p>
        </p:txBody>
      </p:sp>
      <p:sp>
        <p:nvSpPr>
          <p:cNvPr id="24" name="Rectangle: Rounded Corners 23">
            <a:extLst>
              <a:ext uri="{FF2B5EF4-FFF2-40B4-BE49-F238E27FC236}">
                <a16:creationId xmlns:a16="http://schemas.microsoft.com/office/drawing/2014/main" id="{C20EBEB9-3432-90E8-8EA3-C10E7A64F6DC}"/>
              </a:ext>
            </a:extLst>
          </p:cNvPr>
          <p:cNvSpPr/>
          <p:nvPr/>
        </p:nvSpPr>
        <p:spPr>
          <a:xfrm>
            <a:off x="8915400" y="2616200"/>
            <a:ext cx="2832100" cy="1168400"/>
          </a:xfrm>
          <a:prstGeom prst="roundRect">
            <a:avLst>
              <a:gd name="adj" fmla="val 10000"/>
            </a:avLst>
          </a:prstGeom>
          <a:solidFill>
            <a:srgbClr val="FCEC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5" name="TextBox 24">
            <a:extLst>
              <a:ext uri="{FF2B5EF4-FFF2-40B4-BE49-F238E27FC236}">
                <a16:creationId xmlns:a16="http://schemas.microsoft.com/office/drawing/2014/main" id="{1974F85D-7211-B3C7-E281-E071096B97DC}"/>
              </a:ext>
            </a:extLst>
          </p:cNvPr>
          <p:cNvSpPr txBox="1"/>
          <p:nvPr/>
        </p:nvSpPr>
        <p:spPr>
          <a:xfrm>
            <a:off x="9093200" y="2743200"/>
            <a:ext cx="2476500" cy="279400"/>
          </a:xfrm>
          <a:prstGeom prst="rect">
            <a:avLst/>
          </a:prstGeom>
          <a:noFill/>
        </p:spPr>
        <p:txBody>
          <a:bodyPr vert="horz" wrap="square" lIns="0" tIns="0" rIns="0" bIns="0" rtlCol="0" anchor="t">
            <a:noAutofit/>
          </a:bodyPr>
          <a:lstStyle/>
          <a:p>
            <a:r>
              <a:rPr lang="en-CA" sz="1600" b="1">
                <a:solidFill>
                  <a:srgbClr val="50152C"/>
                </a:solidFill>
                <a:latin typeface="Aptos Display" panose="020B0004020202020204" pitchFamily="34" charset="0"/>
              </a:rPr>
              <a:t>Prod</a:t>
            </a:r>
          </a:p>
        </p:txBody>
      </p:sp>
      <p:sp>
        <p:nvSpPr>
          <p:cNvPr id="26" name="TextBox 25">
            <a:extLst>
              <a:ext uri="{FF2B5EF4-FFF2-40B4-BE49-F238E27FC236}">
                <a16:creationId xmlns:a16="http://schemas.microsoft.com/office/drawing/2014/main" id="{DFB25525-27F2-4B38-9529-37F4CD550052}"/>
              </a:ext>
            </a:extLst>
          </p:cNvPr>
          <p:cNvSpPr txBox="1"/>
          <p:nvPr/>
        </p:nvSpPr>
        <p:spPr>
          <a:xfrm>
            <a:off x="9093200" y="3073400"/>
            <a:ext cx="2476500" cy="228600"/>
          </a:xfrm>
          <a:prstGeom prst="rect">
            <a:avLst/>
          </a:prstGeom>
          <a:noFill/>
        </p:spPr>
        <p:txBody>
          <a:bodyPr vert="horz" wrap="square" lIns="0" tIns="0" rIns="0" bIns="0" rtlCol="0" anchor="t">
            <a:noAutofit/>
          </a:bodyPr>
          <a:lstStyle/>
          <a:p>
            <a:r>
              <a:rPr lang="en-CA" sz="1300">
                <a:solidFill>
                  <a:srgbClr val="50152C"/>
                </a:solidFill>
                <a:latin typeface="Consolas" panose="020B0609020204030204" pitchFamily="49" charset="0"/>
              </a:rPr>
              <a:t>10.40.176.0/20</a:t>
            </a:r>
          </a:p>
        </p:txBody>
      </p:sp>
      <p:sp>
        <p:nvSpPr>
          <p:cNvPr id="27" name="TextBox 26">
            <a:extLst>
              <a:ext uri="{FF2B5EF4-FFF2-40B4-BE49-F238E27FC236}">
                <a16:creationId xmlns:a16="http://schemas.microsoft.com/office/drawing/2014/main" id="{1BBD0AE0-CDAE-AC73-6FE4-D3E4D906412A}"/>
              </a:ext>
            </a:extLst>
          </p:cNvPr>
          <p:cNvSpPr txBox="1"/>
          <p:nvPr/>
        </p:nvSpPr>
        <p:spPr>
          <a:xfrm>
            <a:off x="9093200" y="3378200"/>
            <a:ext cx="2476500" cy="203200"/>
          </a:xfrm>
          <a:prstGeom prst="rect">
            <a:avLst/>
          </a:prstGeom>
          <a:noFill/>
        </p:spPr>
        <p:txBody>
          <a:bodyPr vert="horz" wrap="square" lIns="0" tIns="0" rIns="0" bIns="0" rtlCol="0" anchor="t">
            <a:noAutofit/>
          </a:bodyPr>
          <a:lstStyle/>
          <a:p>
            <a:r>
              <a:rPr lang="en-CA" sz="1100">
                <a:solidFill>
                  <a:srgbClr val="595959"/>
                </a:solidFill>
                <a:latin typeface="Calibri" panose="020F0502020204030204" pitchFamily="34" charset="0"/>
              </a:rPr>
              <a:t>SUB-BTE-CAN-DATA-PROD</a:t>
            </a:r>
          </a:p>
        </p:txBody>
      </p:sp>
      <p:sp>
        <p:nvSpPr>
          <p:cNvPr id="28" name="TextBox 27">
            <a:extLst>
              <a:ext uri="{FF2B5EF4-FFF2-40B4-BE49-F238E27FC236}">
                <a16:creationId xmlns:a16="http://schemas.microsoft.com/office/drawing/2014/main" id="{77F271A6-80BE-5014-1594-61FB4C74918D}"/>
              </a:ext>
            </a:extLst>
          </p:cNvPr>
          <p:cNvSpPr txBox="1"/>
          <p:nvPr/>
        </p:nvSpPr>
        <p:spPr>
          <a:xfrm>
            <a:off x="2844800" y="3962400"/>
            <a:ext cx="8902700" cy="457200"/>
          </a:xfrm>
          <a:prstGeom prst="rect">
            <a:avLst/>
          </a:prstGeom>
          <a:noFill/>
        </p:spPr>
        <p:txBody>
          <a:bodyPr vert="horz" wrap="square" lIns="0" tIns="0" rIns="0" bIns="0" rtlCol="0" anchor="t">
            <a:noAutofit/>
          </a:bodyPr>
          <a:lstStyle/>
          <a:p>
            <a:r>
              <a:rPr lang="en-US" sz="1300">
                <a:solidFill>
                  <a:srgbClr val="262626"/>
                </a:solidFill>
                <a:latin typeface="Calibri" panose="020F0502020204030204" pitchFamily="34" charset="0"/>
              </a:rPr>
              <a:t>Every spoke holds the same parts: spoke network, Databricks workspace, ADLS Gen2 data storage, HAProxy connectivity, NCC, monitoring and Terraform state.</a:t>
            </a:r>
            <a:endParaRPr lang="en-CA" sz="1300">
              <a:solidFill>
                <a:srgbClr val="262626"/>
              </a:solidFill>
              <a:latin typeface="Calibri" panose="020F0502020204030204" pitchFamily="34" charset="0"/>
            </a:endParaRPr>
          </a:p>
        </p:txBody>
      </p:sp>
      <p:sp>
        <p:nvSpPr>
          <p:cNvPr id="29" name="Rectangle: Rounded Corners 28">
            <a:extLst>
              <a:ext uri="{FF2B5EF4-FFF2-40B4-BE49-F238E27FC236}">
                <a16:creationId xmlns:a16="http://schemas.microsoft.com/office/drawing/2014/main" id="{657EB256-01B6-B640-C7D0-980F37C6902F}"/>
              </a:ext>
            </a:extLst>
          </p:cNvPr>
          <p:cNvSpPr/>
          <p:nvPr/>
        </p:nvSpPr>
        <p:spPr>
          <a:xfrm>
            <a:off x="2844800" y="4572000"/>
            <a:ext cx="8902700" cy="685800"/>
          </a:xfrm>
          <a:prstGeom prst="roundRect">
            <a:avLst>
              <a:gd name="adj" fmla="val 20000"/>
            </a:avLst>
          </a:prstGeom>
          <a:solidFill>
            <a:srgbClr val="F2F2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0" name="TextBox 29">
            <a:extLst>
              <a:ext uri="{FF2B5EF4-FFF2-40B4-BE49-F238E27FC236}">
                <a16:creationId xmlns:a16="http://schemas.microsoft.com/office/drawing/2014/main" id="{36CDCB17-5D96-06B4-33D1-332C2405B5BA}"/>
              </a:ext>
            </a:extLst>
          </p:cNvPr>
          <p:cNvSpPr txBox="1"/>
          <p:nvPr/>
        </p:nvSpPr>
        <p:spPr>
          <a:xfrm>
            <a:off x="3022600" y="4572000"/>
            <a:ext cx="2730500" cy="685800"/>
          </a:xfrm>
          <a:prstGeom prst="rect">
            <a:avLst/>
          </a:prstGeom>
          <a:noFill/>
        </p:spPr>
        <p:txBody>
          <a:bodyPr vert="horz" wrap="square" lIns="0" tIns="0" rIns="0" bIns="0" rtlCol="0" anchor="ctr">
            <a:noAutofit/>
          </a:bodyPr>
          <a:lstStyle/>
          <a:p>
            <a:r>
              <a:rPr lang="en-CA" sz="1400" b="1">
                <a:solidFill>
                  <a:srgbClr val="50152C"/>
                </a:solidFill>
                <a:latin typeface="Aptos Display" panose="020B0004020202020204" pitchFamily="34" charset="0"/>
              </a:rPr>
              <a:t>Databricks account (existing)</a:t>
            </a:r>
          </a:p>
        </p:txBody>
      </p:sp>
      <p:sp>
        <p:nvSpPr>
          <p:cNvPr id="31" name="Rectangle: Rounded Corners 30">
            <a:extLst>
              <a:ext uri="{FF2B5EF4-FFF2-40B4-BE49-F238E27FC236}">
                <a16:creationId xmlns:a16="http://schemas.microsoft.com/office/drawing/2014/main" id="{D48E88A8-42D1-B053-20FC-44389D3BF385}"/>
              </a:ext>
            </a:extLst>
          </p:cNvPr>
          <p:cNvSpPr/>
          <p:nvPr/>
        </p:nvSpPr>
        <p:spPr>
          <a:xfrm>
            <a:off x="6057900" y="4724400"/>
            <a:ext cx="1905000" cy="381000"/>
          </a:xfrm>
          <a:prstGeom prst="roundRect">
            <a:avLst>
              <a:gd name="adj" fmla="val 50000"/>
            </a:avLst>
          </a:prstGeom>
          <a:solidFill>
            <a:srgbClr val="FCEC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38100" tIns="0" rIns="38100" bIns="0" rtlCol="0" anchor="ctr"/>
          <a:lstStyle/>
          <a:p>
            <a:pPr algn="ctr"/>
            <a:r>
              <a:rPr lang="en-CA" sz="1200">
                <a:solidFill>
                  <a:srgbClr val="50152C"/>
                </a:solidFill>
                <a:latin typeface="Calibri" panose="020F0502020204030204" pitchFamily="34" charset="0"/>
              </a:rPr>
              <a:t>Unity Catalog metastore</a:t>
            </a:r>
          </a:p>
        </p:txBody>
      </p:sp>
      <p:sp>
        <p:nvSpPr>
          <p:cNvPr id="32" name="Rectangle: Rounded Corners 31">
            <a:extLst>
              <a:ext uri="{FF2B5EF4-FFF2-40B4-BE49-F238E27FC236}">
                <a16:creationId xmlns:a16="http://schemas.microsoft.com/office/drawing/2014/main" id="{66239AD2-7434-2EFA-259A-47A299743C57}"/>
              </a:ext>
            </a:extLst>
          </p:cNvPr>
          <p:cNvSpPr/>
          <p:nvPr/>
        </p:nvSpPr>
        <p:spPr>
          <a:xfrm>
            <a:off x="8064500" y="4724400"/>
            <a:ext cx="1905000" cy="381000"/>
          </a:xfrm>
          <a:prstGeom prst="roundRect">
            <a:avLst>
              <a:gd name="adj" fmla="val 50000"/>
            </a:avLst>
          </a:prstGeom>
          <a:solidFill>
            <a:srgbClr val="FCEC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38100" tIns="0" rIns="38100" bIns="0" rtlCol="0" anchor="ctr"/>
          <a:lstStyle/>
          <a:p>
            <a:pPr algn="ctr"/>
            <a:r>
              <a:rPr lang="en-CA" sz="1200">
                <a:solidFill>
                  <a:srgbClr val="50152C"/>
                </a:solidFill>
                <a:latin typeface="Calibri" panose="020F0502020204030204" pitchFamily="34" charset="0"/>
              </a:rPr>
              <a:t>One NCC per environment</a:t>
            </a:r>
          </a:p>
        </p:txBody>
      </p:sp>
      <p:sp>
        <p:nvSpPr>
          <p:cNvPr id="33" name="Rectangle: Rounded Corners 32">
            <a:extLst>
              <a:ext uri="{FF2B5EF4-FFF2-40B4-BE49-F238E27FC236}">
                <a16:creationId xmlns:a16="http://schemas.microsoft.com/office/drawing/2014/main" id="{7BC497E3-30DB-8CC4-550A-959D79C66C53}"/>
              </a:ext>
            </a:extLst>
          </p:cNvPr>
          <p:cNvSpPr/>
          <p:nvPr/>
        </p:nvSpPr>
        <p:spPr>
          <a:xfrm>
            <a:off x="10071100" y="4724400"/>
            <a:ext cx="1524000" cy="381000"/>
          </a:xfrm>
          <a:prstGeom prst="roundRect">
            <a:avLst>
              <a:gd name="adj" fmla="val 50000"/>
            </a:avLst>
          </a:prstGeom>
          <a:solidFill>
            <a:srgbClr val="FCEC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38100" tIns="0" rIns="38100" bIns="0" rtlCol="0" anchor="ctr"/>
          <a:lstStyle/>
          <a:p>
            <a:pPr algn="ctr"/>
            <a:r>
              <a:rPr lang="en-CA" sz="1200">
                <a:solidFill>
                  <a:srgbClr val="50152C"/>
                </a:solidFill>
                <a:latin typeface="Calibri" panose="020F0502020204030204" pitchFamily="34" charset="0"/>
              </a:rPr>
              <a:t>Serverless compute</a:t>
            </a:r>
          </a:p>
        </p:txBody>
      </p:sp>
    </p:spTree>
    <p:extLst>
      <p:ext uri="{BB962C8B-B14F-4D97-AF65-F5344CB8AC3E}">
        <p14:creationId xmlns:p14="http://schemas.microsoft.com/office/powerpoint/2010/main" val="35377225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5669C-1901-859D-0CD1-4008D04C1EB0}"/>
              </a:ext>
            </a:extLst>
          </p:cNvPr>
          <p:cNvSpPr>
            <a:spLocks noGrp="1"/>
          </p:cNvSpPr>
          <p:nvPr>
            <p:ph type="title"/>
          </p:nvPr>
        </p:nvSpPr>
        <p:spPr/>
        <p:txBody>
          <a:bodyPr>
            <a:normAutofit/>
          </a:bodyPr>
          <a:lstStyle/>
          <a:p>
            <a:r>
              <a:rPr lang="en-CA" b="1">
                <a:latin typeface="Aptos Display" panose="020B0004020202020204" pitchFamily="34" charset="0"/>
              </a:rPr>
              <a:t>Environment Architecture</a:t>
            </a:r>
          </a:p>
        </p:txBody>
      </p:sp>
      <p:sp>
        <p:nvSpPr>
          <p:cNvPr id="4" name="Rectangle: Rounded Corners 3">
            <a:extLst>
              <a:ext uri="{FF2B5EF4-FFF2-40B4-BE49-F238E27FC236}">
                <a16:creationId xmlns:a16="http://schemas.microsoft.com/office/drawing/2014/main" id="{47CD8520-77FE-FAE8-FFE6-EFFB97CBC788}"/>
              </a:ext>
            </a:extLst>
          </p:cNvPr>
          <p:cNvSpPr/>
          <p:nvPr/>
        </p:nvSpPr>
        <p:spPr>
          <a:xfrm>
            <a:off x="2844800" y="1270000"/>
            <a:ext cx="1524000" cy="2997200"/>
          </a:xfrm>
          <a:prstGeom prst="roundRect">
            <a:avLst>
              <a:gd name="adj" fmla="val 6000"/>
            </a:avLst>
          </a:prstGeom>
          <a:solidFill>
            <a:srgbClr val="F2F2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TextBox 4">
            <a:extLst>
              <a:ext uri="{FF2B5EF4-FFF2-40B4-BE49-F238E27FC236}">
                <a16:creationId xmlns:a16="http://schemas.microsoft.com/office/drawing/2014/main" id="{91A61DC6-AA55-12A2-324F-36EA4F33529C}"/>
              </a:ext>
            </a:extLst>
          </p:cNvPr>
          <p:cNvSpPr txBox="1"/>
          <p:nvPr/>
        </p:nvSpPr>
        <p:spPr>
          <a:xfrm>
            <a:off x="2946400" y="1371600"/>
            <a:ext cx="1320800" cy="203200"/>
          </a:xfrm>
          <a:prstGeom prst="rect">
            <a:avLst/>
          </a:prstGeom>
          <a:noFill/>
        </p:spPr>
        <p:txBody>
          <a:bodyPr vert="horz" wrap="square" lIns="0" tIns="0" rIns="0" bIns="0" rtlCol="0" anchor="t">
            <a:noAutofit/>
          </a:bodyPr>
          <a:lstStyle/>
          <a:p>
            <a:r>
              <a:rPr lang="en-CA" sz="1050" b="1">
                <a:solidFill>
                  <a:srgbClr val="50152C"/>
                </a:solidFill>
                <a:latin typeface="Aptos Display" panose="020B0004020202020204" pitchFamily="34" charset="0"/>
              </a:rPr>
              <a:t>Azure Databricks</a:t>
            </a:r>
          </a:p>
        </p:txBody>
      </p:sp>
      <p:sp>
        <p:nvSpPr>
          <p:cNvPr id="6" name="Rectangle: Rounded Corners 5">
            <a:extLst>
              <a:ext uri="{FF2B5EF4-FFF2-40B4-BE49-F238E27FC236}">
                <a16:creationId xmlns:a16="http://schemas.microsoft.com/office/drawing/2014/main" id="{A79CE5B3-8506-E3B0-60AB-0416852D2703}"/>
              </a:ext>
            </a:extLst>
          </p:cNvPr>
          <p:cNvSpPr/>
          <p:nvPr/>
        </p:nvSpPr>
        <p:spPr>
          <a:xfrm>
            <a:off x="2971800" y="1676400"/>
            <a:ext cx="1270000" cy="508000"/>
          </a:xfrm>
          <a:prstGeom prst="roundRect">
            <a:avLst>
              <a:gd name="adj" fmla="val 10000"/>
            </a:avLst>
          </a:prstGeom>
          <a:solidFill>
            <a:srgbClr val="FFFFFF"/>
          </a:solidFill>
          <a:ln w="9525">
            <a:solidFill>
              <a:srgbClr val="BFBFBF"/>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0" rIns="50800" bIns="0" rtlCol="0" anchor="ctr">
            <a:noAutofit/>
          </a:bodyPr>
          <a:lstStyle/>
          <a:p>
            <a:pPr algn="ctr"/>
            <a:r>
              <a:rPr lang="en-CA" sz="1000" b="1">
                <a:solidFill>
                  <a:srgbClr val="262626"/>
                </a:solidFill>
                <a:latin typeface="Calibri" panose="020F0502020204030204" pitchFamily="34" charset="0"/>
              </a:rPr>
              <a:t>Control plane</a:t>
            </a:r>
          </a:p>
        </p:txBody>
      </p:sp>
      <p:sp>
        <p:nvSpPr>
          <p:cNvPr id="7" name="Rectangle: Rounded Corners 6">
            <a:extLst>
              <a:ext uri="{FF2B5EF4-FFF2-40B4-BE49-F238E27FC236}">
                <a16:creationId xmlns:a16="http://schemas.microsoft.com/office/drawing/2014/main" id="{86359CE3-B43A-E17D-3303-43275D118178}"/>
              </a:ext>
            </a:extLst>
          </p:cNvPr>
          <p:cNvSpPr/>
          <p:nvPr/>
        </p:nvSpPr>
        <p:spPr>
          <a:xfrm>
            <a:off x="2971800" y="2286000"/>
            <a:ext cx="1270000" cy="508000"/>
          </a:xfrm>
          <a:prstGeom prst="roundRect">
            <a:avLst>
              <a:gd name="adj" fmla="val 10000"/>
            </a:avLst>
          </a:prstGeom>
          <a:solidFill>
            <a:srgbClr val="50152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CA" sz="1000" b="1">
                <a:solidFill>
                  <a:srgbClr val="FFFFFF"/>
                </a:solidFill>
                <a:latin typeface="Calibri" panose="020F0502020204030204" pitchFamily="34" charset="0"/>
              </a:rPr>
              <a:t>Serverless compute</a:t>
            </a:r>
          </a:p>
        </p:txBody>
      </p:sp>
      <p:sp>
        <p:nvSpPr>
          <p:cNvPr id="8" name="Rectangle: Rounded Corners 7">
            <a:extLst>
              <a:ext uri="{FF2B5EF4-FFF2-40B4-BE49-F238E27FC236}">
                <a16:creationId xmlns:a16="http://schemas.microsoft.com/office/drawing/2014/main" id="{320721B5-8274-5951-C4B6-D88443289F93}"/>
              </a:ext>
            </a:extLst>
          </p:cNvPr>
          <p:cNvSpPr/>
          <p:nvPr/>
        </p:nvSpPr>
        <p:spPr>
          <a:xfrm>
            <a:off x="2971800" y="2895600"/>
            <a:ext cx="1270000" cy="508000"/>
          </a:xfrm>
          <a:prstGeom prst="roundRect">
            <a:avLst>
              <a:gd name="adj" fmla="val 10000"/>
            </a:avLst>
          </a:prstGeom>
          <a:solidFill>
            <a:srgbClr val="FFFFFF"/>
          </a:solidFill>
          <a:ln w="9525">
            <a:solidFill>
              <a:srgbClr val="BFBFBF"/>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0" rIns="50800" bIns="0" rtlCol="0" anchor="ctr">
            <a:noAutofit/>
          </a:bodyPr>
          <a:lstStyle/>
          <a:p>
            <a:pPr algn="ctr"/>
            <a:r>
              <a:rPr lang="en-CA" sz="1000" b="1">
                <a:solidFill>
                  <a:srgbClr val="262626"/>
                </a:solidFill>
                <a:latin typeface="Calibri" panose="020F0502020204030204" pitchFamily="34" charset="0"/>
              </a:rPr>
              <a:t>NCC and network policy</a:t>
            </a:r>
          </a:p>
        </p:txBody>
      </p:sp>
      <p:sp>
        <p:nvSpPr>
          <p:cNvPr id="9" name="Rectangle: Rounded Corners 8">
            <a:extLst>
              <a:ext uri="{FF2B5EF4-FFF2-40B4-BE49-F238E27FC236}">
                <a16:creationId xmlns:a16="http://schemas.microsoft.com/office/drawing/2014/main" id="{F3DDA69A-81DC-F22B-3716-94A4055CD108}"/>
              </a:ext>
            </a:extLst>
          </p:cNvPr>
          <p:cNvSpPr/>
          <p:nvPr/>
        </p:nvSpPr>
        <p:spPr>
          <a:xfrm>
            <a:off x="2971800" y="3505200"/>
            <a:ext cx="1270000" cy="508000"/>
          </a:xfrm>
          <a:prstGeom prst="roundRect">
            <a:avLst>
              <a:gd name="adj" fmla="val 10000"/>
            </a:avLst>
          </a:prstGeom>
          <a:solidFill>
            <a:srgbClr val="FFFFFF"/>
          </a:solidFill>
          <a:ln w="9525">
            <a:solidFill>
              <a:srgbClr val="BFBFBF"/>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0" rIns="50800" bIns="0" rtlCol="0" anchor="ctr">
            <a:noAutofit/>
          </a:bodyPr>
          <a:lstStyle/>
          <a:p>
            <a:pPr algn="ctr"/>
            <a:r>
              <a:rPr lang="en-CA" sz="1000" b="1">
                <a:solidFill>
                  <a:srgbClr val="262626"/>
                </a:solidFill>
                <a:latin typeface="Calibri" panose="020F0502020204030204" pitchFamily="34" charset="0"/>
              </a:rPr>
              <a:t>Unity Catalog metastore</a:t>
            </a:r>
          </a:p>
        </p:txBody>
      </p:sp>
      <p:sp>
        <p:nvSpPr>
          <p:cNvPr id="10" name="Rectangle: Rounded Corners 9">
            <a:extLst>
              <a:ext uri="{FF2B5EF4-FFF2-40B4-BE49-F238E27FC236}">
                <a16:creationId xmlns:a16="http://schemas.microsoft.com/office/drawing/2014/main" id="{2F186A77-338F-4E33-DE59-30C9CB4CAFAC}"/>
              </a:ext>
            </a:extLst>
          </p:cNvPr>
          <p:cNvSpPr/>
          <p:nvPr/>
        </p:nvSpPr>
        <p:spPr>
          <a:xfrm>
            <a:off x="2844800" y="5410200"/>
            <a:ext cx="1524000" cy="838200"/>
          </a:xfrm>
          <a:prstGeom prst="roundRect">
            <a:avLst>
              <a:gd name="adj" fmla="val 10000"/>
            </a:avLst>
          </a:prstGeom>
          <a:solidFill>
            <a:srgbClr val="FFFFFF"/>
          </a:solidFill>
          <a:ln w="9525">
            <a:solidFill>
              <a:srgbClr val="50152C"/>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0" rIns="50800" bIns="0" rtlCol="0" anchor="ctr">
            <a:noAutofit/>
          </a:bodyPr>
          <a:lstStyle/>
          <a:p>
            <a:pPr algn="ctr"/>
            <a:r>
              <a:rPr lang="en-US" sz="1000" b="1">
                <a:solidFill>
                  <a:srgbClr val="50152C"/>
                </a:solidFill>
                <a:latin typeface="Calibri" panose="020F0502020204030204" pitchFamily="34" charset="0"/>
              </a:rPr>
              <a:t>Users, Power BI, GitHub</a:t>
            </a:r>
          </a:p>
          <a:p>
            <a:pPr algn="ctr"/>
            <a:r>
              <a:rPr lang="en-US" sz="1000">
                <a:solidFill>
                  <a:srgbClr val="50152C"/>
                </a:solidFill>
                <a:latin typeface="Calibri" panose="020F0502020204030204" pitchFamily="34" charset="0"/>
              </a:rPr>
              <a:t>Entra ID sign-in</a:t>
            </a:r>
            <a:endParaRPr lang="en-CA" sz="1000">
              <a:solidFill>
                <a:srgbClr val="50152C"/>
              </a:solidFill>
              <a:latin typeface="Calibri" panose="020F0502020204030204" pitchFamily="34" charset="0"/>
            </a:endParaRPr>
          </a:p>
        </p:txBody>
      </p:sp>
      <p:sp>
        <p:nvSpPr>
          <p:cNvPr id="11" name="Rectangle: Rounded Corners 10">
            <a:extLst>
              <a:ext uri="{FF2B5EF4-FFF2-40B4-BE49-F238E27FC236}">
                <a16:creationId xmlns:a16="http://schemas.microsoft.com/office/drawing/2014/main" id="{8074FB46-784B-B0D1-2939-246FBCCA2EC6}"/>
              </a:ext>
            </a:extLst>
          </p:cNvPr>
          <p:cNvSpPr/>
          <p:nvPr/>
        </p:nvSpPr>
        <p:spPr>
          <a:xfrm>
            <a:off x="4572000" y="1270000"/>
            <a:ext cx="5143500" cy="5080000"/>
          </a:xfrm>
          <a:prstGeom prst="roundRect">
            <a:avLst>
              <a:gd name="adj" fmla="val 3000"/>
            </a:avLst>
          </a:prstGeom>
          <a:solidFill>
            <a:srgbClr val="FFFFFF"/>
          </a:solidFill>
          <a:ln w="9525">
            <a:solidFill>
              <a:srgbClr val="50152C"/>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TextBox 11">
            <a:extLst>
              <a:ext uri="{FF2B5EF4-FFF2-40B4-BE49-F238E27FC236}">
                <a16:creationId xmlns:a16="http://schemas.microsoft.com/office/drawing/2014/main" id="{36828C38-5325-F04B-765D-BEFA988AC941}"/>
              </a:ext>
            </a:extLst>
          </p:cNvPr>
          <p:cNvSpPr txBox="1"/>
          <p:nvPr/>
        </p:nvSpPr>
        <p:spPr>
          <a:xfrm>
            <a:off x="4699000" y="1320800"/>
            <a:ext cx="4889500" cy="203200"/>
          </a:xfrm>
          <a:prstGeom prst="rect">
            <a:avLst/>
          </a:prstGeom>
          <a:noFill/>
        </p:spPr>
        <p:txBody>
          <a:bodyPr vert="horz" wrap="square" lIns="0" tIns="0" rIns="0" bIns="0" rtlCol="0" anchor="t">
            <a:noAutofit/>
          </a:bodyPr>
          <a:lstStyle/>
          <a:p>
            <a:r>
              <a:rPr lang="en-US" sz="1000" b="1">
                <a:solidFill>
                  <a:srgbClr val="50152C"/>
                </a:solidFill>
                <a:latin typeface="Aptos Display" panose="020B0004020202020204" pitchFamily="34" charset="0"/>
              </a:rPr>
              <a:t>Environment spoke subscription (dev, test or prod)</a:t>
            </a:r>
            <a:endParaRPr lang="en-CA" sz="1000" b="1">
              <a:solidFill>
                <a:srgbClr val="50152C"/>
              </a:solidFill>
              <a:latin typeface="Aptos Display" panose="020B0004020202020204" pitchFamily="34" charset="0"/>
            </a:endParaRPr>
          </a:p>
        </p:txBody>
      </p:sp>
      <p:sp>
        <p:nvSpPr>
          <p:cNvPr id="13" name="Rectangle: Rounded Corners 12">
            <a:extLst>
              <a:ext uri="{FF2B5EF4-FFF2-40B4-BE49-F238E27FC236}">
                <a16:creationId xmlns:a16="http://schemas.microsoft.com/office/drawing/2014/main" id="{F9C3EF0D-5134-1D75-DE73-473B868B8C94}"/>
              </a:ext>
            </a:extLst>
          </p:cNvPr>
          <p:cNvSpPr/>
          <p:nvPr/>
        </p:nvSpPr>
        <p:spPr>
          <a:xfrm>
            <a:off x="4699000" y="1574800"/>
            <a:ext cx="4889500" cy="3708400"/>
          </a:xfrm>
          <a:prstGeom prst="roundRect">
            <a:avLst>
              <a:gd name="adj" fmla="val 4000"/>
            </a:avLst>
          </a:prstGeom>
          <a:solidFill>
            <a:srgbClr val="FCEC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TextBox 13">
            <a:extLst>
              <a:ext uri="{FF2B5EF4-FFF2-40B4-BE49-F238E27FC236}">
                <a16:creationId xmlns:a16="http://schemas.microsoft.com/office/drawing/2014/main" id="{DB436017-8717-A9C1-1B2C-CF63F9BFD59F}"/>
              </a:ext>
            </a:extLst>
          </p:cNvPr>
          <p:cNvSpPr txBox="1"/>
          <p:nvPr/>
        </p:nvSpPr>
        <p:spPr>
          <a:xfrm>
            <a:off x="4826000" y="1625600"/>
            <a:ext cx="4635500" cy="177800"/>
          </a:xfrm>
          <a:prstGeom prst="rect">
            <a:avLst/>
          </a:prstGeom>
          <a:noFill/>
        </p:spPr>
        <p:txBody>
          <a:bodyPr vert="horz" wrap="square" lIns="0" tIns="0" rIns="0" bIns="0" rtlCol="0" anchor="t">
            <a:noAutofit/>
          </a:bodyPr>
          <a:lstStyle/>
          <a:p>
            <a:r>
              <a:rPr lang="en-CA" sz="1000" b="1">
                <a:solidFill>
                  <a:srgbClr val="50152C"/>
                </a:solidFill>
                <a:latin typeface="Aptos Display" panose="020B0004020202020204" pitchFamily="34" charset="0"/>
              </a:rPr>
              <a:t>Spoke VNet (/20)</a:t>
            </a:r>
          </a:p>
        </p:txBody>
      </p:sp>
      <p:sp>
        <p:nvSpPr>
          <p:cNvPr id="15" name="Rectangle: Rounded Corners 14">
            <a:extLst>
              <a:ext uri="{FF2B5EF4-FFF2-40B4-BE49-F238E27FC236}">
                <a16:creationId xmlns:a16="http://schemas.microsoft.com/office/drawing/2014/main" id="{7B072239-A12C-FC18-1B34-4A959A573E29}"/>
              </a:ext>
            </a:extLst>
          </p:cNvPr>
          <p:cNvSpPr/>
          <p:nvPr/>
        </p:nvSpPr>
        <p:spPr>
          <a:xfrm>
            <a:off x="4826000" y="1854200"/>
            <a:ext cx="2540000" cy="1397000"/>
          </a:xfrm>
          <a:prstGeom prst="roundRect">
            <a:avLst>
              <a:gd name="adj" fmla="val 6000"/>
            </a:avLst>
          </a:prstGeom>
          <a:solidFill>
            <a:srgbClr val="FFFFFF"/>
          </a:solidFill>
          <a:ln w="9525">
            <a:solidFill>
              <a:srgbClr val="F8D7C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 name="TextBox 15">
            <a:extLst>
              <a:ext uri="{FF2B5EF4-FFF2-40B4-BE49-F238E27FC236}">
                <a16:creationId xmlns:a16="http://schemas.microsoft.com/office/drawing/2014/main" id="{C4C7F8F4-68EF-DBBB-C9D5-30F8F64E72A2}"/>
              </a:ext>
            </a:extLst>
          </p:cNvPr>
          <p:cNvSpPr txBox="1"/>
          <p:nvPr/>
        </p:nvSpPr>
        <p:spPr>
          <a:xfrm>
            <a:off x="4927600" y="1905000"/>
            <a:ext cx="2336800" cy="355600"/>
          </a:xfrm>
          <a:prstGeom prst="rect">
            <a:avLst/>
          </a:prstGeom>
          <a:noFill/>
        </p:spPr>
        <p:txBody>
          <a:bodyPr vert="horz" wrap="square" lIns="0" tIns="0" rIns="0" bIns="0" rtlCol="0" anchor="t">
            <a:noAutofit/>
          </a:bodyPr>
          <a:lstStyle/>
          <a:p>
            <a:r>
              <a:rPr lang="en-US" sz="1000" b="1">
                <a:solidFill>
                  <a:srgbClr val="50152C"/>
                </a:solidFill>
                <a:latin typeface="Aptos Display" panose="020B0004020202020204" pitchFamily="34" charset="0"/>
              </a:rPr>
              <a:t>Databricks host and container subnets</a:t>
            </a:r>
            <a:endParaRPr lang="en-CA" sz="1000" b="1">
              <a:solidFill>
                <a:srgbClr val="50152C"/>
              </a:solidFill>
              <a:latin typeface="Aptos Display" panose="020B0004020202020204" pitchFamily="34" charset="0"/>
            </a:endParaRPr>
          </a:p>
        </p:txBody>
      </p:sp>
      <p:sp>
        <p:nvSpPr>
          <p:cNvPr id="17" name="Rectangle: Rounded Corners 16">
            <a:extLst>
              <a:ext uri="{FF2B5EF4-FFF2-40B4-BE49-F238E27FC236}">
                <a16:creationId xmlns:a16="http://schemas.microsoft.com/office/drawing/2014/main" id="{1BC4DD86-5FD2-9B00-C4AE-539247438FA0}"/>
              </a:ext>
            </a:extLst>
          </p:cNvPr>
          <p:cNvSpPr/>
          <p:nvPr/>
        </p:nvSpPr>
        <p:spPr>
          <a:xfrm>
            <a:off x="4953000" y="2362200"/>
            <a:ext cx="2286000" cy="381000"/>
          </a:xfrm>
          <a:prstGeom prst="roundRect">
            <a:avLst>
              <a:gd name="adj" fmla="val 10000"/>
            </a:avLst>
          </a:prstGeom>
          <a:solidFill>
            <a:srgbClr val="50152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US" sz="1000" b="1">
                <a:solidFill>
                  <a:srgbClr val="FFFFFF"/>
                </a:solidFill>
                <a:latin typeface="Calibri" panose="020F0502020204030204" pitchFamily="34" charset="0"/>
              </a:rPr>
              <a:t>Classic compute, no public IPs</a:t>
            </a:r>
            <a:endParaRPr lang="en-CA" sz="1000" b="1">
              <a:solidFill>
                <a:srgbClr val="FFFFFF"/>
              </a:solidFill>
              <a:latin typeface="Calibri" panose="020F0502020204030204" pitchFamily="34" charset="0"/>
            </a:endParaRPr>
          </a:p>
        </p:txBody>
      </p:sp>
      <p:sp>
        <p:nvSpPr>
          <p:cNvPr id="18" name="TextBox 17">
            <a:extLst>
              <a:ext uri="{FF2B5EF4-FFF2-40B4-BE49-F238E27FC236}">
                <a16:creationId xmlns:a16="http://schemas.microsoft.com/office/drawing/2014/main" id="{BC0C373C-EDF9-47C5-045E-C6126444DE37}"/>
              </a:ext>
            </a:extLst>
          </p:cNvPr>
          <p:cNvSpPr txBox="1"/>
          <p:nvPr/>
        </p:nvSpPr>
        <p:spPr>
          <a:xfrm>
            <a:off x="4953000" y="2819400"/>
            <a:ext cx="2286000" cy="355600"/>
          </a:xfrm>
          <a:prstGeom prst="rect">
            <a:avLst/>
          </a:prstGeom>
          <a:noFill/>
        </p:spPr>
        <p:txBody>
          <a:bodyPr vert="horz" wrap="square" lIns="0" tIns="0" rIns="0" bIns="0" rtlCol="0" anchor="t">
            <a:noAutofit/>
          </a:bodyPr>
          <a:lstStyle/>
          <a:p>
            <a:r>
              <a:rPr lang="en-US" sz="1000">
                <a:solidFill>
                  <a:srgbClr val="595959"/>
                </a:solidFill>
                <a:latin typeface="Calibri" panose="020F0502020204030204" pitchFamily="34" charset="0"/>
              </a:rPr>
              <a:t>Route table sends on-premises and spoke traffic to the firewall</a:t>
            </a:r>
            <a:endParaRPr lang="en-CA" sz="1000">
              <a:solidFill>
                <a:srgbClr val="595959"/>
              </a:solidFill>
              <a:latin typeface="Calibri" panose="020F0502020204030204" pitchFamily="34" charset="0"/>
            </a:endParaRPr>
          </a:p>
        </p:txBody>
      </p:sp>
      <p:sp>
        <p:nvSpPr>
          <p:cNvPr id="19" name="Rectangle: Rounded Corners 18">
            <a:extLst>
              <a:ext uri="{FF2B5EF4-FFF2-40B4-BE49-F238E27FC236}">
                <a16:creationId xmlns:a16="http://schemas.microsoft.com/office/drawing/2014/main" id="{E3A28F0E-815D-E088-8195-F2F40459628B}"/>
              </a:ext>
            </a:extLst>
          </p:cNvPr>
          <p:cNvSpPr/>
          <p:nvPr/>
        </p:nvSpPr>
        <p:spPr>
          <a:xfrm>
            <a:off x="7518400" y="1854200"/>
            <a:ext cx="1943100" cy="508000"/>
          </a:xfrm>
          <a:prstGeom prst="roundRect">
            <a:avLst>
              <a:gd name="adj" fmla="val 10000"/>
            </a:avLst>
          </a:prstGeom>
          <a:solidFill>
            <a:srgbClr val="FFFFFF"/>
          </a:solidFill>
          <a:ln w="9525">
            <a:solidFill>
              <a:srgbClr val="BFBFBF"/>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0" rIns="50800" bIns="0" rtlCol="0" anchor="ctr">
            <a:noAutofit/>
          </a:bodyPr>
          <a:lstStyle/>
          <a:p>
            <a:pPr algn="ctr"/>
            <a:r>
              <a:rPr lang="en-CA" sz="1000" b="1">
                <a:solidFill>
                  <a:srgbClr val="262626"/>
                </a:solidFill>
                <a:latin typeface="Calibri" panose="020F0502020204030204" pitchFamily="34" charset="0"/>
              </a:rPr>
              <a:t>NAT Gateway</a:t>
            </a:r>
          </a:p>
        </p:txBody>
      </p:sp>
      <p:sp>
        <p:nvSpPr>
          <p:cNvPr id="20" name="Rectangle: Rounded Corners 19">
            <a:extLst>
              <a:ext uri="{FF2B5EF4-FFF2-40B4-BE49-F238E27FC236}">
                <a16:creationId xmlns:a16="http://schemas.microsoft.com/office/drawing/2014/main" id="{32E7FE20-A7A7-256B-2370-5F78CA7F7540}"/>
              </a:ext>
            </a:extLst>
          </p:cNvPr>
          <p:cNvSpPr/>
          <p:nvPr/>
        </p:nvSpPr>
        <p:spPr>
          <a:xfrm>
            <a:off x="7518400" y="2489200"/>
            <a:ext cx="1943100" cy="2667000"/>
          </a:xfrm>
          <a:prstGeom prst="roundRect">
            <a:avLst>
              <a:gd name="adj" fmla="val 6000"/>
            </a:avLst>
          </a:prstGeom>
          <a:solidFill>
            <a:srgbClr val="FFFFFF"/>
          </a:solidFill>
          <a:ln w="9525">
            <a:solidFill>
              <a:srgbClr val="F8D7C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1" name="TextBox 20">
            <a:extLst>
              <a:ext uri="{FF2B5EF4-FFF2-40B4-BE49-F238E27FC236}">
                <a16:creationId xmlns:a16="http://schemas.microsoft.com/office/drawing/2014/main" id="{4D2A3D37-9D7A-F7A8-F48C-5481A50CF8E7}"/>
              </a:ext>
            </a:extLst>
          </p:cNvPr>
          <p:cNvSpPr txBox="1"/>
          <p:nvPr/>
        </p:nvSpPr>
        <p:spPr>
          <a:xfrm>
            <a:off x="7620000" y="2540000"/>
            <a:ext cx="1739900" cy="177800"/>
          </a:xfrm>
          <a:prstGeom prst="rect">
            <a:avLst/>
          </a:prstGeom>
          <a:noFill/>
        </p:spPr>
        <p:txBody>
          <a:bodyPr vert="horz" wrap="square" lIns="0" tIns="0" rIns="0" bIns="0" rtlCol="0" anchor="t">
            <a:noAutofit/>
          </a:bodyPr>
          <a:lstStyle/>
          <a:p>
            <a:r>
              <a:rPr lang="en-CA" sz="1000" b="1">
                <a:solidFill>
                  <a:srgbClr val="50152C"/>
                </a:solidFill>
                <a:latin typeface="Aptos Display" panose="020B0004020202020204" pitchFamily="34" charset="0"/>
              </a:rPr>
              <a:t>Proxy subnet</a:t>
            </a:r>
          </a:p>
        </p:txBody>
      </p:sp>
      <p:sp>
        <p:nvSpPr>
          <p:cNvPr id="22" name="Rectangle: Rounded Corners 21">
            <a:extLst>
              <a:ext uri="{FF2B5EF4-FFF2-40B4-BE49-F238E27FC236}">
                <a16:creationId xmlns:a16="http://schemas.microsoft.com/office/drawing/2014/main" id="{85E8A3C1-7AEA-4E64-2B85-E0B688EEB466}"/>
              </a:ext>
            </a:extLst>
          </p:cNvPr>
          <p:cNvSpPr/>
          <p:nvPr/>
        </p:nvSpPr>
        <p:spPr>
          <a:xfrm>
            <a:off x="7645400" y="2794000"/>
            <a:ext cx="1689100" cy="558800"/>
          </a:xfrm>
          <a:prstGeom prst="roundRect">
            <a:avLst>
              <a:gd name="adj" fmla="val 10000"/>
            </a:avLst>
          </a:prstGeom>
          <a:solidFill>
            <a:srgbClr val="F8D7C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US" sz="1000" b="1">
                <a:solidFill>
                  <a:srgbClr val="50152C"/>
                </a:solidFill>
                <a:latin typeface="Calibri" panose="020F0502020204030204" pitchFamily="34" charset="0"/>
              </a:rPr>
              <a:t>2 load balancers, 13 Private Link Services</a:t>
            </a:r>
            <a:endParaRPr lang="en-CA" sz="1000" b="1">
              <a:solidFill>
                <a:srgbClr val="50152C"/>
              </a:solidFill>
              <a:latin typeface="Calibri" panose="020F0502020204030204" pitchFamily="34" charset="0"/>
            </a:endParaRPr>
          </a:p>
        </p:txBody>
      </p:sp>
      <p:sp>
        <p:nvSpPr>
          <p:cNvPr id="23" name="Rectangle: Rounded Corners 22">
            <a:extLst>
              <a:ext uri="{FF2B5EF4-FFF2-40B4-BE49-F238E27FC236}">
                <a16:creationId xmlns:a16="http://schemas.microsoft.com/office/drawing/2014/main" id="{A6AACA7C-457A-E61E-D371-2FB95E7EE99E}"/>
              </a:ext>
            </a:extLst>
          </p:cNvPr>
          <p:cNvSpPr/>
          <p:nvPr/>
        </p:nvSpPr>
        <p:spPr>
          <a:xfrm>
            <a:off x="7645400" y="3454400"/>
            <a:ext cx="1689100" cy="381000"/>
          </a:xfrm>
          <a:prstGeom prst="roundRect">
            <a:avLst>
              <a:gd name="adj" fmla="val 10000"/>
            </a:avLst>
          </a:prstGeom>
          <a:solidFill>
            <a:srgbClr val="6E2A4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CA" sz="1000" b="1">
                <a:solidFill>
                  <a:srgbClr val="FFFFFF"/>
                </a:solidFill>
                <a:latin typeface="Calibri" panose="020F0502020204030204" pitchFamily="34" charset="0"/>
              </a:rPr>
              <a:t>HAProxy VM, zone 1</a:t>
            </a:r>
          </a:p>
        </p:txBody>
      </p:sp>
      <p:sp>
        <p:nvSpPr>
          <p:cNvPr id="24" name="Rectangle: Rounded Corners 23">
            <a:extLst>
              <a:ext uri="{FF2B5EF4-FFF2-40B4-BE49-F238E27FC236}">
                <a16:creationId xmlns:a16="http://schemas.microsoft.com/office/drawing/2014/main" id="{8DD9F092-18B3-34F7-2950-3DB51BA2679B}"/>
              </a:ext>
            </a:extLst>
          </p:cNvPr>
          <p:cNvSpPr/>
          <p:nvPr/>
        </p:nvSpPr>
        <p:spPr>
          <a:xfrm>
            <a:off x="7645400" y="3911600"/>
            <a:ext cx="1689100" cy="381000"/>
          </a:xfrm>
          <a:prstGeom prst="roundRect">
            <a:avLst>
              <a:gd name="adj" fmla="val 10000"/>
            </a:avLst>
          </a:prstGeom>
          <a:solidFill>
            <a:srgbClr val="6E2A4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CA" sz="1000" b="1">
                <a:solidFill>
                  <a:srgbClr val="FFFFFF"/>
                </a:solidFill>
                <a:latin typeface="Calibri" panose="020F0502020204030204" pitchFamily="34" charset="0"/>
              </a:rPr>
              <a:t>HAProxy VM, zone 2</a:t>
            </a:r>
          </a:p>
        </p:txBody>
      </p:sp>
      <p:sp>
        <p:nvSpPr>
          <p:cNvPr id="25" name="TextBox 24">
            <a:extLst>
              <a:ext uri="{FF2B5EF4-FFF2-40B4-BE49-F238E27FC236}">
                <a16:creationId xmlns:a16="http://schemas.microsoft.com/office/drawing/2014/main" id="{470C3227-0B79-FDE9-745F-AD3AFBF4BC04}"/>
              </a:ext>
            </a:extLst>
          </p:cNvPr>
          <p:cNvSpPr txBox="1"/>
          <p:nvPr/>
        </p:nvSpPr>
        <p:spPr>
          <a:xfrm>
            <a:off x="7645400" y="4394200"/>
            <a:ext cx="1689100" cy="660400"/>
          </a:xfrm>
          <a:prstGeom prst="rect">
            <a:avLst/>
          </a:prstGeom>
          <a:noFill/>
        </p:spPr>
        <p:txBody>
          <a:bodyPr vert="horz" wrap="square" lIns="0" tIns="0" rIns="0" bIns="0" rtlCol="0" anchor="t">
            <a:noAutofit/>
          </a:bodyPr>
          <a:lstStyle/>
          <a:p>
            <a:r>
              <a:rPr lang="en-US" sz="1000">
                <a:solidFill>
                  <a:srgbClr val="595959"/>
                </a:solidFill>
                <a:latin typeface="Calibri" panose="020F0502020204030204" pitchFamily="34" charset="0"/>
              </a:rPr>
              <a:t>Default route sends all traffic to the firewall</a:t>
            </a:r>
            <a:endParaRPr lang="en-CA" sz="1000">
              <a:solidFill>
                <a:srgbClr val="595959"/>
              </a:solidFill>
              <a:latin typeface="Calibri" panose="020F0502020204030204" pitchFamily="34" charset="0"/>
            </a:endParaRPr>
          </a:p>
        </p:txBody>
      </p:sp>
      <p:sp>
        <p:nvSpPr>
          <p:cNvPr id="26" name="Rectangle: Rounded Corners 25">
            <a:extLst>
              <a:ext uri="{FF2B5EF4-FFF2-40B4-BE49-F238E27FC236}">
                <a16:creationId xmlns:a16="http://schemas.microsoft.com/office/drawing/2014/main" id="{D33658A9-7E02-856D-0D34-F4069FB1698B}"/>
              </a:ext>
            </a:extLst>
          </p:cNvPr>
          <p:cNvSpPr/>
          <p:nvPr/>
        </p:nvSpPr>
        <p:spPr>
          <a:xfrm>
            <a:off x="4826000" y="3403600"/>
            <a:ext cx="2540000" cy="1752600"/>
          </a:xfrm>
          <a:prstGeom prst="roundRect">
            <a:avLst>
              <a:gd name="adj" fmla="val 6000"/>
            </a:avLst>
          </a:prstGeom>
          <a:solidFill>
            <a:srgbClr val="FFFFFF"/>
          </a:solidFill>
          <a:ln w="9525">
            <a:solidFill>
              <a:srgbClr val="F8D7C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7" name="TextBox 26">
            <a:extLst>
              <a:ext uri="{FF2B5EF4-FFF2-40B4-BE49-F238E27FC236}">
                <a16:creationId xmlns:a16="http://schemas.microsoft.com/office/drawing/2014/main" id="{2B630742-9678-1112-C357-903596E4CA8B}"/>
              </a:ext>
            </a:extLst>
          </p:cNvPr>
          <p:cNvSpPr txBox="1"/>
          <p:nvPr/>
        </p:nvSpPr>
        <p:spPr>
          <a:xfrm>
            <a:off x="4927600" y="3454400"/>
            <a:ext cx="2336800" cy="177800"/>
          </a:xfrm>
          <a:prstGeom prst="rect">
            <a:avLst/>
          </a:prstGeom>
          <a:noFill/>
        </p:spPr>
        <p:txBody>
          <a:bodyPr vert="horz" wrap="square" lIns="0" tIns="0" rIns="0" bIns="0" rtlCol="0" anchor="t">
            <a:noAutofit/>
          </a:bodyPr>
          <a:lstStyle/>
          <a:p>
            <a:r>
              <a:rPr lang="en-CA" sz="1000" b="1">
                <a:solidFill>
                  <a:srgbClr val="50152C"/>
                </a:solidFill>
                <a:latin typeface="Aptos Display" panose="020B0004020202020204" pitchFamily="34" charset="0"/>
              </a:rPr>
              <a:t>Private endpoint subnet</a:t>
            </a:r>
          </a:p>
        </p:txBody>
      </p:sp>
      <p:sp>
        <p:nvSpPr>
          <p:cNvPr id="28" name="Rectangle: Rounded Corners 27">
            <a:extLst>
              <a:ext uri="{FF2B5EF4-FFF2-40B4-BE49-F238E27FC236}">
                <a16:creationId xmlns:a16="http://schemas.microsoft.com/office/drawing/2014/main" id="{5B785989-5AED-3B3C-DE97-C0AA0067D5D2}"/>
              </a:ext>
            </a:extLst>
          </p:cNvPr>
          <p:cNvSpPr/>
          <p:nvPr/>
        </p:nvSpPr>
        <p:spPr>
          <a:xfrm>
            <a:off x="4953000" y="3708400"/>
            <a:ext cx="2286000" cy="355600"/>
          </a:xfrm>
          <a:prstGeom prst="roundRect">
            <a:avLst>
              <a:gd name="adj" fmla="val 10000"/>
            </a:avLst>
          </a:prstGeom>
          <a:solidFill>
            <a:srgbClr val="F2F2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CA" sz="1000" b="1">
                <a:solidFill>
                  <a:srgbClr val="262626"/>
                </a:solidFill>
                <a:latin typeface="Calibri" panose="020F0502020204030204" pitchFamily="34" charset="0"/>
              </a:rPr>
              <a:t>Blob private endpoint</a:t>
            </a:r>
          </a:p>
        </p:txBody>
      </p:sp>
      <p:sp>
        <p:nvSpPr>
          <p:cNvPr id="29" name="Rectangle: Rounded Corners 28">
            <a:extLst>
              <a:ext uri="{FF2B5EF4-FFF2-40B4-BE49-F238E27FC236}">
                <a16:creationId xmlns:a16="http://schemas.microsoft.com/office/drawing/2014/main" id="{A953FE95-FED8-1202-391A-C566129B6640}"/>
              </a:ext>
            </a:extLst>
          </p:cNvPr>
          <p:cNvSpPr/>
          <p:nvPr/>
        </p:nvSpPr>
        <p:spPr>
          <a:xfrm>
            <a:off x="4953000" y="4140200"/>
            <a:ext cx="2286000" cy="355600"/>
          </a:xfrm>
          <a:prstGeom prst="roundRect">
            <a:avLst>
              <a:gd name="adj" fmla="val 10000"/>
            </a:avLst>
          </a:prstGeom>
          <a:solidFill>
            <a:srgbClr val="F2F2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CA" sz="1000" b="1">
                <a:solidFill>
                  <a:srgbClr val="262626"/>
                </a:solidFill>
                <a:latin typeface="Calibri" panose="020F0502020204030204" pitchFamily="34" charset="0"/>
              </a:rPr>
              <a:t>DFS private endpoint</a:t>
            </a:r>
          </a:p>
        </p:txBody>
      </p:sp>
      <p:sp>
        <p:nvSpPr>
          <p:cNvPr id="30" name="TextBox 29">
            <a:extLst>
              <a:ext uri="{FF2B5EF4-FFF2-40B4-BE49-F238E27FC236}">
                <a16:creationId xmlns:a16="http://schemas.microsoft.com/office/drawing/2014/main" id="{6BFA54E4-E2FC-627C-72F0-26EF25313142}"/>
              </a:ext>
            </a:extLst>
          </p:cNvPr>
          <p:cNvSpPr txBox="1"/>
          <p:nvPr/>
        </p:nvSpPr>
        <p:spPr>
          <a:xfrm>
            <a:off x="4953000" y="4597400"/>
            <a:ext cx="2286000" cy="457200"/>
          </a:xfrm>
          <a:prstGeom prst="rect">
            <a:avLst/>
          </a:prstGeom>
          <a:noFill/>
        </p:spPr>
        <p:txBody>
          <a:bodyPr vert="horz" wrap="square" lIns="0" tIns="0" rIns="0" bIns="0" rtlCol="0" anchor="t">
            <a:noAutofit/>
          </a:bodyPr>
          <a:lstStyle/>
          <a:p>
            <a:r>
              <a:rPr lang="en-US" sz="1000">
                <a:solidFill>
                  <a:srgbClr val="595959"/>
                </a:solidFill>
                <a:latin typeface="Calibri" panose="020F0502020204030204" pitchFamily="34" charset="0"/>
              </a:rPr>
              <a:t>Fixed addresses, so DNS records survive a rebuild</a:t>
            </a:r>
            <a:endParaRPr lang="en-CA" sz="1000">
              <a:solidFill>
                <a:srgbClr val="595959"/>
              </a:solidFill>
              <a:latin typeface="Calibri" panose="020F0502020204030204" pitchFamily="34" charset="0"/>
            </a:endParaRPr>
          </a:p>
        </p:txBody>
      </p:sp>
      <p:sp>
        <p:nvSpPr>
          <p:cNvPr id="31" name="Rectangle: Rounded Corners 30">
            <a:extLst>
              <a:ext uri="{FF2B5EF4-FFF2-40B4-BE49-F238E27FC236}">
                <a16:creationId xmlns:a16="http://schemas.microsoft.com/office/drawing/2014/main" id="{EBBDA904-EEB0-2361-F0BA-D0BC9C9ED012}"/>
              </a:ext>
            </a:extLst>
          </p:cNvPr>
          <p:cNvSpPr/>
          <p:nvPr/>
        </p:nvSpPr>
        <p:spPr>
          <a:xfrm>
            <a:off x="4699000" y="5410200"/>
            <a:ext cx="1168400" cy="838200"/>
          </a:xfrm>
          <a:prstGeom prst="roundRect">
            <a:avLst>
              <a:gd name="adj" fmla="val 10000"/>
            </a:avLst>
          </a:prstGeom>
          <a:solidFill>
            <a:srgbClr val="F2F2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CA" sz="1000" b="1">
                <a:solidFill>
                  <a:srgbClr val="50152C"/>
                </a:solidFill>
                <a:latin typeface="Calibri" panose="020F0502020204030204" pitchFamily="34" charset="0"/>
              </a:rPr>
              <a:t>Databricks workspace</a:t>
            </a:r>
          </a:p>
          <a:p>
            <a:pPr algn="ctr"/>
            <a:r>
              <a:rPr lang="en-CA" sz="1000">
                <a:solidFill>
                  <a:srgbClr val="50152C"/>
                </a:solidFill>
                <a:latin typeface="Calibri" panose="020F0502020204030204" pitchFamily="34" charset="0"/>
              </a:rPr>
              <a:t>Premium</a:t>
            </a:r>
          </a:p>
        </p:txBody>
      </p:sp>
      <p:sp>
        <p:nvSpPr>
          <p:cNvPr id="32" name="Rectangle: Rounded Corners 31">
            <a:extLst>
              <a:ext uri="{FF2B5EF4-FFF2-40B4-BE49-F238E27FC236}">
                <a16:creationId xmlns:a16="http://schemas.microsoft.com/office/drawing/2014/main" id="{A8A8E1FA-4ABA-1767-A623-B9C8122680CA}"/>
              </a:ext>
            </a:extLst>
          </p:cNvPr>
          <p:cNvSpPr/>
          <p:nvPr/>
        </p:nvSpPr>
        <p:spPr>
          <a:xfrm>
            <a:off x="5943600" y="5410200"/>
            <a:ext cx="1168400" cy="838200"/>
          </a:xfrm>
          <a:prstGeom prst="roundRect">
            <a:avLst>
              <a:gd name="adj" fmla="val 10000"/>
            </a:avLst>
          </a:prstGeom>
          <a:solidFill>
            <a:srgbClr val="F2F2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CA" sz="1000" b="1">
                <a:solidFill>
                  <a:srgbClr val="50152C"/>
                </a:solidFill>
                <a:latin typeface="Calibri" panose="020F0502020204030204" pitchFamily="34" charset="0"/>
              </a:rPr>
              <a:t>ADLS Gen2 data storage</a:t>
            </a:r>
          </a:p>
        </p:txBody>
      </p:sp>
      <p:sp>
        <p:nvSpPr>
          <p:cNvPr id="33" name="Rectangle: Rounded Corners 32">
            <a:extLst>
              <a:ext uri="{FF2B5EF4-FFF2-40B4-BE49-F238E27FC236}">
                <a16:creationId xmlns:a16="http://schemas.microsoft.com/office/drawing/2014/main" id="{07BB916F-FB1A-C8B9-2D25-82298CC8CBE3}"/>
              </a:ext>
            </a:extLst>
          </p:cNvPr>
          <p:cNvSpPr/>
          <p:nvPr/>
        </p:nvSpPr>
        <p:spPr>
          <a:xfrm>
            <a:off x="7188200" y="5410200"/>
            <a:ext cx="1168400" cy="838200"/>
          </a:xfrm>
          <a:prstGeom prst="roundRect">
            <a:avLst>
              <a:gd name="adj" fmla="val 10000"/>
            </a:avLst>
          </a:prstGeom>
          <a:solidFill>
            <a:srgbClr val="F2F2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CA" sz="1000" b="1">
                <a:solidFill>
                  <a:srgbClr val="50152C"/>
                </a:solidFill>
                <a:latin typeface="Calibri" panose="020F0502020204030204" pitchFamily="34" charset="0"/>
              </a:rPr>
              <a:t>Log Analytics</a:t>
            </a:r>
          </a:p>
          <a:p>
            <a:pPr algn="ctr"/>
            <a:r>
              <a:rPr lang="en-CA" sz="1000">
                <a:solidFill>
                  <a:srgbClr val="50152C"/>
                </a:solidFill>
                <a:latin typeface="Calibri" panose="020F0502020204030204" pitchFamily="34" charset="0"/>
              </a:rPr>
              <a:t>and alerts</a:t>
            </a:r>
          </a:p>
        </p:txBody>
      </p:sp>
      <p:sp>
        <p:nvSpPr>
          <p:cNvPr id="34" name="Rectangle: Rounded Corners 33">
            <a:extLst>
              <a:ext uri="{FF2B5EF4-FFF2-40B4-BE49-F238E27FC236}">
                <a16:creationId xmlns:a16="http://schemas.microsoft.com/office/drawing/2014/main" id="{0D362AA5-3088-13A2-DD08-210C0E339E73}"/>
              </a:ext>
            </a:extLst>
          </p:cNvPr>
          <p:cNvSpPr/>
          <p:nvPr/>
        </p:nvSpPr>
        <p:spPr>
          <a:xfrm>
            <a:off x="8432800" y="5410200"/>
            <a:ext cx="1168400" cy="838200"/>
          </a:xfrm>
          <a:prstGeom prst="roundRect">
            <a:avLst>
              <a:gd name="adj" fmla="val 10000"/>
            </a:avLst>
          </a:prstGeom>
          <a:solidFill>
            <a:srgbClr val="F2F2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CA" sz="1000" b="1">
                <a:solidFill>
                  <a:srgbClr val="50152C"/>
                </a:solidFill>
                <a:latin typeface="Calibri" panose="020F0502020204030204" pitchFamily="34" charset="0"/>
              </a:rPr>
              <a:t>Terraform state</a:t>
            </a:r>
          </a:p>
          <a:p>
            <a:pPr algn="ctr"/>
            <a:r>
              <a:rPr lang="en-CA" sz="1000">
                <a:solidFill>
                  <a:srgbClr val="50152C"/>
                </a:solidFill>
                <a:latin typeface="Calibri" panose="020F0502020204030204" pitchFamily="34" charset="0"/>
              </a:rPr>
              <a:t>storage</a:t>
            </a:r>
          </a:p>
        </p:txBody>
      </p:sp>
      <p:sp>
        <p:nvSpPr>
          <p:cNvPr id="35" name="Rectangle: Rounded Corners 34">
            <a:extLst>
              <a:ext uri="{FF2B5EF4-FFF2-40B4-BE49-F238E27FC236}">
                <a16:creationId xmlns:a16="http://schemas.microsoft.com/office/drawing/2014/main" id="{66266EEF-0DEB-3AB4-6728-5C427F30AB42}"/>
              </a:ext>
            </a:extLst>
          </p:cNvPr>
          <p:cNvSpPr/>
          <p:nvPr/>
        </p:nvSpPr>
        <p:spPr>
          <a:xfrm>
            <a:off x="9918700" y="1270000"/>
            <a:ext cx="1828800" cy="508000"/>
          </a:xfrm>
          <a:prstGeom prst="roundRect">
            <a:avLst>
              <a:gd name="adj" fmla="val 10000"/>
            </a:avLst>
          </a:prstGeom>
          <a:solidFill>
            <a:srgbClr val="FFFFFF"/>
          </a:solidFill>
          <a:ln w="9525">
            <a:solidFill>
              <a:srgbClr val="BFBFBF"/>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0" rIns="50800" bIns="0" rtlCol="0" anchor="ctr">
            <a:noAutofit/>
          </a:bodyPr>
          <a:lstStyle/>
          <a:p>
            <a:pPr algn="ctr"/>
            <a:r>
              <a:rPr lang="en-US" sz="1000" b="1">
                <a:solidFill>
                  <a:srgbClr val="262626"/>
                </a:solidFill>
                <a:latin typeface="Calibri" panose="020F0502020204030204" pitchFamily="34" charset="0"/>
              </a:rPr>
              <a:t>Internet and Databricks control plane</a:t>
            </a:r>
            <a:endParaRPr lang="en-CA" sz="1000" b="1">
              <a:solidFill>
                <a:srgbClr val="262626"/>
              </a:solidFill>
              <a:latin typeface="Calibri" panose="020F0502020204030204" pitchFamily="34" charset="0"/>
            </a:endParaRPr>
          </a:p>
        </p:txBody>
      </p:sp>
      <p:sp>
        <p:nvSpPr>
          <p:cNvPr id="36" name="Rectangle: Rounded Corners 35">
            <a:extLst>
              <a:ext uri="{FF2B5EF4-FFF2-40B4-BE49-F238E27FC236}">
                <a16:creationId xmlns:a16="http://schemas.microsoft.com/office/drawing/2014/main" id="{380BAA6A-E35E-72CC-D29A-608862A895D3}"/>
              </a:ext>
            </a:extLst>
          </p:cNvPr>
          <p:cNvSpPr/>
          <p:nvPr/>
        </p:nvSpPr>
        <p:spPr>
          <a:xfrm>
            <a:off x="9918700" y="1981200"/>
            <a:ext cx="1828800" cy="2184400"/>
          </a:xfrm>
          <a:prstGeom prst="roundRect">
            <a:avLst>
              <a:gd name="adj" fmla="val 6000"/>
            </a:avLst>
          </a:prstGeom>
          <a:solidFill>
            <a:srgbClr val="50152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7" name="TextBox 36">
            <a:extLst>
              <a:ext uri="{FF2B5EF4-FFF2-40B4-BE49-F238E27FC236}">
                <a16:creationId xmlns:a16="http://schemas.microsoft.com/office/drawing/2014/main" id="{E144DB09-4024-3A33-D3A0-BEA2F737DC7F}"/>
              </a:ext>
            </a:extLst>
          </p:cNvPr>
          <p:cNvSpPr txBox="1"/>
          <p:nvPr/>
        </p:nvSpPr>
        <p:spPr>
          <a:xfrm>
            <a:off x="10045700" y="2057400"/>
            <a:ext cx="1574800" cy="203200"/>
          </a:xfrm>
          <a:prstGeom prst="rect">
            <a:avLst/>
          </a:prstGeom>
          <a:noFill/>
        </p:spPr>
        <p:txBody>
          <a:bodyPr vert="horz" wrap="square" lIns="0" tIns="0" rIns="0" bIns="0" rtlCol="0" anchor="t">
            <a:noAutofit/>
          </a:bodyPr>
          <a:lstStyle/>
          <a:p>
            <a:r>
              <a:rPr lang="en-CA" sz="1100" b="1">
                <a:solidFill>
                  <a:srgbClr val="FFFFFF"/>
                </a:solidFill>
                <a:latin typeface="Aptos Display" panose="020B0004020202020204" pitchFamily="34" charset="0"/>
              </a:rPr>
              <a:t>Baytex hub</a:t>
            </a:r>
          </a:p>
        </p:txBody>
      </p:sp>
      <p:sp>
        <p:nvSpPr>
          <p:cNvPr id="38" name="Rectangle: Rounded Corners 37">
            <a:extLst>
              <a:ext uri="{FF2B5EF4-FFF2-40B4-BE49-F238E27FC236}">
                <a16:creationId xmlns:a16="http://schemas.microsoft.com/office/drawing/2014/main" id="{54B9C908-651D-8840-F6A9-4961E21DEE2C}"/>
              </a:ext>
            </a:extLst>
          </p:cNvPr>
          <p:cNvSpPr/>
          <p:nvPr/>
        </p:nvSpPr>
        <p:spPr>
          <a:xfrm>
            <a:off x="10045700" y="2336800"/>
            <a:ext cx="1574800" cy="355600"/>
          </a:xfrm>
          <a:prstGeom prst="roundRect">
            <a:avLst>
              <a:gd name="adj" fmla="val 10000"/>
            </a:avLst>
          </a:prstGeom>
          <a:solidFill>
            <a:srgbClr val="6E2A4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CA" sz="1000" b="1">
                <a:solidFill>
                  <a:srgbClr val="FFFFFF"/>
                </a:solidFill>
                <a:latin typeface="Calibri" panose="020F0502020204030204" pitchFamily="34" charset="0"/>
              </a:rPr>
              <a:t>Cisco firewall</a:t>
            </a:r>
          </a:p>
        </p:txBody>
      </p:sp>
      <p:sp>
        <p:nvSpPr>
          <p:cNvPr id="39" name="Rectangle: Rounded Corners 38">
            <a:extLst>
              <a:ext uri="{FF2B5EF4-FFF2-40B4-BE49-F238E27FC236}">
                <a16:creationId xmlns:a16="http://schemas.microsoft.com/office/drawing/2014/main" id="{AD044E35-1FA4-FF93-BD16-6203A7F0453E}"/>
              </a:ext>
            </a:extLst>
          </p:cNvPr>
          <p:cNvSpPr/>
          <p:nvPr/>
        </p:nvSpPr>
        <p:spPr>
          <a:xfrm>
            <a:off x="10045700" y="2743200"/>
            <a:ext cx="1574800" cy="355600"/>
          </a:xfrm>
          <a:prstGeom prst="roundRect">
            <a:avLst>
              <a:gd name="adj" fmla="val 10000"/>
            </a:avLst>
          </a:prstGeom>
          <a:solidFill>
            <a:srgbClr val="6E2A4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CA" sz="1000" b="1">
                <a:solidFill>
                  <a:srgbClr val="FFFFFF"/>
                </a:solidFill>
                <a:latin typeface="Calibri" panose="020F0502020204030204" pitchFamily="34" charset="0"/>
              </a:rPr>
              <a:t>VPN to on-premises</a:t>
            </a:r>
          </a:p>
        </p:txBody>
      </p:sp>
      <p:sp>
        <p:nvSpPr>
          <p:cNvPr id="40" name="Rectangle: Rounded Corners 39">
            <a:extLst>
              <a:ext uri="{FF2B5EF4-FFF2-40B4-BE49-F238E27FC236}">
                <a16:creationId xmlns:a16="http://schemas.microsoft.com/office/drawing/2014/main" id="{CB889380-DE2B-80ED-9583-2A737D3FCD4A}"/>
              </a:ext>
            </a:extLst>
          </p:cNvPr>
          <p:cNvSpPr/>
          <p:nvPr/>
        </p:nvSpPr>
        <p:spPr>
          <a:xfrm>
            <a:off x="10045700" y="3149600"/>
            <a:ext cx="1574800" cy="355600"/>
          </a:xfrm>
          <a:prstGeom prst="roundRect">
            <a:avLst>
              <a:gd name="adj" fmla="val 10000"/>
            </a:avLst>
          </a:prstGeom>
          <a:solidFill>
            <a:srgbClr val="6E2A4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CA" sz="1000" b="1">
                <a:solidFill>
                  <a:srgbClr val="FFFFFF"/>
                </a:solidFill>
                <a:latin typeface="Calibri" panose="020F0502020204030204" pitchFamily="34" charset="0"/>
              </a:rPr>
              <a:t>Corporate DNS</a:t>
            </a:r>
          </a:p>
        </p:txBody>
      </p:sp>
      <p:sp>
        <p:nvSpPr>
          <p:cNvPr id="41" name="Rectangle: Rounded Corners 40">
            <a:extLst>
              <a:ext uri="{FF2B5EF4-FFF2-40B4-BE49-F238E27FC236}">
                <a16:creationId xmlns:a16="http://schemas.microsoft.com/office/drawing/2014/main" id="{5DCC38D8-187A-857A-780D-6D977CCB2674}"/>
              </a:ext>
            </a:extLst>
          </p:cNvPr>
          <p:cNvSpPr/>
          <p:nvPr/>
        </p:nvSpPr>
        <p:spPr>
          <a:xfrm>
            <a:off x="10045700" y="3556000"/>
            <a:ext cx="1574800" cy="355600"/>
          </a:xfrm>
          <a:prstGeom prst="roundRect">
            <a:avLst>
              <a:gd name="adj" fmla="val 10000"/>
            </a:avLst>
          </a:prstGeom>
          <a:solidFill>
            <a:srgbClr val="6E2A4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CA" sz="1000" b="1">
                <a:solidFill>
                  <a:srgbClr val="FFFFFF"/>
                </a:solidFill>
                <a:latin typeface="Calibri" panose="020F0502020204030204" pitchFamily="34" charset="0"/>
              </a:rPr>
              <a:t>Private DNS zones</a:t>
            </a:r>
          </a:p>
        </p:txBody>
      </p:sp>
      <p:sp>
        <p:nvSpPr>
          <p:cNvPr id="42" name="Rectangle: Rounded Corners 41">
            <a:extLst>
              <a:ext uri="{FF2B5EF4-FFF2-40B4-BE49-F238E27FC236}">
                <a16:creationId xmlns:a16="http://schemas.microsoft.com/office/drawing/2014/main" id="{80DB9DC7-1352-FB2C-CC8E-76CCE61E23CC}"/>
              </a:ext>
            </a:extLst>
          </p:cNvPr>
          <p:cNvSpPr/>
          <p:nvPr/>
        </p:nvSpPr>
        <p:spPr>
          <a:xfrm>
            <a:off x="9918700" y="4368800"/>
            <a:ext cx="1828800" cy="787400"/>
          </a:xfrm>
          <a:prstGeom prst="roundRect">
            <a:avLst>
              <a:gd name="adj" fmla="val 10000"/>
            </a:avLst>
          </a:prstGeom>
          <a:solidFill>
            <a:srgbClr val="F2F2F2"/>
          </a:solidFill>
          <a:ln w="9525">
            <a:solidFill>
              <a:srgbClr val="50152C"/>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0" rIns="50800" bIns="0" rtlCol="0" anchor="ctr">
            <a:noAutofit/>
          </a:bodyPr>
          <a:lstStyle/>
          <a:p>
            <a:pPr algn="ctr"/>
            <a:r>
              <a:rPr lang="fr-FR" sz="1000" b="1">
                <a:solidFill>
                  <a:srgbClr val="50152C"/>
                </a:solidFill>
                <a:latin typeface="Calibri" panose="020F0502020204030204" pitchFamily="34" charset="0"/>
              </a:rPr>
              <a:t>On-premises databases</a:t>
            </a:r>
          </a:p>
          <a:p>
            <a:pPr algn="ctr"/>
            <a:r>
              <a:rPr lang="fr-FR" sz="1000">
                <a:solidFill>
                  <a:srgbClr val="50152C"/>
                </a:solidFill>
                <a:latin typeface="Calibri" panose="020F0502020204030204" pitchFamily="34" charset="0"/>
              </a:rPr>
              <a:t>6 SQL Server, 7 Oracle</a:t>
            </a:r>
            <a:endParaRPr lang="en-CA" sz="1000">
              <a:solidFill>
                <a:srgbClr val="50152C"/>
              </a:solidFill>
              <a:latin typeface="Calibri" panose="020F0502020204030204" pitchFamily="34" charset="0"/>
            </a:endParaRPr>
          </a:p>
        </p:txBody>
      </p:sp>
      <p:cxnSp>
        <p:nvCxnSpPr>
          <p:cNvPr id="43" name="Straight Connector 42">
            <a:extLst>
              <a:ext uri="{FF2B5EF4-FFF2-40B4-BE49-F238E27FC236}">
                <a16:creationId xmlns:a16="http://schemas.microsoft.com/office/drawing/2014/main" id="{BDD8C2C4-2E50-CC4E-C972-A4B9B8ACB419}"/>
              </a:ext>
            </a:extLst>
          </p:cNvPr>
          <p:cNvCxnSpPr/>
          <p:nvPr/>
        </p:nvCxnSpPr>
        <p:spPr>
          <a:xfrm>
            <a:off x="7239000" y="2616200"/>
            <a:ext cx="203200" cy="0"/>
          </a:xfrm>
          <a:prstGeom prst="line">
            <a:avLst/>
          </a:prstGeom>
          <a:ln w="15875">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40CD0E43-9364-0C6C-466A-185F93241431}"/>
              </a:ext>
            </a:extLst>
          </p:cNvPr>
          <p:cNvCxnSpPr/>
          <p:nvPr/>
        </p:nvCxnSpPr>
        <p:spPr>
          <a:xfrm flipV="1">
            <a:off x="7442200" y="2108200"/>
            <a:ext cx="0" cy="508000"/>
          </a:xfrm>
          <a:prstGeom prst="line">
            <a:avLst/>
          </a:prstGeom>
          <a:ln w="15875">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E8907394-0EDA-1CD8-4E5E-356BE167CDF1}"/>
              </a:ext>
            </a:extLst>
          </p:cNvPr>
          <p:cNvCxnSpPr/>
          <p:nvPr/>
        </p:nvCxnSpPr>
        <p:spPr>
          <a:xfrm>
            <a:off x="7442200" y="2108200"/>
            <a:ext cx="76200" cy="0"/>
          </a:xfrm>
          <a:prstGeom prst="line">
            <a:avLst/>
          </a:prstGeom>
          <a:ln w="15875">
            <a:solidFill>
              <a:srgbClr val="ED7D31"/>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B046EE3-B896-7E92-4536-581A414F26D6}"/>
              </a:ext>
            </a:extLst>
          </p:cNvPr>
          <p:cNvCxnSpPr/>
          <p:nvPr/>
        </p:nvCxnSpPr>
        <p:spPr>
          <a:xfrm>
            <a:off x="9461500" y="2032000"/>
            <a:ext cx="355600" cy="0"/>
          </a:xfrm>
          <a:prstGeom prst="line">
            <a:avLst/>
          </a:prstGeom>
          <a:ln w="15875">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AFF892B7-2243-ECE4-0697-82AA379366C0}"/>
              </a:ext>
            </a:extLst>
          </p:cNvPr>
          <p:cNvCxnSpPr/>
          <p:nvPr/>
        </p:nvCxnSpPr>
        <p:spPr>
          <a:xfrm flipV="1">
            <a:off x="9817100" y="1524000"/>
            <a:ext cx="0" cy="508000"/>
          </a:xfrm>
          <a:prstGeom prst="line">
            <a:avLst/>
          </a:prstGeom>
          <a:ln w="15875">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E20F42BA-FDD0-5A07-ABFD-53E839816198}"/>
              </a:ext>
            </a:extLst>
          </p:cNvPr>
          <p:cNvCxnSpPr/>
          <p:nvPr/>
        </p:nvCxnSpPr>
        <p:spPr>
          <a:xfrm>
            <a:off x="9817100" y="1524000"/>
            <a:ext cx="101600" cy="0"/>
          </a:xfrm>
          <a:prstGeom prst="line">
            <a:avLst/>
          </a:prstGeom>
          <a:ln w="15875">
            <a:solidFill>
              <a:srgbClr val="ED7D31"/>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0CEC5987-9511-1AAE-E387-5A4B4F96BAF2}"/>
              </a:ext>
            </a:extLst>
          </p:cNvPr>
          <p:cNvCxnSpPr/>
          <p:nvPr/>
        </p:nvCxnSpPr>
        <p:spPr>
          <a:xfrm>
            <a:off x="7239000" y="2425700"/>
            <a:ext cx="2679700" cy="0"/>
          </a:xfrm>
          <a:prstGeom prst="line">
            <a:avLst/>
          </a:prstGeom>
          <a:ln w="15875">
            <a:solidFill>
              <a:srgbClr val="ED7D31"/>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A087144-AB7B-C2F4-4D7D-6105A8E5D0EE}"/>
              </a:ext>
            </a:extLst>
          </p:cNvPr>
          <p:cNvCxnSpPr/>
          <p:nvPr/>
        </p:nvCxnSpPr>
        <p:spPr>
          <a:xfrm>
            <a:off x="9334500" y="3644900"/>
            <a:ext cx="457200" cy="0"/>
          </a:xfrm>
          <a:prstGeom prst="line">
            <a:avLst/>
          </a:prstGeom>
          <a:ln w="15875">
            <a:solidFill>
              <a:srgbClr val="50152C"/>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4F9D78D8-80F4-22C4-52D0-322F33235718}"/>
              </a:ext>
            </a:extLst>
          </p:cNvPr>
          <p:cNvCxnSpPr/>
          <p:nvPr/>
        </p:nvCxnSpPr>
        <p:spPr>
          <a:xfrm>
            <a:off x="9334500" y="4102100"/>
            <a:ext cx="457200" cy="0"/>
          </a:xfrm>
          <a:prstGeom prst="line">
            <a:avLst/>
          </a:prstGeom>
          <a:ln w="15875">
            <a:solidFill>
              <a:srgbClr val="50152C"/>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2DD2620F-EAEB-4194-4F99-6E093FECC345}"/>
              </a:ext>
            </a:extLst>
          </p:cNvPr>
          <p:cNvCxnSpPr/>
          <p:nvPr/>
        </p:nvCxnSpPr>
        <p:spPr>
          <a:xfrm flipV="1">
            <a:off x="9791700" y="2603500"/>
            <a:ext cx="0" cy="1498600"/>
          </a:xfrm>
          <a:prstGeom prst="line">
            <a:avLst/>
          </a:prstGeom>
          <a:ln w="15875">
            <a:solidFill>
              <a:srgbClr val="50152C"/>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CC9E1B17-4750-9074-3ABA-E3BAA03C546E}"/>
              </a:ext>
            </a:extLst>
          </p:cNvPr>
          <p:cNvCxnSpPr/>
          <p:nvPr/>
        </p:nvCxnSpPr>
        <p:spPr>
          <a:xfrm>
            <a:off x="9791700" y="2603500"/>
            <a:ext cx="127000" cy="0"/>
          </a:xfrm>
          <a:prstGeom prst="line">
            <a:avLst/>
          </a:prstGeom>
          <a:ln w="15875">
            <a:solidFill>
              <a:srgbClr val="50152C"/>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9B0A6D88-9004-258F-2A82-939EBAB62162}"/>
              </a:ext>
            </a:extLst>
          </p:cNvPr>
          <p:cNvCxnSpPr/>
          <p:nvPr/>
        </p:nvCxnSpPr>
        <p:spPr>
          <a:xfrm>
            <a:off x="10833100" y="4165600"/>
            <a:ext cx="0" cy="203200"/>
          </a:xfrm>
          <a:prstGeom prst="line">
            <a:avLst/>
          </a:prstGeom>
          <a:ln w="15875">
            <a:solidFill>
              <a:srgbClr val="50152C"/>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4EB08AF8-78F5-1115-A515-29045FD7C743}"/>
              </a:ext>
            </a:extLst>
          </p:cNvPr>
          <p:cNvCxnSpPr/>
          <p:nvPr/>
        </p:nvCxnSpPr>
        <p:spPr>
          <a:xfrm>
            <a:off x="4241800" y="2540000"/>
            <a:ext cx="228600" cy="0"/>
          </a:xfrm>
          <a:prstGeom prst="line">
            <a:avLst/>
          </a:prstGeom>
          <a:ln w="15875">
            <a:solidFill>
              <a:srgbClr val="50152C"/>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F59266CE-18F1-8340-67D0-093E4BB915CA}"/>
              </a:ext>
            </a:extLst>
          </p:cNvPr>
          <p:cNvCxnSpPr/>
          <p:nvPr/>
        </p:nvCxnSpPr>
        <p:spPr>
          <a:xfrm>
            <a:off x="4470400" y="2540000"/>
            <a:ext cx="0" cy="787400"/>
          </a:xfrm>
          <a:prstGeom prst="line">
            <a:avLst/>
          </a:prstGeom>
          <a:ln w="15875">
            <a:solidFill>
              <a:srgbClr val="50152C"/>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E291EED6-3668-CCC6-0B6E-7A2D5B07C403}"/>
              </a:ext>
            </a:extLst>
          </p:cNvPr>
          <p:cNvCxnSpPr/>
          <p:nvPr/>
        </p:nvCxnSpPr>
        <p:spPr>
          <a:xfrm>
            <a:off x="4470400" y="3327400"/>
            <a:ext cx="3098800" cy="0"/>
          </a:xfrm>
          <a:prstGeom prst="line">
            <a:avLst/>
          </a:prstGeom>
          <a:ln w="15875">
            <a:solidFill>
              <a:srgbClr val="50152C"/>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A474435F-9D0E-312B-B8C7-74478E825440}"/>
              </a:ext>
            </a:extLst>
          </p:cNvPr>
          <p:cNvCxnSpPr/>
          <p:nvPr/>
        </p:nvCxnSpPr>
        <p:spPr>
          <a:xfrm flipV="1">
            <a:off x="7569200" y="3073400"/>
            <a:ext cx="0" cy="254000"/>
          </a:xfrm>
          <a:prstGeom prst="line">
            <a:avLst/>
          </a:prstGeom>
          <a:ln w="15875">
            <a:solidFill>
              <a:srgbClr val="50152C"/>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516929A5-903C-1167-4B0D-E2049B50D7E5}"/>
              </a:ext>
            </a:extLst>
          </p:cNvPr>
          <p:cNvCxnSpPr/>
          <p:nvPr/>
        </p:nvCxnSpPr>
        <p:spPr>
          <a:xfrm>
            <a:off x="7569200" y="3073400"/>
            <a:ext cx="76200" cy="0"/>
          </a:xfrm>
          <a:prstGeom prst="line">
            <a:avLst/>
          </a:prstGeom>
          <a:ln w="15875">
            <a:solidFill>
              <a:srgbClr val="50152C"/>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A4811882-6BE2-E2A5-6D23-B8D1E4DF7850}"/>
              </a:ext>
            </a:extLst>
          </p:cNvPr>
          <p:cNvCxnSpPr/>
          <p:nvPr/>
        </p:nvCxnSpPr>
        <p:spPr>
          <a:xfrm>
            <a:off x="6921500" y="3251200"/>
            <a:ext cx="0" cy="457200"/>
          </a:xfrm>
          <a:prstGeom prst="line">
            <a:avLst/>
          </a:prstGeom>
          <a:ln w="15875">
            <a:solidFill>
              <a:srgbClr val="262626"/>
            </a:solidFill>
            <a:prstDash val="dash"/>
            <a:tailEnd type="triangle" w="med" len="me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8BE952FA-021F-D13A-DB51-095CF40046A0}"/>
              </a:ext>
            </a:extLst>
          </p:cNvPr>
          <p:cNvCxnSpPr/>
          <p:nvPr/>
        </p:nvCxnSpPr>
        <p:spPr>
          <a:xfrm>
            <a:off x="6527800" y="5156200"/>
            <a:ext cx="0" cy="254000"/>
          </a:xfrm>
          <a:prstGeom prst="line">
            <a:avLst/>
          </a:prstGeom>
          <a:ln w="15875">
            <a:solidFill>
              <a:srgbClr val="262626"/>
            </a:solidFill>
            <a:prstDash val="dash"/>
            <a:tailEnd type="triangle" w="med" len="me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859C1151-CCF3-A241-AF9F-CAA8513833BD}"/>
              </a:ext>
            </a:extLst>
          </p:cNvPr>
          <p:cNvCxnSpPr/>
          <p:nvPr/>
        </p:nvCxnSpPr>
        <p:spPr>
          <a:xfrm>
            <a:off x="4368800" y="5829300"/>
            <a:ext cx="330200" cy="0"/>
          </a:xfrm>
          <a:prstGeom prst="line">
            <a:avLst/>
          </a:prstGeom>
          <a:ln w="15875">
            <a:solidFill>
              <a:srgbClr val="262626"/>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0FED2959-D7D0-9CA4-37CE-A6DDBFEB7D6C}"/>
              </a:ext>
            </a:extLst>
          </p:cNvPr>
          <p:cNvCxnSpPr/>
          <p:nvPr/>
        </p:nvCxnSpPr>
        <p:spPr>
          <a:xfrm>
            <a:off x="9918700" y="5473700"/>
            <a:ext cx="254000" cy="0"/>
          </a:xfrm>
          <a:prstGeom prst="line">
            <a:avLst/>
          </a:prstGeom>
          <a:ln w="22225">
            <a:solidFill>
              <a:srgbClr val="ED7D31"/>
            </a:solidFill>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A2728153-087B-2BE3-949B-6BA12906B6FA}"/>
              </a:ext>
            </a:extLst>
          </p:cNvPr>
          <p:cNvSpPr txBox="1"/>
          <p:nvPr/>
        </p:nvSpPr>
        <p:spPr>
          <a:xfrm>
            <a:off x="10248900" y="5384800"/>
            <a:ext cx="1498600" cy="177800"/>
          </a:xfrm>
          <a:prstGeom prst="rect">
            <a:avLst/>
          </a:prstGeom>
          <a:noFill/>
        </p:spPr>
        <p:txBody>
          <a:bodyPr vert="horz" wrap="square" lIns="0" tIns="0" rIns="0" bIns="0" rtlCol="0" anchor="t">
            <a:noAutofit/>
          </a:bodyPr>
          <a:lstStyle/>
          <a:p>
            <a:r>
              <a:rPr lang="en-CA" sz="1000">
                <a:solidFill>
                  <a:srgbClr val="262626"/>
                </a:solidFill>
                <a:latin typeface="Calibri" panose="020F0502020204030204" pitchFamily="34" charset="0"/>
              </a:rPr>
              <a:t>Classic compute</a:t>
            </a:r>
          </a:p>
        </p:txBody>
      </p:sp>
      <p:cxnSp>
        <p:nvCxnSpPr>
          <p:cNvPr id="65" name="Straight Connector 64">
            <a:extLst>
              <a:ext uri="{FF2B5EF4-FFF2-40B4-BE49-F238E27FC236}">
                <a16:creationId xmlns:a16="http://schemas.microsoft.com/office/drawing/2014/main" id="{05976BB7-B250-164E-6923-CB4D222FD68A}"/>
              </a:ext>
            </a:extLst>
          </p:cNvPr>
          <p:cNvCxnSpPr/>
          <p:nvPr/>
        </p:nvCxnSpPr>
        <p:spPr>
          <a:xfrm>
            <a:off x="9918700" y="5702300"/>
            <a:ext cx="254000" cy="0"/>
          </a:xfrm>
          <a:prstGeom prst="line">
            <a:avLst/>
          </a:prstGeom>
          <a:ln w="22225">
            <a:solidFill>
              <a:srgbClr val="50152C"/>
            </a:solidFill>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8EF8E93A-6DD1-EA5D-4A85-D14E8C56F062}"/>
              </a:ext>
            </a:extLst>
          </p:cNvPr>
          <p:cNvSpPr txBox="1"/>
          <p:nvPr/>
        </p:nvSpPr>
        <p:spPr>
          <a:xfrm>
            <a:off x="10248900" y="5613400"/>
            <a:ext cx="1498600" cy="177800"/>
          </a:xfrm>
          <a:prstGeom prst="rect">
            <a:avLst/>
          </a:prstGeom>
          <a:noFill/>
        </p:spPr>
        <p:txBody>
          <a:bodyPr vert="horz" wrap="square" lIns="0" tIns="0" rIns="0" bIns="0" rtlCol="0" anchor="t">
            <a:noAutofit/>
          </a:bodyPr>
          <a:lstStyle/>
          <a:p>
            <a:r>
              <a:rPr lang="en-CA" sz="1000">
                <a:solidFill>
                  <a:srgbClr val="262626"/>
                </a:solidFill>
                <a:latin typeface="Calibri" panose="020F0502020204030204" pitchFamily="34" charset="0"/>
              </a:rPr>
              <a:t>Serverless compute</a:t>
            </a:r>
          </a:p>
        </p:txBody>
      </p:sp>
      <p:cxnSp>
        <p:nvCxnSpPr>
          <p:cNvPr id="67" name="Straight Connector 66">
            <a:extLst>
              <a:ext uri="{FF2B5EF4-FFF2-40B4-BE49-F238E27FC236}">
                <a16:creationId xmlns:a16="http://schemas.microsoft.com/office/drawing/2014/main" id="{9F4E6AFE-DA8F-A404-7344-4FAC6B8F633A}"/>
              </a:ext>
            </a:extLst>
          </p:cNvPr>
          <p:cNvCxnSpPr/>
          <p:nvPr/>
        </p:nvCxnSpPr>
        <p:spPr>
          <a:xfrm>
            <a:off x="9918700" y="5930900"/>
            <a:ext cx="254000" cy="0"/>
          </a:xfrm>
          <a:prstGeom prst="line">
            <a:avLst/>
          </a:prstGeom>
          <a:ln w="22225">
            <a:solidFill>
              <a:srgbClr val="262626"/>
            </a:solidFill>
            <a:prstDash val="dash"/>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6D94CC99-23BC-6D9A-735B-4253C6916DA2}"/>
              </a:ext>
            </a:extLst>
          </p:cNvPr>
          <p:cNvSpPr txBox="1"/>
          <p:nvPr/>
        </p:nvSpPr>
        <p:spPr>
          <a:xfrm>
            <a:off x="10248900" y="5842000"/>
            <a:ext cx="1498600" cy="177800"/>
          </a:xfrm>
          <a:prstGeom prst="rect">
            <a:avLst/>
          </a:prstGeom>
          <a:noFill/>
        </p:spPr>
        <p:txBody>
          <a:bodyPr vert="horz" wrap="square" lIns="0" tIns="0" rIns="0" bIns="0" rtlCol="0" anchor="t">
            <a:noAutofit/>
          </a:bodyPr>
          <a:lstStyle/>
          <a:p>
            <a:r>
              <a:rPr lang="en-CA" sz="1000">
                <a:solidFill>
                  <a:srgbClr val="262626"/>
                </a:solidFill>
                <a:latin typeface="Calibri" panose="020F0502020204030204" pitchFamily="34" charset="0"/>
              </a:rPr>
              <a:t>Private endpoint</a:t>
            </a:r>
          </a:p>
        </p:txBody>
      </p:sp>
    </p:spTree>
    <p:extLst>
      <p:ext uri="{BB962C8B-B14F-4D97-AF65-F5344CB8AC3E}">
        <p14:creationId xmlns:p14="http://schemas.microsoft.com/office/powerpoint/2010/main" val="7566831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29F77-6DBF-EDCC-9FC9-8017F59EB6B4}"/>
              </a:ext>
            </a:extLst>
          </p:cNvPr>
          <p:cNvSpPr>
            <a:spLocks noGrp="1"/>
          </p:cNvSpPr>
          <p:nvPr>
            <p:ph type="title"/>
          </p:nvPr>
        </p:nvSpPr>
        <p:spPr/>
        <p:txBody>
          <a:bodyPr>
            <a:normAutofit/>
          </a:bodyPr>
          <a:lstStyle/>
          <a:p>
            <a:r>
              <a:rPr lang="en-CA" b="1">
                <a:latin typeface="Aptos Display" panose="020B0004020202020204" pitchFamily="34" charset="0"/>
              </a:rPr>
              <a:t>What Each Environment Contains</a:t>
            </a:r>
          </a:p>
        </p:txBody>
      </p:sp>
      <p:sp>
        <p:nvSpPr>
          <p:cNvPr id="4" name="Rectangle: Rounded Corners 3">
            <a:extLst>
              <a:ext uri="{FF2B5EF4-FFF2-40B4-BE49-F238E27FC236}">
                <a16:creationId xmlns:a16="http://schemas.microsoft.com/office/drawing/2014/main" id="{BE3DA318-58E0-6933-1119-9FDE2B8E4BC3}"/>
              </a:ext>
            </a:extLst>
          </p:cNvPr>
          <p:cNvSpPr/>
          <p:nvPr/>
        </p:nvSpPr>
        <p:spPr>
          <a:xfrm>
            <a:off x="2844800" y="1320800"/>
            <a:ext cx="2844800" cy="2184400"/>
          </a:xfrm>
          <a:prstGeom prst="roundRect">
            <a:avLst>
              <a:gd name="adj" fmla="val 6000"/>
            </a:avLst>
          </a:prstGeom>
          <a:solidFill>
            <a:srgbClr val="FCEC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Oval 4">
            <a:extLst>
              <a:ext uri="{FF2B5EF4-FFF2-40B4-BE49-F238E27FC236}">
                <a16:creationId xmlns:a16="http://schemas.microsoft.com/office/drawing/2014/main" id="{6A7F4354-411B-79F7-50C7-59B6BD8AAF93}"/>
              </a:ext>
            </a:extLst>
          </p:cNvPr>
          <p:cNvSpPr/>
          <p:nvPr/>
        </p:nvSpPr>
        <p:spPr>
          <a:xfrm>
            <a:off x="3022600" y="1498600"/>
            <a:ext cx="355600" cy="355600"/>
          </a:xfrm>
          <a:prstGeom prst="ellipse">
            <a:avLst/>
          </a:prstGeom>
          <a:solidFill>
            <a:srgbClr val="FFFFFF"/>
          </a:solidFill>
          <a:ln w="19050">
            <a:solidFill>
              <a:srgbClr val="F68D2E"/>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CA" sz="1200" b="1">
                <a:solidFill>
                  <a:srgbClr val="50152C"/>
                </a:solidFill>
                <a:latin typeface="Aptos Display" panose="020B0004020202020204" pitchFamily="34" charset="0"/>
              </a:rPr>
              <a:t>1</a:t>
            </a:r>
          </a:p>
        </p:txBody>
      </p:sp>
      <p:sp>
        <p:nvSpPr>
          <p:cNvPr id="6" name="TextBox 5">
            <a:extLst>
              <a:ext uri="{FF2B5EF4-FFF2-40B4-BE49-F238E27FC236}">
                <a16:creationId xmlns:a16="http://schemas.microsoft.com/office/drawing/2014/main" id="{DCC4F37C-A525-12CC-D36D-CDD56ECCD3C5}"/>
              </a:ext>
            </a:extLst>
          </p:cNvPr>
          <p:cNvSpPr txBox="1"/>
          <p:nvPr/>
        </p:nvSpPr>
        <p:spPr>
          <a:xfrm>
            <a:off x="3479800" y="1447800"/>
            <a:ext cx="2108200" cy="457200"/>
          </a:xfrm>
          <a:prstGeom prst="rect">
            <a:avLst/>
          </a:prstGeom>
          <a:noFill/>
        </p:spPr>
        <p:txBody>
          <a:bodyPr vert="horz" wrap="square" lIns="0" tIns="0" rIns="0" bIns="0" rtlCol="0" anchor="ctr">
            <a:noAutofit/>
          </a:bodyPr>
          <a:lstStyle/>
          <a:p>
            <a:r>
              <a:rPr lang="en-CA" sz="1400" b="1">
                <a:solidFill>
                  <a:srgbClr val="50152C"/>
                </a:solidFill>
                <a:latin typeface="Aptos Display" panose="020B0004020202020204" pitchFamily="34" charset="0"/>
              </a:rPr>
              <a:t>Spoke network</a:t>
            </a:r>
          </a:p>
        </p:txBody>
      </p:sp>
      <p:sp>
        <p:nvSpPr>
          <p:cNvPr id="7" name="TextBox 6">
            <a:extLst>
              <a:ext uri="{FF2B5EF4-FFF2-40B4-BE49-F238E27FC236}">
                <a16:creationId xmlns:a16="http://schemas.microsoft.com/office/drawing/2014/main" id="{F71A10E8-1D94-BE03-06A3-19405B1B9E4F}"/>
              </a:ext>
            </a:extLst>
          </p:cNvPr>
          <p:cNvSpPr txBox="1"/>
          <p:nvPr/>
        </p:nvSpPr>
        <p:spPr>
          <a:xfrm>
            <a:off x="3022600" y="2006600"/>
            <a:ext cx="2489200" cy="1397000"/>
          </a:xfrm>
          <a:prstGeom prst="rect">
            <a:avLst/>
          </a:prstGeom>
          <a:noFill/>
        </p:spPr>
        <p:txBody>
          <a:bodyPr vert="horz" wrap="square" lIns="0" tIns="0" rIns="0" bIns="0" rtlCol="0" anchor="t">
            <a:noAutofit/>
          </a:bodyPr>
          <a:lstStyle/>
          <a:p>
            <a:r>
              <a:rPr lang="en-US" sz="1300">
                <a:solidFill>
                  <a:srgbClr val="262626"/>
                </a:solidFill>
                <a:latin typeface="Calibri" panose="020F0502020204030204" pitchFamily="34" charset="0"/>
              </a:rPr>
              <a:t>Spoke VNet with Databricks, private endpoint and proxy subnets, NSGs, a NAT Gateway and route tables to the Cisco firewall.</a:t>
            </a:r>
            <a:endParaRPr lang="en-CA" sz="1300">
              <a:solidFill>
                <a:srgbClr val="262626"/>
              </a:solidFill>
              <a:latin typeface="Calibri" panose="020F0502020204030204" pitchFamily="34" charset="0"/>
            </a:endParaRPr>
          </a:p>
        </p:txBody>
      </p:sp>
      <p:sp>
        <p:nvSpPr>
          <p:cNvPr id="8" name="Rectangle: Rounded Corners 7">
            <a:extLst>
              <a:ext uri="{FF2B5EF4-FFF2-40B4-BE49-F238E27FC236}">
                <a16:creationId xmlns:a16="http://schemas.microsoft.com/office/drawing/2014/main" id="{8DFA8132-184D-0426-AB4F-BF6081C9C8DD}"/>
              </a:ext>
            </a:extLst>
          </p:cNvPr>
          <p:cNvSpPr/>
          <p:nvPr/>
        </p:nvSpPr>
        <p:spPr>
          <a:xfrm>
            <a:off x="5873750" y="1320800"/>
            <a:ext cx="2844800" cy="2184400"/>
          </a:xfrm>
          <a:prstGeom prst="roundRect">
            <a:avLst>
              <a:gd name="adj" fmla="val 6000"/>
            </a:avLst>
          </a:prstGeom>
          <a:solidFill>
            <a:srgbClr val="FCEC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Oval 8">
            <a:extLst>
              <a:ext uri="{FF2B5EF4-FFF2-40B4-BE49-F238E27FC236}">
                <a16:creationId xmlns:a16="http://schemas.microsoft.com/office/drawing/2014/main" id="{33D199DD-0BAF-B6A7-2D80-C1AC3201B0B5}"/>
              </a:ext>
            </a:extLst>
          </p:cNvPr>
          <p:cNvSpPr/>
          <p:nvPr/>
        </p:nvSpPr>
        <p:spPr>
          <a:xfrm>
            <a:off x="6051550" y="1498600"/>
            <a:ext cx="355600" cy="355600"/>
          </a:xfrm>
          <a:prstGeom prst="ellipse">
            <a:avLst/>
          </a:prstGeom>
          <a:solidFill>
            <a:srgbClr val="FFFFFF"/>
          </a:solidFill>
          <a:ln w="19050">
            <a:solidFill>
              <a:srgbClr val="F68D2E"/>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CA" sz="1200" b="1">
                <a:solidFill>
                  <a:srgbClr val="50152C"/>
                </a:solidFill>
                <a:latin typeface="Aptos Display" panose="020B0004020202020204" pitchFamily="34" charset="0"/>
              </a:rPr>
              <a:t>2</a:t>
            </a:r>
          </a:p>
        </p:txBody>
      </p:sp>
      <p:sp>
        <p:nvSpPr>
          <p:cNvPr id="10" name="TextBox 9">
            <a:extLst>
              <a:ext uri="{FF2B5EF4-FFF2-40B4-BE49-F238E27FC236}">
                <a16:creationId xmlns:a16="http://schemas.microsoft.com/office/drawing/2014/main" id="{D65442B4-2D91-D745-DBD2-580844424590}"/>
              </a:ext>
            </a:extLst>
          </p:cNvPr>
          <p:cNvSpPr txBox="1"/>
          <p:nvPr/>
        </p:nvSpPr>
        <p:spPr>
          <a:xfrm>
            <a:off x="6508750" y="1447800"/>
            <a:ext cx="2108200" cy="457200"/>
          </a:xfrm>
          <a:prstGeom prst="rect">
            <a:avLst/>
          </a:prstGeom>
          <a:noFill/>
        </p:spPr>
        <p:txBody>
          <a:bodyPr vert="horz" wrap="square" lIns="0" tIns="0" rIns="0" bIns="0" rtlCol="0" anchor="ctr">
            <a:noAutofit/>
          </a:bodyPr>
          <a:lstStyle/>
          <a:p>
            <a:r>
              <a:rPr lang="en-CA" sz="1400" b="1">
                <a:solidFill>
                  <a:srgbClr val="50152C"/>
                </a:solidFill>
                <a:latin typeface="Aptos Display" panose="020B0004020202020204" pitchFamily="34" charset="0"/>
              </a:rPr>
              <a:t>Databricks workspace</a:t>
            </a:r>
          </a:p>
        </p:txBody>
      </p:sp>
      <p:sp>
        <p:nvSpPr>
          <p:cNvPr id="11" name="TextBox 10">
            <a:extLst>
              <a:ext uri="{FF2B5EF4-FFF2-40B4-BE49-F238E27FC236}">
                <a16:creationId xmlns:a16="http://schemas.microsoft.com/office/drawing/2014/main" id="{2EE77071-C64B-00F6-0E0F-98843EF35C4B}"/>
              </a:ext>
            </a:extLst>
          </p:cNvPr>
          <p:cNvSpPr txBox="1"/>
          <p:nvPr/>
        </p:nvSpPr>
        <p:spPr>
          <a:xfrm>
            <a:off x="6051550" y="2006600"/>
            <a:ext cx="2489200" cy="1397000"/>
          </a:xfrm>
          <a:prstGeom prst="rect">
            <a:avLst/>
          </a:prstGeom>
          <a:noFill/>
        </p:spPr>
        <p:txBody>
          <a:bodyPr vert="horz" wrap="square" lIns="0" tIns="0" rIns="0" bIns="0" rtlCol="0" anchor="t">
            <a:noAutofit/>
          </a:bodyPr>
          <a:lstStyle/>
          <a:p>
            <a:r>
              <a:rPr lang="en-US" sz="1300">
                <a:solidFill>
                  <a:srgbClr val="262626"/>
                </a:solidFill>
                <a:latin typeface="Calibri" panose="020F0502020204030204" pitchFamily="34" charset="0"/>
              </a:rPr>
              <a:t>Premium workspace with VNet injection and secure cluster connectivity, so classic compute has no public IP addresses.</a:t>
            </a:r>
            <a:endParaRPr lang="en-CA" sz="1300">
              <a:solidFill>
                <a:srgbClr val="262626"/>
              </a:solidFill>
              <a:latin typeface="Calibri" panose="020F0502020204030204" pitchFamily="34" charset="0"/>
            </a:endParaRPr>
          </a:p>
        </p:txBody>
      </p:sp>
      <p:sp>
        <p:nvSpPr>
          <p:cNvPr id="12" name="Rectangle: Rounded Corners 11">
            <a:extLst>
              <a:ext uri="{FF2B5EF4-FFF2-40B4-BE49-F238E27FC236}">
                <a16:creationId xmlns:a16="http://schemas.microsoft.com/office/drawing/2014/main" id="{1F347F45-F629-59FE-17CE-42A74487CDB6}"/>
              </a:ext>
            </a:extLst>
          </p:cNvPr>
          <p:cNvSpPr/>
          <p:nvPr/>
        </p:nvSpPr>
        <p:spPr>
          <a:xfrm>
            <a:off x="8902700" y="1320800"/>
            <a:ext cx="2844800" cy="2184400"/>
          </a:xfrm>
          <a:prstGeom prst="roundRect">
            <a:avLst>
              <a:gd name="adj" fmla="val 6000"/>
            </a:avLst>
          </a:prstGeom>
          <a:solidFill>
            <a:srgbClr val="FCEC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Oval 12">
            <a:extLst>
              <a:ext uri="{FF2B5EF4-FFF2-40B4-BE49-F238E27FC236}">
                <a16:creationId xmlns:a16="http://schemas.microsoft.com/office/drawing/2014/main" id="{5CB9B6C7-D73F-0A14-2095-2833E2614ED6}"/>
              </a:ext>
            </a:extLst>
          </p:cNvPr>
          <p:cNvSpPr/>
          <p:nvPr/>
        </p:nvSpPr>
        <p:spPr>
          <a:xfrm>
            <a:off x="9080500" y="1498600"/>
            <a:ext cx="355600" cy="355600"/>
          </a:xfrm>
          <a:prstGeom prst="ellipse">
            <a:avLst/>
          </a:prstGeom>
          <a:solidFill>
            <a:srgbClr val="FFFFFF"/>
          </a:solidFill>
          <a:ln w="19050">
            <a:solidFill>
              <a:srgbClr val="F68D2E"/>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CA" sz="1200" b="1">
                <a:solidFill>
                  <a:srgbClr val="50152C"/>
                </a:solidFill>
                <a:latin typeface="Aptos Display" panose="020B0004020202020204" pitchFamily="34" charset="0"/>
              </a:rPr>
              <a:t>3</a:t>
            </a:r>
          </a:p>
        </p:txBody>
      </p:sp>
      <p:sp>
        <p:nvSpPr>
          <p:cNvPr id="14" name="TextBox 13">
            <a:extLst>
              <a:ext uri="{FF2B5EF4-FFF2-40B4-BE49-F238E27FC236}">
                <a16:creationId xmlns:a16="http://schemas.microsoft.com/office/drawing/2014/main" id="{7D377F2D-F72B-F9AD-58C0-E57AAA96FFA5}"/>
              </a:ext>
            </a:extLst>
          </p:cNvPr>
          <p:cNvSpPr txBox="1"/>
          <p:nvPr/>
        </p:nvSpPr>
        <p:spPr>
          <a:xfrm>
            <a:off x="9537700" y="1447800"/>
            <a:ext cx="2108200" cy="457200"/>
          </a:xfrm>
          <a:prstGeom prst="rect">
            <a:avLst/>
          </a:prstGeom>
          <a:noFill/>
        </p:spPr>
        <p:txBody>
          <a:bodyPr vert="horz" wrap="square" lIns="0" tIns="0" rIns="0" bIns="0" rtlCol="0" anchor="ctr">
            <a:noAutofit/>
          </a:bodyPr>
          <a:lstStyle/>
          <a:p>
            <a:r>
              <a:rPr lang="en-CA" sz="1400" b="1">
                <a:solidFill>
                  <a:srgbClr val="50152C"/>
                </a:solidFill>
                <a:latin typeface="Aptos Display" panose="020B0004020202020204" pitchFamily="34" charset="0"/>
              </a:rPr>
              <a:t>Data storage</a:t>
            </a:r>
          </a:p>
        </p:txBody>
      </p:sp>
      <p:sp>
        <p:nvSpPr>
          <p:cNvPr id="15" name="TextBox 14">
            <a:extLst>
              <a:ext uri="{FF2B5EF4-FFF2-40B4-BE49-F238E27FC236}">
                <a16:creationId xmlns:a16="http://schemas.microsoft.com/office/drawing/2014/main" id="{BA6046F7-EA78-C133-8C04-48BCC08A6FD1}"/>
              </a:ext>
            </a:extLst>
          </p:cNvPr>
          <p:cNvSpPr txBox="1"/>
          <p:nvPr/>
        </p:nvSpPr>
        <p:spPr>
          <a:xfrm>
            <a:off x="9080500" y="2006600"/>
            <a:ext cx="2489200" cy="1397000"/>
          </a:xfrm>
          <a:prstGeom prst="rect">
            <a:avLst/>
          </a:prstGeom>
          <a:noFill/>
        </p:spPr>
        <p:txBody>
          <a:bodyPr vert="horz" wrap="square" lIns="0" tIns="0" rIns="0" bIns="0" rtlCol="0" anchor="t">
            <a:noAutofit/>
          </a:bodyPr>
          <a:lstStyle/>
          <a:p>
            <a:r>
              <a:rPr lang="en-US" sz="1300">
                <a:solidFill>
                  <a:srgbClr val="262626"/>
                </a:solidFill>
                <a:latin typeface="Calibri" panose="020F0502020204030204" pitchFamily="34" charset="0"/>
              </a:rPr>
              <a:t>ADLS Gen2 account, zone-redundant, with no public network access or shared keys, reached through private endpoints.</a:t>
            </a:r>
            <a:endParaRPr lang="en-CA" sz="1300">
              <a:solidFill>
                <a:srgbClr val="262626"/>
              </a:solidFill>
              <a:latin typeface="Calibri" panose="020F0502020204030204" pitchFamily="34" charset="0"/>
            </a:endParaRPr>
          </a:p>
        </p:txBody>
      </p:sp>
      <p:sp>
        <p:nvSpPr>
          <p:cNvPr id="16" name="Rectangle: Rounded Corners 15">
            <a:extLst>
              <a:ext uri="{FF2B5EF4-FFF2-40B4-BE49-F238E27FC236}">
                <a16:creationId xmlns:a16="http://schemas.microsoft.com/office/drawing/2014/main" id="{91351455-97B8-B00B-11B4-3EC58749225C}"/>
              </a:ext>
            </a:extLst>
          </p:cNvPr>
          <p:cNvSpPr/>
          <p:nvPr/>
        </p:nvSpPr>
        <p:spPr>
          <a:xfrm>
            <a:off x="2844800" y="3683000"/>
            <a:ext cx="2844800" cy="2184400"/>
          </a:xfrm>
          <a:prstGeom prst="roundRect">
            <a:avLst>
              <a:gd name="adj" fmla="val 6000"/>
            </a:avLst>
          </a:prstGeom>
          <a:solidFill>
            <a:srgbClr val="FCEC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 name="Oval 16">
            <a:extLst>
              <a:ext uri="{FF2B5EF4-FFF2-40B4-BE49-F238E27FC236}">
                <a16:creationId xmlns:a16="http://schemas.microsoft.com/office/drawing/2014/main" id="{0A78A529-624E-D7C5-22B5-A5656F131591}"/>
              </a:ext>
            </a:extLst>
          </p:cNvPr>
          <p:cNvSpPr/>
          <p:nvPr/>
        </p:nvSpPr>
        <p:spPr>
          <a:xfrm>
            <a:off x="3022600" y="3860800"/>
            <a:ext cx="355600" cy="355600"/>
          </a:xfrm>
          <a:prstGeom prst="ellipse">
            <a:avLst/>
          </a:prstGeom>
          <a:solidFill>
            <a:srgbClr val="FFFFFF"/>
          </a:solidFill>
          <a:ln w="19050">
            <a:solidFill>
              <a:srgbClr val="F68D2E"/>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CA" sz="1200" b="1">
                <a:solidFill>
                  <a:srgbClr val="50152C"/>
                </a:solidFill>
                <a:latin typeface="Aptos Display" panose="020B0004020202020204" pitchFamily="34" charset="0"/>
              </a:rPr>
              <a:t>4</a:t>
            </a:r>
          </a:p>
        </p:txBody>
      </p:sp>
      <p:sp>
        <p:nvSpPr>
          <p:cNvPr id="18" name="TextBox 17">
            <a:extLst>
              <a:ext uri="{FF2B5EF4-FFF2-40B4-BE49-F238E27FC236}">
                <a16:creationId xmlns:a16="http://schemas.microsoft.com/office/drawing/2014/main" id="{C5D99BEC-9D49-0914-6B73-C46DE137DE70}"/>
              </a:ext>
            </a:extLst>
          </p:cNvPr>
          <p:cNvSpPr txBox="1"/>
          <p:nvPr/>
        </p:nvSpPr>
        <p:spPr>
          <a:xfrm>
            <a:off x="3479800" y="3810000"/>
            <a:ext cx="2108200" cy="457200"/>
          </a:xfrm>
          <a:prstGeom prst="rect">
            <a:avLst/>
          </a:prstGeom>
          <a:noFill/>
        </p:spPr>
        <p:txBody>
          <a:bodyPr vert="horz" wrap="square" lIns="0" tIns="0" rIns="0" bIns="0" rtlCol="0" anchor="ctr">
            <a:noAutofit/>
          </a:bodyPr>
          <a:lstStyle/>
          <a:p>
            <a:r>
              <a:rPr lang="en-CA" sz="1400" b="1">
                <a:solidFill>
                  <a:srgbClr val="50152C"/>
                </a:solidFill>
                <a:latin typeface="Aptos Display" panose="020B0004020202020204" pitchFamily="34" charset="0"/>
              </a:rPr>
              <a:t>Serverless to on-premises</a:t>
            </a:r>
          </a:p>
        </p:txBody>
      </p:sp>
      <p:sp>
        <p:nvSpPr>
          <p:cNvPr id="19" name="TextBox 18">
            <a:extLst>
              <a:ext uri="{FF2B5EF4-FFF2-40B4-BE49-F238E27FC236}">
                <a16:creationId xmlns:a16="http://schemas.microsoft.com/office/drawing/2014/main" id="{3F91E228-F940-485C-3BDC-FF86983E08B3}"/>
              </a:ext>
            </a:extLst>
          </p:cNvPr>
          <p:cNvSpPr txBox="1"/>
          <p:nvPr/>
        </p:nvSpPr>
        <p:spPr>
          <a:xfrm>
            <a:off x="3022600" y="4368800"/>
            <a:ext cx="2489200" cy="1397000"/>
          </a:xfrm>
          <a:prstGeom prst="rect">
            <a:avLst/>
          </a:prstGeom>
          <a:noFill/>
        </p:spPr>
        <p:txBody>
          <a:bodyPr vert="horz" wrap="square" lIns="0" tIns="0" rIns="0" bIns="0" rtlCol="0" anchor="t">
            <a:noAutofit/>
          </a:bodyPr>
          <a:lstStyle/>
          <a:p>
            <a:r>
              <a:rPr lang="en-US" sz="1300">
                <a:solidFill>
                  <a:srgbClr val="262626"/>
                </a:solidFill>
                <a:latin typeface="Calibri" panose="020F0502020204030204" pitchFamily="34" charset="0"/>
              </a:rPr>
              <a:t>Two HAProxy VMs in zones 1 and 2 behind two internal load balancers, with one Private Link Service per database.</a:t>
            </a:r>
            <a:endParaRPr lang="en-CA" sz="1300">
              <a:solidFill>
                <a:srgbClr val="262626"/>
              </a:solidFill>
              <a:latin typeface="Calibri" panose="020F0502020204030204" pitchFamily="34" charset="0"/>
            </a:endParaRPr>
          </a:p>
        </p:txBody>
      </p:sp>
      <p:sp>
        <p:nvSpPr>
          <p:cNvPr id="20" name="Rectangle: Rounded Corners 19">
            <a:extLst>
              <a:ext uri="{FF2B5EF4-FFF2-40B4-BE49-F238E27FC236}">
                <a16:creationId xmlns:a16="http://schemas.microsoft.com/office/drawing/2014/main" id="{C7260B9A-0C11-7284-7E93-7093683F70E7}"/>
              </a:ext>
            </a:extLst>
          </p:cNvPr>
          <p:cNvSpPr/>
          <p:nvPr/>
        </p:nvSpPr>
        <p:spPr>
          <a:xfrm>
            <a:off x="5873750" y="3683000"/>
            <a:ext cx="2844800" cy="2184400"/>
          </a:xfrm>
          <a:prstGeom prst="roundRect">
            <a:avLst>
              <a:gd name="adj" fmla="val 6000"/>
            </a:avLst>
          </a:prstGeom>
          <a:solidFill>
            <a:srgbClr val="FCEC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1" name="Oval 20">
            <a:extLst>
              <a:ext uri="{FF2B5EF4-FFF2-40B4-BE49-F238E27FC236}">
                <a16:creationId xmlns:a16="http://schemas.microsoft.com/office/drawing/2014/main" id="{D4A6EC62-A631-AB3F-CEF6-008B1614253D}"/>
              </a:ext>
            </a:extLst>
          </p:cNvPr>
          <p:cNvSpPr/>
          <p:nvPr/>
        </p:nvSpPr>
        <p:spPr>
          <a:xfrm>
            <a:off x="6051550" y="3860800"/>
            <a:ext cx="355600" cy="355600"/>
          </a:xfrm>
          <a:prstGeom prst="ellipse">
            <a:avLst/>
          </a:prstGeom>
          <a:solidFill>
            <a:srgbClr val="FFFFFF"/>
          </a:solidFill>
          <a:ln w="19050">
            <a:solidFill>
              <a:srgbClr val="F68D2E"/>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CA" sz="1200" b="1">
                <a:solidFill>
                  <a:srgbClr val="50152C"/>
                </a:solidFill>
                <a:latin typeface="Aptos Display" panose="020B0004020202020204" pitchFamily="34" charset="0"/>
              </a:rPr>
              <a:t>5</a:t>
            </a:r>
          </a:p>
        </p:txBody>
      </p:sp>
      <p:sp>
        <p:nvSpPr>
          <p:cNvPr id="22" name="TextBox 21">
            <a:extLst>
              <a:ext uri="{FF2B5EF4-FFF2-40B4-BE49-F238E27FC236}">
                <a16:creationId xmlns:a16="http://schemas.microsoft.com/office/drawing/2014/main" id="{D3774901-7ABC-ABC4-04BF-A12120775E5B}"/>
              </a:ext>
            </a:extLst>
          </p:cNvPr>
          <p:cNvSpPr txBox="1"/>
          <p:nvPr/>
        </p:nvSpPr>
        <p:spPr>
          <a:xfrm>
            <a:off x="6508750" y="3810000"/>
            <a:ext cx="2108200" cy="457200"/>
          </a:xfrm>
          <a:prstGeom prst="rect">
            <a:avLst/>
          </a:prstGeom>
          <a:noFill/>
        </p:spPr>
        <p:txBody>
          <a:bodyPr vert="horz" wrap="square" lIns="0" tIns="0" rIns="0" bIns="0" rtlCol="0" anchor="ctr">
            <a:noAutofit/>
          </a:bodyPr>
          <a:lstStyle/>
          <a:p>
            <a:r>
              <a:rPr lang="en-CA" sz="1400" b="1">
                <a:solidFill>
                  <a:srgbClr val="50152C"/>
                </a:solidFill>
                <a:latin typeface="Aptos Display" panose="020B0004020202020204" pitchFamily="34" charset="0"/>
              </a:rPr>
              <a:t>NCC and Unity Catalog</a:t>
            </a:r>
          </a:p>
        </p:txBody>
      </p:sp>
      <p:sp>
        <p:nvSpPr>
          <p:cNvPr id="23" name="TextBox 22">
            <a:extLst>
              <a:ext uri="{FF2B5EF4-FFF2-40B4-BE49-F238E27FC236}">
                <a16:creationId xmlns:a16="http://schemas.microsoft.com/office/drawing/2014/main" id="{92080D1E-9250-069E-4D3D-3D51259C9D1F}"/>
              </a:ext>
            </a:extLst>
          </p:cNvPr>
          <p:cNvSpPr txBox="1"/>
          <p:nvPr/>
        </p:nvSpPr>
        <p:spPr>
          <a:xfrm>
            <a:off x="6051550" y="4368800"/>
            <a:ext cx="2489200" cy="1397000"/>
          </a:xfrm>
          <a:prstGeom prst="rect">
            <a:avLst/>
          </a:prstGeom>
          <a:noFill/>
        </p:spPr>
        <p:txBody>
          <a:bodyPr vert="horz" wrap="square" lIns="0" tIns="0" rIns="0" bIns="0" rtlCol="0" anchor="t">
            <a:noAutofit/>
          </a:bodyPr>
          <a:lstStyle/>
          <a:p>
            <a:r>
              <a:rPr lang="en-US" sz="1300">
                <a:solidFill>
                  <a:srgbClr val="262626"/>
                </a:solidFill>
                <a:latin typeface="Calibri" panose="020F0502020204030204" pitchFamily="34" charset="0"/>
              </a:rPr>
              <a:t>Network Connectivity Configuration, a serverless egress policy, and a Unity Catalog storage credential and external location.</a:t>
            </a:r>
            <a:endParaRPr lang="en-CA" sz="1300">
              <a:solidFill>
                <a:srgbClr val="262626"/>
              </a:solidFill>
              <a:latin typeface="Calibri" panose="020F0502020204030204" pitchFamily="34" charset="0"/>
            </a:endParaRPr>
          </a:p>
        </p:txBody>
      </p:sp>
      <p:sp>
        <p:nvSpPr>
          <p:cNvPr id="24" name="Rectangle: Rounded Corners 23">
            <a:extLst>
              <a:ext uri="{FF2B5EF4-FFF2-40B4-BE49-F238E27FC236}">
                <a16:creationId xmlns:a16="http://schemas.microsoft.com/office/drawing/2014/main" id="{DCD37964-725D-9AE1-7CA0-DEE876F7E30A}"/>
              </a:ext>
            </a:extLst>
          </p:cNvPr>
          <p:cNvSpPr/>
          <p:nvPr/>
        </p:nvSpPr>
        <p:spPr>
          <a:xfrm>
            <a:off x="8902700" y="3683000"/>
            <a:ext cx="2844800" cy="2184400"/>
          </a:xfrm>
          <a:prstGeom prst="roundRect">
            <a:avLst>
              <a:gd name="adj" fmla="val 6000"/>
            </a:avLst>
          </a:prstGeom>
          <a:solidFill>
            <a:srgbClr val="FCEC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5" name="Oval 24">
            <a:extLst>
              <a:ext uri="{FF2B5EF4-FFF2-40B4-BE49-F238E27FC236}">
                <a16:creationId xmlns:a16="http://schemas.microsoft.com/office/drawing/2014/main" id="{9CDB88DE-1526-3583-7C3D-C65DBC2272DF}"/>
              </a:ext>
            </a:extLst>
          </p:cNvPr>
          <p:cNvSpPr/>
          <p:nvPr/>
        </p:nvSpPr>
        <p:spPr>
          <a:xfrm>
            <a:off x="9080500" y="3860800"/>
            <a:ext cx="355600" cy="355600"/>
          </a:xfrm>
          <a:prstGeom prst="ellipse">
            <a:avLst/>
          </a:prstGeom>
          <a:solidFill>
            <a:srgbClr val="FFFFFF"/>
          </a:solidFill>
          <a:ln w="19050">
            <a:solidFill>
              <a:srgbClr val="F68D2E"/>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CA" sz="1200" b="1">
                <a:solidFill>
                  <a:srgbClr val="50152C"/>
                </a:solidFill>
                <a:latin typeface="Aptos Display" panose="020B0004020202020204" pitchFamily="34" charset="0"/>
              </a:rPr>
              <a:t>6</a:t>
            </a:r>
          </a:p>
        </p:txBody>
      </p:sp>
      <p:sp>
        <p:nvSpPr>
          <p:cNvPr id="26" name="TextBox 25">
            <a:extLst>
              <a:ext uri="{FF2B5EF4-FFF2-40B4-BE49-F238E27FC236}">
                <a16:creationId xmlns:a16="http://schemas.microsoft.com/office/drawing/2014/main" id="{80CF782B-4AAE-44F7-04C8-AC34EF5595C4}"/>
              </a:ext>
            </a:extLst>
          </p:cNvPr>
          <p:cNvSpPr txBox="1"/>
          <p:nvPr/>
        </p:nvSpPr>
        <p:spPr>
          <a:xfrm>
            <a:off x="9537700" y="3810000"/>
            <a:ext cx="2108200" cy="457200"/>
          </a:xfrm>
          <a:prstGeom prst="rect">
            <a:avLst/>
          </a:prstGeom>
          <a:noFill/>
        </p:spPr>
        <p:txBody>
          <a:bodyPr vert="horz" wrap="square" lIns="0" tIns="0" rIns="0" bIns="0" rtlCol="0" anchor="ctr">
            <a:noAutofit/>
          </a:bodyPr>
          <a:lstStyle/>
          <a:p>
            <a:r>
              <a:rPr lang="en-CA" sz="1400" b="1">
                <a:solidFill>
                  <a:srgbClr val="50152C"/>
                </a:solidFill>
                <a:latin typeface="Aptos Display" panose="020B0004020202020204" pitchFamily="34" charset="0"/>
              </a:rPr>
              <a:t>Monitoring and state</a:t>
            </a:r>
          </a:p>
        </p:txBody>
      </p:sp>
      <p:sp>
        <p:nvSpPr>
          <p:cNvPr id="27" name="TextBox 26">
            <a:extLst>
              <a:ext uri="{FF2B5EF4-FFF2-40B4-BE49-F238E27FC236}">
                <a16:creationId xmlns:a16="http://schemas.microsoft.com/office/drawing/2014/main" id="{DF939A77-7930-3F41-D11D-0A9758656B1F}"/>
              </a:ext>
            </a:extLst>
          </p:cNvPr>
          <p:cNvSpPr txBox="1"/>
          <p:nvPr/>
        </p:nvSpPr>
        <p:spPr>
          <a:xfrm>
            <a:off x="9080500" y="4368800"/>
            <a:ext cx="2489200" cy="1397000"/>
          </a:xfrm>
          <a:prstGeom prst="rect">
            <a:avLst/>
          </a:prstGeom>
          <a:noFill/>
        </p:spPr>
        <p:txBody>
          <a:bodyPr vert="horz" wrap="square" lIns="0" tIns="0" rIns="0" bIns="0" rtlCol="0" anchor="t">
            <a:noAutofit/>
          </a:bodyPr>
          <a:lstStyle/>
          <a:p>
            <a:r>
              <a:rPr lang="en-US" sz="1300">
                <a:solidFill>
                  <a:srgbClr val="262626"/>
                </a:solidFill>
                <a:latin typeface="Calibri" panose="020F0502020204030204" pitchFamily="34" charset="0"/>
              </a:rPr>
              <a:t>Log Analytics, diagnostic settings, alerts on HAProxy, NAT Gateway and storage, and a dedicated Terraform state account.</a:t>
            </a:r>
            <a:endParaRPr lang="en-CA" sz="1300">
              <a:solidFill>
                <a:srgbClr val="262626"/>
              </a:solidFill>
              <a:latin typeface="Calibri" panose="020F0502020204030204" pitchFamily="34" charset="0"/>
            </a:endParaRPr>
          </a:p>
        </p:txBody>
      </p:sp>
    </p:spTree>
    <p:extLst>
      <p:ext uri="{BB962C8B-B14F-4D97-AF65-F5344CB8AC3E}">
        <p14:creationId xmlns:p14="http://schemas.microsoft.com/office/powerpoint/2010/main" val="23849916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3A23A-B9CF-76E2-0AE4-6A0ABC38E435}"/>
              </a:ext>
            </a:extLst>
          </p:cNvPr>
          <p:cNvSpPr>
            <a:spLocks noGrp="1"/>
          </p:cNvSpPr>
          <p:nvPr>
            <p:ph type="title"/>
          </p:nvPr>
        </p:nvSpPr>
        <p:spPr/>
        <p:txBody>
          <a:bodyPr>
            <a:normAutofit/>
          </a:bodyPr>
          <a:lstStyle/>
          <a:p>
            <a:r>
              <a:rPr lang="en-CA" b="1">
                <a:latin typeface="Aptos Display" panose="020B0004020202020204" pitchFamily="34" charset="0"/>
              </a:rPr>
              <a:t>Address Ranges and Subscriptions</a:t>
            </a:r>
          </a:p>
        </p:txBody>
      </p:sp>
      <p:graphicFrame>
        <p:nvGraphicFramePr>
          <p:cNvPr id="4" name="Table 3">
            <a:extLst>
              <a:ext uri="{FF2B5EF4-FFF2-40B4-BE49-F238E27FC236}">
                <a16:creationId xmlns:a16="http://schemas.microsoft.com/office/drawing/2014/main" id="{DC18D3BE-5BD4-6590-E8F4-1F74C683BE9E}"/>
              </a:ext>
            </a:extLst>
          </p:cNvPr>
          <p:cNvGraphicFramePr>
            <a:graphicFrameLocks noGrp="1"/>
          </p:cNvGraphicFramePr>
          <p:nvPr>
            <p:extLst>
              <p:ext uri="{D42A27DB-BD31-4B8C-83A1-F6EECF244321}">
                <p14:modId xmlns:p14="http://schemas.microsoft.com/office/powerpoint/2010/main" val="1059741663"/>
              </p:ext>
            </p:extLst>
          </p:nvPr>
        </p:nvGraphicFramePr>
        <p:xfrm>
          <a:off x="2844800" y="1320800"/>
          <a:ext cx="8902700" cy="2743200"/>
        </p:xfrm>
        <a:graphic>
          <a:graphicData uri="http://schemas.openxmlformats.org/drawingml/2006/table">
            <a:tbl>
              <a:tblPr firstRow="1" bandRow="1">
                <a:tableStyleId>{5940675A-B579-460E-94D1-54222C63F5DA}</a:tableStyleId>
              </a:tblPr>
              <a:tblGrid>
                <a:gridCol w="1905000">
                  <a:extLst>
                    <a:ext uri="{9D8B030D-6E8A-4147-A177-3AD203B41FA5}">
                      <a16:colId xmlns:a16="http://schemas.microsoft.com/office/drawing/2014/main" val="1673301543"/>
                    </a:ext>
                  </a:extLst>
                </a:gridCol>
                <a:gridCol w="2336800">
                  <a:extLst>
                    <a:ext uri="{9D8B030D-6E8A-4147-A177-3AD203B41FA5}">
                      <a16:colId xmlns:a16="http://schemas.microsoft.com/office/drawing/2014/main" val="3088747864"/>
                    </a:ext>
                  </a:extLst>
                </a:gridCol>
                <a:gridCol w="2336800">
                  <a:extLst>
                    <a:ext uri="{9D8B030D-6E8A-4147-A177-3AD203B41FA5}">
                      <a16:colId xmlns:a16="http://schemas.microsoft.com/office/drawing/2014/main" val="3818794561"/>
                    </a:ext>
                  </a:extLst>
                </a:gridCol>
                <a:gridCol w="2324100">
                  <a:extLst>
                    <a:ext uri="{9D8B030D-6E8A-4147-A177-3AD203B41FA5}">
                      <a16:colId xmlns:a16="http://schemas.microsoft.com/office/drawing/2014/main" val="2722983133"/>
                    </a:ext>
                  </a:extLst>
                </a:gridCol>
              </a:tblGrid>
              <a:tr h="342900">
                <a:tc>
                  <a:txBody>
                    <a:bodyPr/>
                    <a:lstStyle/>
                    <a:p>
                      <a:pPr algn="l"/>
                      <a:endParaRPr lang="en-CA" sz="1200" b="1">
                        <a:solidFill>
                          <a:srgbClr val="FFFFFF"/>
                        </a:solidFill>
                        <a:latin typeface="Calibri" panose="020F0502020204030204" pitchFamily="34" charset="0"/>
                      </a:endParaRPr>
                    </a:p>
                  </a:txBody>
                  <a:tcPr marL="76200" marR="76200" marT="38100" marB="38100" anchor="ctr">
                    <a:lnL w="9525" cmpd="sng">
                      <a:solidFill>
                        <a:srgbClr val="ED7D31"/>
                      </a:solidFill>
                    </a:lnL>
                    <a:lnR w="9525" cmpd="sng">
                      <a:solidFill>
                        <a:srgbClr val="ED7D31"/>
                      </a:solidFill>
                    </a:lnR>
                    <a:lnT w="9525" cmpd="sng">
                      <a:solidFill>
                        <a:srgbClr val="ED7D31"/>
                      </a:solidFill>
                    </a:lnT>
                    <a:lnB w="9525" cmpd="sng">
                      <a:solidFill>
                        <a:srgbClr val="ED7D31"/>
                      </a:solidFill>
                    </a:lnB>
                    <a:solidFill>
                      <a:srgbClr val="ED7D31"/>
                    </a:solidFill>
                  </a:tcPr>
                </a:tc>
                <a:tc>
                  <a:txBody>
                    <a:bodyPr/>
                    <a:lstStyle/>
                    <a:p>
                      <a:pPr algn="l"/>
                      <a:r>
                        <a:rPr lang="en-CA" sz="1200" b="1">
                          <a:solidFill>
                            <a:srgbClr val="FFFFFF"/>
                          </a:solidFill>
                          <a:latin typeface="Calibri" panose="020F0502020204030204" pitchFamily="34" charset="0"/>
                        </a:rPr>
                        <a:t>Dev</a:t>
                      </a:r>
                    </a:p>
                  </a:txBody>
                  <a:tcPr marL="76200" marR="76200" marT="38100" marB="38100" anchor="ctr">
                    <a:lnL w="9525" cmpd="sng">
                      <a:solidFill>
                        <a:srgbClr val="ED7D31"/>
                      </a:solidFill>
                    </a:lnL>
                    <a:lnR w="9525" cmpd="sng">
                      <a:solidFill>
                        <a:srgbClr val="ED7D31"/>
                      </a:solidFill>
                    </a:lnR>
                    <a:lnT w="9525" cmpd="sng">
                      <a:solidFill>
                        <a:srgbClr val="ED7D31"/>
                      </a:solidFill>
                    </a:lnT>
                    <a:lnB w="9525" cmpd="sng">
                      <a:solidFill>
                        <a:srgbClr val="ED7D31"/>
                      </a:solidFill>
                    </a:lnB>
                    <a:solidFill>
                      <a:srgbClr val="ED7D31"/>
                    </a:solidFill>
                  </a:tcPr>
                </a:tc>
                <a:tc>
                  <a:txBody>
                    <a:bodyPr/>
                    <a:lstStyle/>
                    <a:p>
                      <a:pPr algn="l"/>
                      <a:r>
                        <a:rPr lang="en-CA" sz="1200" b="1">
                          <a:solidFill>
                            <a:srgbClr val="FFFFFF"/>
                          </a:solidFill>
                          <a:latin typeface="Calibri" panose="020F0502020204030204" pitchFamily="34" charset="0"/>
                        </a:rPr>
                        <a:t>Test</a:t>
                      </a:r>
                    </a:p>
                  </a:txBody>
                  <a:tcPr marL="76200" marR="76200" marT="38100" marB="38100" anchor="ctr">
                    <a:lnL w="9525" cmpd="sng">
                      <a:solidFill>
                        <a:srgbClr val="ED7D31"/>
                      </a:solidFill>
                    </a:lnL>
                    <a:lnR w="9525" cmpd="sng">
                      <a:solidFill>
                        <a:srgbClr val="ED7D31"/>
                      </a:solidFill>
                    </a:lnR>
                    <a:lnT w="9525" cmpd="sng">
                      <a:solidFill>
                        <a:srgbClr val="ED7D31"/>
                      </a:solidFill>
                    </a:lnT>
                    <a:lnB w="9525" cmpd="sng">
                      <a:solidFill>
                        <a:srgbClr val="ED7D31"/>
                      </a:solidFill>
                    </a:lnB>
                    <a:solidFill>
                      <a:srgbClr val="ED7D31"/>
                    </a:solidFill>
                  </a:tcPr>
                </a:tc>
                <a:tc>
                  <a:txBody>
                    <a:bodyPr/>
                    <a:lstStyle/>
                    <a:p>
                      <a:pPr algn="l"/>
                      <a:r>
                        <a:rPr lang="en-CA" sz="1200" b="1">
                          <a:solidFill>
                            <a:srgbClr val="FFFFFF"/>
                          </a:solidFill>
                          <a:latin typeface="Calibri" panose="020F0502020204030204" pitchFamily="34" charset="0"/>
                        </a:rPr>
                        <a:t>Prod</a:t>
                      </a:r>
                    </a:p>
                  </a:txBody>
                  <a:tcPr marL="76200" marR="76200" marT="38100" marB="38100" anchor="ctr">
                    <a:lnL w="9525" cmpd="sng">
                      <a:solidFill>
                        <a:srgbClr val="ED7D31"/>
                      </a:solidFill>
                    </a:lnL>
                    <a:lnR w="9525" cmpd="sng">
                      <a:solidFill>
                        <a:srgbClr val="ED7D31"/>
                      </a:solidFill>
                    </a:lnR>
                    <a:lnT w="9525" cmpd="sng">
                      <a:solidFill>
                        <a:srgbClr val="ED7D31"/>
                      </a:solidFill>
                    </a:lnT>
                    <a:lnB w="9525" cmpd="sng">
                      <a:solidFill>
                        <a:srgbClr val="ED7D31"/>
                      </a:solidFill>
                    </a:lnB>
                    <a:solidFill>
                      <a:srgbClr val="ED7D31"/>
                    </a:solidFill>
                  </a:tcPr>
                </a:tc>
                <a:extLst>
                  <a:ext uri="{0D108BD9-81ED-4DB2-BD59-A6C34878D82A}">
                    <a16:rowId xmlns:a16="http://schemas.microsoft.com/office/drawing/2014/main" val="412337661"/>
                  </a:ext>
                </a:extLst>
              </a:tr>
              <a:tr h="342900">
                <a:tc>
                  <a:txBody>
                    <a:bodyPr/>
                    <a:lstStyle/>
                    <a:p>
                      <a:pPr algn="l"/>
                      <a:r>
                        <a:rPr lang="en-CA" sz="1200" b="1">
                          <a:solidFill>
                            <a:srgbClr val="262626"/>
                          </a:solidFill>
                          <a:latin typeface="Calibri" panose="020F0502020204030204" pitchFamily="34" charset="0"/>
                        </a:rPr>
                        <a:t>Subscription</a:t>
                      </a:r>
                    </a:p>
                  </a:txBody>
                  <a:tcPr marL="76200" marR="76200" marT="38100" marB="38100" anchor="ctr">
                    <a:lnL w="9525" cmpd="sng">
                      <a:solidFill>
                        <a:srgbClr val="ED7D31"/>
                      </a:solidFill>
                    </a:lnL>
                    <a:lnR w="9525" cmpd="sng">
                      <a:solidFill>
                        <a:srgbClr val="ED7D31"/>
                      </a:solidFill>
                    </a:lnR>
                    <a:lnT w="9525" cmpd="sng">
                      <a:solidFill>
                        <a:srgbClr val="ED7D31"/>
                      </a:solidFill>
                    </a:lnT>
                    <a:lnB w="9525" cmpd="sng">
                      <a:solidFill>
                        <a:srgbClr val="ED7D31"/>
                      </a:solidFill>
                    </a:lnB>
                    <a:solidFill>
                      <a:srgbClr val="FCECE8"/>
                    </a:solidFill>
                  </a:tcPr>
                </a:tc>
                <a:tc>
                  <a:txBody>
                    <a:bodyPr/>
                    <a:lstStyle/>
                    <a:p>
                      <a:pPr algn="l"/>
                      <a:r>
                        <a:rPr lang="en-CA" sz="1200" b="0">
                          <a:solidFill>
                            <a:srgbClr val="262626"/>
                          </a:solidFill>
                          <a:latin typeface="Calibri" panose="020F0502020204030204" pitchFamily="34" charset="0"/>
                        </a:rPr>
                        <a:t>SUB-BTE-CAN-DATA-NONPROD</a:t>
                      </a:r>
                    </a:p>
                  </a:txBody>
                  <a:tcPr marL="76200" marR="76200" marT="38100" marB="38100" anchor="ctr">
                    <a:lnL w="9525" cmpd="sng">
                      <a:solidFill>
                        <a:srgbClr val="ED7D31"/>
                      </a:solidFill>
                    </a:lnL>
                    <a:lnR w="9525" cmpd="sng">
                      <a:solidFill>
                        <a:srgbClr val="ED7D31"/>
                      </a:solidFill>
                    </a:lnR>
                    <a:lnT w="9525" cmpd="sng">
                      <a:solidFill>
                        <a:srgbClr val="ED7D31"/>
                      </a:solidFill>
                    </a:lnT>
                    <a:lnB w="9525" cmpd="sng">
                      <a:solidFill>
                        <a:srgbClr val="ED7D31"/>
                      </a:solidFill>
                    </a:lnB>
                    <a:solidFill>
                      <a:srgbClr val="FCECE8"/>
                    </a:solidFill>
                  </a:tcPr>
                </a:tc>
                <a:tc>
                  <a:txBody>
                    <a:bodyPr/>
                    <a:lstStyle/>
                    <a:p>
                      <a:pPr algn="l"/>
                      <a:r>
                        <a:rPr lang="en-CA" sz="1200" b="0">
                          <a:solidFill>
                            <a:srgbClr val="262626"/>
                          </a:solidFill>
                          <a:latin typeface="Calibri" panose="020F0502020204030204" pitchFamily="34" charset="0"/>
                        </a:rPr>
                        <a:t>SUB-BTE-CAN-DATA-TEST</a:t>
                      </a:r>
                    </a:p>
                  </a:txBody>
                  <a:tcPr marL="76200" marR="76200" marT="38100" marB="38100" anchor="ctr">
                    <a:lnL w="9525" cmpd="sng">
                      <a:solidFill>
                        <a:srgbClr val="ED7D31"/>
                      </a:solidFill>
                    </a:lnL>
                    <a:lnR w="9525" cmpd="sng">
                      <a:solidFill>
                        <a:srgbClr val="ED7D31"/>
                      </a:solidFill>
                    </a:lnR>
                    <a:lnT w="9525" cmpd="sng">
                      <a:solidFill>
                        <a:srgbClr val="ED7D31"/>
                      </a:solidFill>
                    </a:lnT>
                    <a:lnB w="9525" cmpd="sng">
                      <a:solidFill>
                        <a:srgbClr val="ED7D31"/>
                      </a:solidFill>
                    </a:lnB>
                    <a:solidFill>
                      <a:srgbClr val="FCECE8"/>
                    </a:solidFill>
                  </a:tcPr>
                </a:tc>
                <a:tc>
                  <a:txBody>
                    <a:bodyPr/>
                    <a:lstStyle/>
                    <a:p>
                      <a:pPr algn="l"/>
                      <a:r>
                        <a:rPr lang="en-CA" sz="1200" b="0">
                          <a:solidFill>
                            <a:srgbClr val="262626"/>
                          </a:solidFill>
                          <a:latin typeface="Calibri" panose="020F0502020204030204" pitchFamily="34" charset="0"/>
                        </a:rPr>
                        <a:t>SUB-BTE-CAN-DATA-PROD</a:t>
                      </a:r>
                    </a:p>
                  </a:txBody>
                  <a:tcPr marL="76200" marR="76200" marT="38100" marB="38100" anchor="ctr">
                    <a:lnL w="9525" cmpd="sng">
                      <a:solidFill>
                        <a:srgbClr val="ED7D31"/>
                      </a:solidFill>
                    </a:lnL>
                    <a:lnR w="9525" cmpd="sng">
                      <a:solidFill>
                        <a:srgbClr val="ED7D31"/>
                      </a:solidFill>
                    </a:lnR>
                    <a:lnT w="9525" cmpd="sng">
                      <a:solidFill>
                        <a:srgbClr val="ED7D31"/>
                      </a:solidFill>
                    </a:lnT>
                    <a:lnB w="9525" cmpd="sng">
                      <a:solidFill>
                        <a:srgbClr val="ED7D31"/>
                      </a:solidFill>
                    </a:lnB>
                    <a:solidFill>
                      <a:srgbClr val="FCECE8"/>
                    </a:solidFill>
                  </a:tcPr>
                </a:tc>
                <a:extLst>
                  <a:ext uri="{0D108BD9-81ED-4DB2-BD59-A6C34878D82A}">
                    <a16:rowId xmlns:a16="http://schemas.microsoft.com/office/drawing/2014/main" val="900292490"/>
                  </a:ext>
                </a:extLst>
              </a:tr>
              <a:tr h="342900">
                <a:tc>
                  <a:txBody>
                    <a:bodyPr/>
                    <a:lstStyle/>
                    <a:p>
                      <a:pPr algn="l"/>
                      <a:r>
                        <a:rPr lang="en-CA" sz="1200" b="1">
                          <a:solidFill>
                            <a:srgbClr val="262626"/>
                          </a:solidFill>
                          <a:latin typeface="Calibri" panose="020F0502020204030204" pitchFamily="34" charset="0"/>
                        </a:rPr>
                        <a:t>Region</a:t>
                      </a:r>
                    </a:p>
                  </a:txBody>
                  <a:tcPr marL="76200" marR="76200" marT="38100" marB="38100" anchor="ctr">
                    <a:lnL w="9525" cmpd="sng">
                      <a:solidFill>
                        <a:srgbClr val="ED7D31"/>
                      </a:solidFill>
                    </a:lnL>
                    <a:lnR w="9525" cmpd="sng">
                      <a:solidFill>
                        <a:srgbClr val="ED7D31"/>
                      </a:solidFill>
                    </a:lnR>
                    <a:lnT w="9525" cmpd="sng">
                      <a:solidFill>
                        <a:srgbClr val="ED7D31"/>
                      </a:solidFill>
                    </a:lnT>
                    <a:lnB w="9525" cmpd="sng">
                      <a:solidFill>
                        <a:srgbClr val="ED7D31"/>
                      </a:solidFill>
                    </a:lnB>
                    <a:solidFill>
                      <a:srgbClr val="FFFFFF"/>
                    </a:solidFill>
                  </a:tcPr>
                </a:tc>
                <a:tc>
                  <a:txBody>
                    <a:bodyPr/>
                    <a:lstStyle/>
                    <a:p>
                      <a:pPr algn="l"/>
                      <a:r>
                        <a:rPr lang="en-CA" sz="1200" b="0">
                          <a:solidFill>
                            <a:srgbClr val="262626"/>
                          </a:solidFill>
                          <a:latin typeface="Calibri" panose="020F0502020204030204" pitchFamily="34" charset="0"/>
                        </a:rPr>
                        <a:t>Canada Central</a:t>
                      </a:r>
                    </a:p>
                  </a:txBody>
                  <a:tcPr marL="76200" marR="76200" marT="38100" marB="38100" anchor="ctr">
                    <a:lnL w="9525" cmpd="sng">
                      <a:solidFill>
                        <a:srgbClr val="ED7D31"/>
                      </a:solidFill>
                    </a:lnL>
                    <a:lnR w="9525" cmpd="sng">
                      <a:solidFill>
                        <a:srgbClr val="ED7D31"/>
                      </a:solidFill>
                    </a:lnR>
                    <a:lnT w="9525" cmpd="sng">
                      <a:solidFill>
                        <a:srgbClr val="ED7D31"/>
                      </a:solidFill>
                    </a:lnT>
                    <a:lnB w="9525" cmpd="sng">
                      <a:solidFill>
                        <a:srgbClr val="ED7D31"/>
                      </a:solidFill>
                    </a:lnB>
                    <a:solidFill>
                      <a:srgbClr val="FFFFFF"/>
                    </a:solidFill>
                  </a:tcPr>
                </a:tc>
                <a:tc>
                  <a:txBody>
                    <a:bodyPr/>
                    <a:lstStyle/>
                    <a:p>
                      <a:pPr algn="l"/>
                      <a:r>
                        <a:rPr lang="en-CA" sz="1200" b="0">
                          <a:solidFill>
                            <a:srgbClr val="262626"/>
                          </a:solidFill>
                          <a:latin typeface="Calibri" panose="020F0502020204030204" pitchFamily="34" charset="0"/>
                        </a:rPr>
                        <a:t>Canada Central</a:t>
                      </a:r>
                    </a:p>
                  </a:txBody>
                  <a:tcPr marL="76200" marR="76200" marT="38100" marB="38100" anchor="ctr">
                    <a:lnL w="9525" cmpd="sng">
                      <a:solidFill>
                        <a:srgbClr val="ED7D31"/>
                      </a:solidFill>
                    </a:lnL>
                    <a:lnR w="9525" cmpd="sng">
                      <a:solidFill>
                        <a:srgbClr val="ED7D31"/>
                      </a:solidFill>
                    </a:lnR>
                    <a:lnT w="9525" cmpd="sng">
                      <a:solidFill>
                        <a:srgbClr val="ED7D31"/>
                      </a:solidFill>
                    </a:lnT>
                    <a:lnB w="9525" cmpd="sng">
                      <a:solidFill>
                        <a:srgbClr val="ED7D31"/>
                      </a:solidFill>
                    </a:lnB>
                    <a:solidFill>
                      <a:srgbClr val="FFFFFF"/>
                    </a:solidFill>
                  </a:tcPr>
                </a:tc>
                <a:tc>
                  <a:txBody>
                    <a:bodyPr/>
                    <a:lstStyle/>
                    <a:p>
                      <a:pPr algn="l"/>
                      <a:r>
                        <a:rPr lang="en-CA" sz="1200" b="0">
                          <a:solidFill>
                            <a:srgbClr val="262626"/>
                          </a:solidFill>
                          <a:latin typeface="Calibri" panose="020F0502020204030204" pitchFamily="34" charset="0"/>
                        </a:rPr>
                        <a:t>Canada Central</a:t>
                      </a:r>
                    </a:p>
                  </a:txBody>
                  <a:tcPr marL="76200" marR="76200" marT="38100" marB="38100" anchor="ctr">
                    <a:lnL w="9525" cmpd="sng">
                      <a:solidFill>
                        <a:srgbClr val="ED7D31"/>
                      </a:solidFill>
                    </a:lnL>
                    <a:lnR w="9525" cmpd="sng">
                      <a:solidFill>
                        <a:srgbClr val="ED7D31"/>
                      </a:solidFill>
                    </a:lnR>
                    <a:lnT w="9525" cmpd="sng">
                      <a:solidFill>
                        <a:srgbClr val="ED7D31"/>
                      </a:solidFill>
                    </a:lnT>
                    <a:lnB w="9525" cmpd="sng">
                      <a:solidFill>
                        <a:srgbClr val="ED7D31"/>
                      </a:solidFill>
                    </a:lnB>
                    <a:solidFill>
                      <a:srgbClr val="FFFFFF"/>
                    </a:solidFill>
                  </a:tcPr>
                </a:tc>
                <a:extLst>
                  <a:ext uri="{0D108BD9-81ED-4DB2-BD59-A6C34878D82A}">
                    <a16:rowId xmlns:a16="http://schemas.microsoft.com/office/drawing/2014/main" val="2546429421"/>
                  </a:ext>
                </a:extLst>
              </a:tr>
              <a:tr h="342900">
                <a:tc>
                  <a:txBody>
                    <a:bodyPr/>
                    <a:lstStyle/>
                    <a:p>
                      <a:pPr algn="l"/>
                      <a:r>
                        <a:rPr lang="en-CA" sz="1200" b="1">
                          <a:solidFill>
                            <a:srgbClr val="262626"/>
                          </a:solidFill>
                          <a:latin typeface="Calibri" panose="020F0502020204030204" pitchFamily="34" charset="0"/>
                        </a:rPr>
                        <a:t>VNet</a:t>
                      </a:r>
                    </a:p>
                  </a:txBody>
                  <a:tcPr marL="76200" marR="76200" marT="38100" marB="38100" anchor="ctr">
                    <a:lnL w="9525" cmpd="sng">
                      <a:solidFill>
                        <a:srgbClr val="ED7D31"/>
                      </a:solidFill>
                    </a:lnL>
                    <a:lnR w="9525" cmpd="sng">
                      <a:solidFill>
                        <a:srgbClr val="ED7D31"/>
                      </a:solidFill>
                    </a:lnR>
                    <a:lnT w="9525" cmpd="sng">
                      <a:solidFill>
                        <a:srgbClr val="ED7D31"/>
                      </a:solidFill>
                    </a:lnT>
                    <a:lnB w="9525" cmpd="sng">
                      <a:solidFill>
                        <a:srgbClr val="ED7D31"/>
                      </a:solidFill>
                    </a:lnB>
                    <a:solidFill>
                      <a:srgbClr val="FCECE8"/>
                    </a:solidFill>
                  </a:tcPr>
                </a:tc>
                <a:tc>
                  <a:txBody>
                    <a:bodyPr/>
                    <a:lstStyle/>
                    <a:p>
                      <a:pPr algn="l"/>
                      <a:r>
                        <a:rPr lang="en-CA" sz="1200" b="0">
                          <a:solidFill>
                            <a:srgbClr val="262626"/>
                          </a:solidFill>
                          <a:latin typeface="Consolas" panose="020B0609020204030204" pitchFamily="49" charset="0"/>
                        </a:rPr>
                        <a:t>10.40.144.0/20</a:t>
                      </a:r>
                    </a:p>
                  </a:txBody>
                  <a:tcPr marL="76200" marR="76200" marT="38100" marB="38100" anchor="ctr">
                    <a:lnL w="9525" cmpd="sng">
                      <a:solidFill>
                        <a:srgbClr val="ED7D31"/>
                      </a:solidFill>
                    </a:lnL>
                    <a:lnR w="9525" cmpd="sng">
                      <a:solidFill>
                        <a:srgbClr val="ED7D31"/>
                      </a:solidFill>
                    </a:lnR>
                    <a:lnT w="9525" cmpd="sng">
                      <a:solidFill>
                        <a:srgbClr val="ED7D31"/>
                      </a:solidFill>
                    </a:lnT>
                    <a:lnB w="9525" cmpd="sng">
                      <a:solidFill>
                        <a:srgbClr val="ED7D31"/>
                      </a:solidFill>
                    </a:lnB>
                    <a:solidFill>
                      <a:srgbClr val="FCECE8"/>
                    </a:solidFill>
                  </a:tcPr>
                </a:tc>
                <a:tc>
                  <a:txBody>
                    <a:bodyPr/>
                    <a:lstStyle/>
                    <a:p>
                      <a:pPr algn="l"/>
                      <a:r>
                        <a:rPr lang="en-CA" sz="1200" b="0">
                          <a:solidFill>
                            <a:srgbClr val="262626"/>
                          </a:solidFill>
                          <a:latin typeface="Consolas" panose="020B0609020204030204" pitchFamily="49" charset="0"/>
                        </a:rPr>
                        <a:t>10.40.192.0/20</a:t>
                      </a:r>
                    </a:p>
                  </a:txBody>
                  <a:tcPr marL="76200" marR="76200" marT="38100" marB="38100" anchor="ctr">
                    <a:lnL w="9525" cmpd="sng">
                      <a:solidFill>
                        <a:srgbClr val="ED7D31"/>
                      </a:solidFill>
                    </a:lnL>
                    <a:lnR w="9525" cmpd="sng">
                      <a:solidFill>
                        <a:srgbClr val="ED7D31"/>
                      </a:solidFill>
                    </a:lnR>
                    <a:lnT w="9525" cmpd="sng">
                      <a:solidFill>
                        <a:srgbClr val="ED7D31"/>
                      </a:solidFill>
                    </a:lnT>
                    <a:lnB w="9525" cmpd="sng">
                      <a:solidFill>
                        <a:srgbClr val="ED7D31"/>
                      </a:solidFill>
                    </a:lnB>
                    <a:solidFill>
                      <a:srgbClr val="FCECE8"/>
                    </a:solidFill>
                  </a:tcPr>
                </a:tc>
                <a:tc>
                  <a:txBody>
                    <a:bodyPr/>
                    <a:lstStyle/>
                    <a:p>
                      <a:pPr algn="l"/>
                      <a:r>
                        <a:rPr lang="en-CA" sz="1200" b="0">
                          <a:solidFill>
                            <a:srgbClr val="262626"/>
                          </a:solidFill>
                          <a:latin typeface="Consolas" panose="020B0609020204030204" pitchFamily="49" charset="0"/>
                        </a:rPr>
                        <a:t>10.40.176.0/20</a:t>
                      </a:r>
                    </a:p>
                  </a:txBody>
                  <a:tcPr marL="76200" marR="76200" marT="38100" marB="38100" anchor="ctr">
                    <a:lnL w="9525" cmpd="sng">
                      <a:solidFill>
                        <a:srgbClr val="ED7D31"/>
                      </a:solidFill>
                    </a:lnL>
                    <a:lnR w="9525" cmpd="sng">
                      <a:solidFill>
                        <a:srgbClr val="ED7D31"/>
                      </a:solidFill>
                    </a:lnR>
                    <a:lnT w="9525" cmpd="sng">
                      <a:solidFill>
                        <a:srgbClr val="ED7D31"/>
                      </a:solidFill>
                    </a:lnT>
                    <a:lnB w="9525" cmpd="sng">
                      <a:solidFill>
                        <a:srgbClr val="ED7D31"/>
                      </a:solidFill>
                    </a:lnB>
                    <a:solidFill>
                      <a:srgbClr val="FCECE8"/>
                    </a:solidFill>
                  </a:tcPr>
                </a:tc>
                <a:extLst>
                  <a:ext uri="{0D108BD9-81ED-4DB2-BD59-A6C34878D82A}">
                    <a16:rowId xmlns:a16="http://schemas.microsoft.com/office/drawing/2014/main" val="815660302"/>
                  </a:ext>
                </a:extLst>
              </a:tr>
              <a:tr h="342900">
                <a:tc>
                  <a:txBody>
                    <a:bodyPr/>
                    <a:lstStyle/>
                    <a:p>
                      <a:pPr algn="l"/>
                      <a:r>
                        <a:rPr lang="en-CA" sz="1200" b="1">
                          <a:solidFill>
                            <a:srgbClr val="262626"/>
                          </a:solidFill>
                          <a:latin typeface="Calibri" panose="020F0502020204030204" pitchFamily="34" charset="0"/>
                        </a:rPr>
                        <a:t>Databricks host subnet</a:t>
                      </a:r>
                    </a:p>
                  </a:txBody>
                  <a:tcPr marL="76200" marR="76200" marT="38100" marB="38100" anchor="ctr">
                    <a:lnL w="9525" cmpd="sng">
                      <a:solidFill>
                        <a:srgbClr val="ED7D31"/>
                      </a:solidFill>
                    </a:lnL>
                    <a:lnR w="9525" cmpd="sng">
                      <a:solidFill>
                        <a:srgbClr val="ED7D31"/>
                      </a:solidFill>
                    </a:lnR>
                    <a:lnT w="9525" cmpd="sng">
                      <a:solidFill>
                        <a:srgbClr val="ED7D31"/>
                      </a:solidFill>
                    </a:lnT>
                    <a:lnB w="9525" cmpd="sng">
                      <a:solidFill>
                        <a:srgbClr val="ED7D31"/>
                      </a:solidFill>
                    </a:lnB>
                    <a:solidFill>
                      <a:srgbClr val="FFFFFF"/>
                    </a:solidFill>
                  </a:tcPr>
                </a:tc>
                <a:tc>
                  <a:txBody>
                    <a:bodyPr/>
                    <a:lstStyle/>
                    <a:p>
                      <a:pPr algn="l"/>
                      <a:r>
                        <a:rPr lang="en-CA" sz="1200" b="0">
                          <a:solidFill>
                            <a:srgbClr val="262626"/>
                          </a:solidFill>
                          <a:latin typeface="Consolas" panose="020B0609020204030204" pitchFamily="49" charset="0"/>
                        </a:rPr>
                        <a:t>10.40.144.0/24</a:t>
                      </a:r>
                    </a:p>
                  </a:txBody>
                  <a:tcPr marL="76200" marR="76200" marT="38100" marB="38100" anchor="ctr">
                    <a:lnL w="9525" cmpd="sng">
                      <a:solidFill>
                        <a:srgbClr val="ED7D31"/>
                      </a:solidFill>
                    </a:lnL>
                    <a:lnR w="9525" cmpd="sng">
                      <a:solidFill>
                        <a:srgbClr val="ED7D31"/>
                      </a:solidFill>
                    </a:lnR>
                    <a:lnT w="9525" cmpd="sng">
                      <a:solidFill>
                        <a:srgbClr val="ED7D31"/>
                      </a:solidFill>
                    </a:lnT>
                    <a:lnB w="9525" cmpd="sng">
                      <a:solidFill>
                        <a:srgbClr val="ED7D31"/>
                      </a:solidFill>
                    </a:lnB>
                    <a:solidFill>
                      <a:srgbClr val="FFFFFF"/>
                    </a:solidFill>
                  </a:tcPr>
                </a:tc>
                <a:tc>
                  <a:txBody>
                    <a:bodyPr/>
                    <a:lstStyle/>
                    <a:p>
                      <a:pPr algn="l"/>
                      <a:r>
                        <a:rPr lang="en-CA" sz="1200" b="0">
                          <a:solidFill>
                            <a:srgbClr val="262626"/>
                          </a:solidFill>
                          <a:latin typeface="Consolas" panose="020B0609020204030204" pitchFamily="49" charset="0"/>
                        </a:rPr>
                        <a:t>10.40.192.0/24</a:t>
                      </a:r>
                    </a:p>
                  </a:txBody>
                  <a:tcPr marL="76200" marR="76200" marT="38100" marB="38100" anchor="ctr">
                    <a:lnL w="9525" cmpd="sng">
                      <a:solidFill>
                        <a:srgbClr val="ED7D31"/>
                      </a:solidFill>
                    </a:lnL>
                    <a:lnR w="9525" cmpd="sng">
                      <a:solidFill>
                        <a:srgbClr val="ED7D31"/>
                      </a:solidFill>
                    </a:lnR>
                    <a:lnT w="9525" cmpd="sng">
                      <a:solidFill>
                        <a:srgbClr val="ED7D31"/>
                      </a:solidFill>
                    </a:lnT>
                    <a:lnB w="9525" cmpd="sng">
                      <a:solidFill>
                        <a:srgbClr val="ED7D31"/>
                      </a:solidFill>
                    </a:lnB>
                    <a:solidFill>
                      <a:srgbClr val="FFFFFF"/>
                    </a:solidFill>
                  </a:tcPr>
                </a:tc>
                <a:tc>
                  <a:txBody>
                    <a:bodyPr/>
                    <a:lstStyle/>
                    <a:p>
                      <a:pPr algn="l"/>
                      <a:r>
                        <a:rPr lang="en-CA" sz="1200" b="0">
                          <a:solidFill>
                            <a:srgbClr val="262626"/>
                          </a:solidFill>
                          <a:latin typeface="Consolas" panose="020B0609020204030204" pitchFamily="49" charset="0"/>
                        </a:rPr>
                        <a:t>10.40.176.0/24</a:t>
                      </a:r>
                    </a:p>
                  </a:txBody>
                  <a:tcPr marL="76200" marR="76200" marT="38100" marB="38100" anchor="ctr">
                    <a:lnL w="9525" cmpd="sng">
                      <a:solidFill>
                        <a:srgbClr val="ED7D31"/>
                      </a:solidFill>
                    </a:lnL>
                    <a:lnR w="9525" cmpd="sng">
                      <a:solidFill>
                        <a:srgbClr val="ED7D31"/>
                      </a:solidFill>
                    </a:lnR>
                    <a:lnT w="9525" cmpd="sng">
                      <a:solidFill>
                        <a:srgbClr val="ED7D31"/>
                      </a:solidFill>
                    </a:lnT>
                    <a:lnB w="9525" cmpd="sng">
                      <a:solidFill>
                        <a:srgbClr val="ED7D31"/>
                      </a:solidFill>
                    </a:lnB>
                    <a:solidFill>
                      <a:srgbClr val="FFFFFF"/>
                    </a:solidFill>
                  </a:tcPr>
                </a:tc>
                <a:extLst>
                  <a:ext uri="{0D108BD9-81ED-4DB2-BD59-A6C34878D82A}">
                    <a16:rowId xmlns:a16="http://schemas.microsoft.com/office/drawing/2014/main" val="2874609198"/>
                  </a:ext>
                </a:extLst>
              </a:tr>
              <a:tr h="342900">
                <a:tc>
                  <a:txBody>
                    <a:bodyPr/>
                    <a:lstStyle/>
                    <a:p>
                      <a:pPr algn="l"/>
                      <a:r>
                        <a:rPr lang="en-CA" sz="1200" b="1">
                          <a:solidFill>
                            <a:srgbClr val="262626"/>
                          </a:solidFill>
                          <a:latin typeface="Calibri" panose="020F0502020204030204" pitchFamily="34" charset="0"/>
                        </a:rPr>
                        <a:t>Databricks container</a:t>
                      </a:r>
                    </a:p>
                  </a:txBody>
                  <a:tcPr marL="76200" marR="76200" marT="38100" marB="38100" anchor="ctr">
                    <a:lnL w="9525" cmpd="sng">
                      <a:solidFill>
                        <a:srgbClr val="ED7D31"/>
                      </a:solidFill>
                    </a:lnL>
                    <a:lnR w="9525" cmpd="sng">
                      <a:solidFill>
                        <a:srgbClr val="ED7D31"/>
                      </a:solidFill>
                    </a:lnR>
                    <a:lnT w="9525" cmpd="sng">
                      <a:solidFill>
                        <a:srgbClr val="ED7D31"/>
                      </a:solidFill>
                    </a:lnT>
                    <a:lnB w="9525" cmpd="sng">
                      <a:solidFill>
                        <a:srgbClr val="ED7D31"/>
                      </a:solidFill>
                    </a:lnB>
                    <a:solidFill>
                      <a:srgbClr val="FCECE8"/>
                    </a:solidFill>
                  </a:tcPr>
                </a:tc>
                <a:tc>
                  <a:txBody>
                    <a:bodyPr/>
                    <a:lstStyle/>
                    <a:p>
                      <a:pPr algn="l"/>
                      <a:r>
                        <a:rPr lang="en-CA" sz="1200" b="0">
                          <a:solidFill>
                            <a:srgbClr val="262626"/>
                          </a:solidFill>
                          <a:latin typeface="Consolas" panose="020B0609020204030204" pitchFamily="49" charset="0"/>
                        </a:rPr>
                        <a:t>10.40.145.0/24</a:t>
                      </a:r>
                    </a:p>
                  </a:txBody>
                  <a:tcPr marL="76200" marR="76200" marT="38100" marB="38100" anchor="ctr">
                    <a:lnL w="9525" cmpd="sng">
                      <a:solidFill>
                        <a:srgbClr val="ED7D31"/>
                      </a:solidFill>
                    </a:lnL>
                    <a:lnR w="9525" cmpd="sng">
                      <a:solidFill>
                        <a:srgbClr val="ED7D31"/>
                      </a:solidFill>
                    </a:lnR>
                    <a:lnT w="9525" cmpd="sng">
                      <a:solidFill>
                        <a:srgbClr val="ED7D31"/>
                      </a:solidFill>
                    </a:lnT>
                    <a:lnB w="9525" cmpd="sng">
                      <a:solidFill>
                        <a:srgbClr val="ED7D31"/>
                      </a:solidFill>
                    </a:lnB>
                    <a:solidFill>
                      <a:srgbClr val="FCECE8"/>
                    </a:solidFill>
                  </a:tcPr>
                </a:tc>
                <a:tc>
                  <a:txBody>
                    <a:bodyPr/>
                    <a:lstStyle/>
                    <a:p>
                      <a:pPr algn="l"/>
                      <a:r>
                        <a:rPr lang="en-CA" sz="1200" b="0">
                          <a:solidFill>
                            <a:srgbClr val="262626"/>
                          </a:solidFill>
                          <a:latin typeface="Consolas" panose="020B0609020204030204" pitchFamily="49" charset="0"/>
                        </a:rPr>
                        <a:t>10.40.193.0/24</a:t>
                      </a:r>
                    </a:p>
                  </a:txBody>
                  <a:tcPr marL="76200" marR="76200" marT="38100" marB="38100" anchor="ctr">
                    <a:lnL w="9525" cmpd="sng">
                      <a:solidFill>
                        <a:srgbClr val="ED7D31"/>
                      </a:solidFill>
                    </a:lnL>
                    <a:lnR w="9525" cmpd="sng">
                      <a:solidFill>
                        <a:srgbClr val="ED7D31"/>
                      </a:solidFill>
                    </a:lnR>
                    <a:lnT w="9525" cmpd="sng">
                      <a:solidFill>
                        <a:srgbClr val="ED7D31"/>
                      </a:solidFill>
                    </a:lnT>
                    <a:lnB w="9525" cmpd="sng">
                      <a:solidFill>
                        <a:srgbClr val="ED7D31"/>
                      </a:solidFill>
                    </a:lnB>
                    <a:solidFill>
                      <a:srgbClr val="FCECE8"/>
                    </a:solidFill>
                  </a:tcPr>
                </a:tc>
                <a:tc>
                  <a:txBody>
                    <a:bodyPr/>
                    <a:lstStyle/>
                    <a:p>
                      <a:pPr algn="l"/>
                      <a:r>
                        <a:rPr lang="en-CA" sz="1200" b="0">
                          <a:solidFill>
                            <a:srgbClr val="262626"/>
                          </a:solidFill>
                          <a:latin typeface="Consolas" panose="020B0609020204030204" pitchFamily="49" charset="0"/>
                        </a:rPr>
                        <a:t>10.40.177.0/24</a:t>
                      </a:r>
                    </a:p>
                  </a:txBody>
                  <a:tcPr marL="76200" marR="76200" marT="38100" marB="38100" anchor="ctr">
                    <a:lnL w="9525" cmpd="sng">
                      <a:solidFill>
                        <a:srgbClr val="ED7D31"/>
                      </a:solidFill>
                    </a:lnL>
                    <a:lnR w="9525" cmpd="sng">
                      <a:solidFill>
                        <a:srgbClr val="ED7D31"/>
                      </a:solidFill>
                    </a:lnR>
                    <a:lnT w="9525" cmpd="sng">
                      <a:solidFill>
                        <a:srgbClr val="ED7D31"/>
                      </a:solidFill>
                    </a:lnT>
                    <a:lnB w="9525" cmpd="sng">
                      <a:solidFill>
                        <a:srgbClr val="ED7D31"/>
                      </a:solidFill>
                    </a:lnB>
                    <a:solidFill>
                      <a:srgbClr val="FCECE8"/>
                    </a:solidFill>
                  </a:tcPr>
                </a:tc>
                <a:extLst>
                  <a:ext uri="{0D108BD9-81ED-4DB2-BD59-A6C34878D82A}">
                    <a16:rowId xmlns:a16="http://schemas.microsoft.com/office/drawing/2014/main" val="2062354541"/>
                  </a:ext>
                </a:extLst>
              </a:tr>
              <a:tr h="342900">
                <a:tc>
                  <a:txBody>
                    <a:bodyPr/>
                    <a:lstStyle/>
                    <a:p>
                      <a:pPr algn="l"/>
                      <a:r>
                        <a:rPr lang="en-CA" sz="1200" b="1">
                          <a:solidFill>
                            <a:srgbClr val="262626"/>
                          </a:solidFill>
                          <a:latin typeface="Calibri" panose="020F0502020204030204" pitchFamily="34" charset="0"/>
                        </a:rPr>
                        <a:t>Private endpoint subnet</a:t>
                      </a:r>
                    </a:p>
                  </a:txBody>
                  <a:tcPr marL="76200" marR="76200" marT="38100" marB="38100" anchor="ctr">
                    <a:lnL w="9525" cmpd="sng">
                      <a:solidFill>
                        <a:srgbClr val="ED7D31"/>
                      </a:solidFill>
                    </a:lnL>
                    <a:lnR w="9525" cmpd="sng">
                      <a:solidFill>
                        <a:srgbClr val="ED7D31"/>
                      </a:solidFill>
                    </a:lnR>
                    <a:lnT w="9525" cmpd="sng">
                      <a:solidFill>
                        <a:srgbClr val="ED7D31"/>
                      </a:solidFill>
                    </a:lnT>
                    <a:lnB w="9525" cmpd="sng">
                      <a:solidFill>
                        <a:srgbClr val="ED7D31"/>
                      </a:solidFill>
                    </a:lnB>
                    <a:solidFill>
                      <a:srgbClr val="FFFFFF"/>
                    </a:solidFill>
                  </a:tcPr>
                </a:tc>
                <a:tc>
                  <a:txBody>
                    <a:bodyPr/>
                    <a:lstStyle/>
                    <a:p>
                      <a:pPr algn="l"/>
                      <a:r>
                        <a:rPr lang="en-CA" sz="1200" b="0">
                          <a:solidFill>
                            <a:srgbClr val="262626"/>
                          </a:solidFill>
                          <a:latin typeface="Consolas" panose="020B0609020204030204" pitchFamily="49" charset="0"/>
                        </a:rPr>
                        <a:t>10.40.146.0/26</a:t>
                      </a:r>
                    </a:p>
                  </a:txBody>
                  <a:tcPr marL="76200" marR="76200" marT="38100" marB="38100" anchor="ctr">
                    <a:lnL w="9525" cmpd="sng">
                      <a:solidFill>
                        <a:srgbClr val="ED7D31"/>
                      </a:solidFill>
                    </a:lnL>
                    <a:lnR w="9525" cmpd="sng">
                      <a:solidFill>
                        <a:srgbClr val="ED7D31"/>
                      </a:solidFill>
                    </a:lnR>
                    <a:lnT w="9525" cmpd="sng">
                      <a:solidFill>
                        <a:srgbClr val="ED7D31"/>
                      </a:solidFill>
                    </a:lnT>
                    <a:lnB w="9525" cmpd="sng">
                      <a:solidFill>
                        <a:srgbClr val="ED7D31"/>
                      </a:solidFill>
                    </a:lnB>
                    <a:solidFill>
                      <a:srgbClr val="FFFFFF"/>
                    </a:solidFill>
                  </a:tcPr>
                </a:tc>
                <a:tc>
                  <a:txBody>
                    <a:bodyPr/>
                    <a:lstStyle/>
                    <a:p>
                      <a:pPr algn="l"/>
                      <a:r>
                        <a:rPr lang="en-CA" sz="1200" b="0">
                          <a:solidFill>
                            <a:srgbClr val="262626"/>
                          </a:solidFill>
                          <a:latin typeface="Consolas" panose="020B0609020204030204" pitchFamily="49" charset="0"/>
                        </a:rPr>
                        <a:t>10.40.194.0/26</a:t>
                      </a:r>
                    </a:p>
                  </a:txBody>
                  <a:tcPr marL="76200" marR="76200" marT="38100" marB="38100" anchor="ctr">
                    <a:lnL w="9525" cmpd="sng">
                      <a:solidFill>
                        <a:srgbClr val="ED7D31"/>
                      </a:solidFill>
                    </a:lnL>
                    <a:lnR w="9525" cmpd="sng">
                      <a:solidFill>
                        <a:srgbClr val="ED7D31"/>
                      </a:solidFill>
                    </a:lnR>
                    <a:lnT w="9525" cmpd="sng">
                      <a:solidFill>
                        <a:srgbClr val="ED7D31"/>
                      </a:solidFill>
                    </a:lnT>
                    <a:lnB w="9525" cmpd="sng">
                      <a:solidFill>
                        <a:srgbClr val="ED7D31"/>
                      </a:solidFill>
                    </a:lnB>
                    <a:solidFill>
                      <a:srgbClr val="FFFFFF"/>
                    </a:solidFill>
                  </a:tcPr>
                </a:tc>
                <a:tc>
                  <a:txBody>
                    <a:bodyPr/>
                    <a:lstStyle/>
                    <a:p>
                      <a:pPr algn="l"/>
                      <a:r>
                        <a:rPr lang="en-CA" sz="1200" b="0">
                          <a:solidFill>
                            <a:srgbClr val="262626"/>
                          </a:solidFill>
                          <a:latin typeface="Consolas" panose="020B0609020204030204" pitchFamily="49" charset="0"/>
                        </a:rPr>
                        <a:t>10.40.178.0/26</a:t>
                      </a:r>
                    </a:p>
                  </a:txBody>
                  <a:tcPr marL="76200" marR="76200" marT="38100" marB="38100" anchor="ctr">
                    <a:lnL w="9525" cmpd="sng">
                      <a:solidFill>
                        <a:srgbClr val="ED7D31"/>
                      </a:solidFill>
                    </a:lnL>
                    <a:lnR w="9525" cmpd="sng">
                      <a:solidFill>
                        <a:srgbClr val="ED7D31"/>
                      </a:solidFill>
                    </a:lnR>
                    <a:lnT w="9525" cmpd="sng">
                      <a:solidFill>
                        <a:srgbClr val="ED7D31"/>
                      </a:solidFill>
                    </a:lnT>
                    <a:lnB w="9525" cmpd="sng">
                      <a:solidFill>
                        <a:srgbClr val="ED7D31"/>
                      </a:solidFill>
                    </a:lnB>
                    <a:solidFill>
                      <a:srgbClr val="FFFFFF"/>
                    </a:solidFill>
                  </a:tcPr>
                </a:tc>
                <a:extLst>
                  <a:ext uri="{0D108BD9-81ED-4DB2-BD59-A6C34878D82A}">
                    <a16:rowId xmlns:a16="http://schemas.microsoft.com/office/drawing/2014/main" val="2574402571"/>
                  </a:ext>
                </a:extLst>
              </a:tr>
              <a:tr h="342900">
                <a:tc>
                  <a:txBody>
                    <a:bodyPr/>
                    <a:lstStyle/>
                    <a:p>
                      <a:pPr algn="l"/>
                      <a:r>
                        <a:rPr lang="en-CA" sz="1200" b="1">
                          <a:solidFill>
                            <a:srgbClr val="262626"/>
                          </a:solidFill>
                          <a:latin typeface="Calibri" panose="020F0502020204030204" pitchFamily="34" charset="0"/>
                        </a:rPr>
                        <a:t>Proxy subnet</a:t>
                      </a:r>
                    </a:p>
                  </a:txBody>
                  <a:tcPr marL="76200" marR="76200" marT="38100" marB="38100" anchor="ctr">
                    <a:lnL w="9525" cmpd="sng">
                      <a:solidFill>
                        <a:srgbClr val="ED7D31"/>
                      </a:solidFill>
                    </a:lnL>
                    <a:lnR w="9525" cmpd="sng">
                      <a:solidFill>
                        <a:srgbClr val="ED7D31"/>
                      </a:solidFill>
                    </a:lnR>
                    <a:lnT w="9525" cmpd="sng">
                      <a:solidFill>
                        <a:srgbClr val="ED7D31"/>
                      </a:solidFill>
                    </a:lnT>
                    <a:lnB w="9525" cmpd="sng">
                      <a:solidFill>
                        <a:srgbClr val="ED7D31"/>
                      </a:solidFill>
                    </a:lnB>
                    <a:solidFill>
                      <a:srgbClr val="FCECE8"/>
                    </a:solidFill>
                  </a:tcPr>
                </a:tc>
                <a:tc>
                  <a:txBody>
                    <a:bodyPr/>
                    <a:lstStyle/>
                    <a:p>
                      <a:pPr algn="l"/>
                      <a:r>
                        <a:rPr lang="en-CA" sz="1200" b="0">
                          <a:solidFill>
                            <a:srgbClr val="262626"/>
                          </a:solidFill>
                          <a:latin typeface="Consolas" panose="020B0609020204030204" pitchFamily="49" charset="0"/>
                        </a:rPr>
                        <a:t>10.40.147.0/26</a:t>
                      </a:r>
                    </a:p>
                  </a:txBody>
                  <a:tcPr marL="76200" marR="76200" marT="38100" marB="38100" anchor="ctr">
                    <a:lnL w="9525" cmpd="sng">
                      <a:solidFill>
                        <a:srgbClr val="ED7D31"/>
                      </a:solidFill>
                    </a:lnL>
                    <a:lnR w="9525" cmpd="sng">
                      <a:solidFill>
                        <a:srgbClr val="ED7D31"/>
                      </a:solidFill>
                    </a:lnR>
                    <a:lnT w="9525" cmpd="sng">
                      <a:solidFill>
                        <a:srgbClr val="ED7D31"/>
                      </a:solidFill>
                    </a:lnT>
                    <a:lnB w="9525" cmpd="sng">
                      <a:solidFill>
                        <a:srgbClr val="ED7D31"/>
                      </a:solidFill>
                    </a:lnB>
                    <a:solidFill>
                      <a:srgbClr val="FCECE8"/>
                    </a:solidFill>
                  </a:tcPr>
                </a:tc>
                <a:tc>
                  <a:txBody>
                    <a:bodyPr/>
                    <a:lstStyle/>
                    <a:p>
                      <a:pPr algn="l"/>
                      <a:r>
                        <a:rPr lang="en-CA" sz="1200" b="0">
                          <a:solidFill>
                            <a:srgbClr val="262626"/>
                          </a:solidFill>
                          <a:latin typeface="Consolas" panose="020B0609020204030204" pitchFamily="49" charset="0"/>
                        </a:rPr>
                        <a:t>10.40.195.0/26</a:t>
                      </a:r>
                    </a:p>
                  </a:txBody>
                  <a:tcPr marL="76200" marR="76200" marT="38100" marB="38100" anchor="ctr">
                    <a:lnL w="9525" cmpd="sng">
                      <a:solidFill>
                        <a:srgbClr val="ED7D31"/>
                      </a:solidFill>
                    </a:lnL>
                    <a:lnR w="9525" cmpd="sng">
                      <a:solidFill>
                        <a:srgbClr val="ED7D31"/>
                      </a:solidFill>
                    </a:lnR>
                    <a:lnT w="9525" cmpd="sng">
                      <a:solidFill>
                        <a:srgbClr val="ED7D31"/>
                      </a:solidFill>
                    </a:lnT>
                    <a:lnB w="9525" cmpd="sng">
                      <a:solidFill>
                        <a:srgbClr val="ED7D31"/>
                      </a:solidFill>
                    </a:lnB>
                    <a:solidFill>
                      <a:srgbClr val="FCECE8"/>
                    </a:solidFill>
                  </a:tcPr>
                </a:tc>
                <a:tc>
                  <a:txBody>
                    <a:bodyPr/>
                    <a:lstStyle/>
                    <a:p>
                      <a:pPr algn="l"/>
                      <a:r>
                        <a:rPr lang="en-CA" sz="1200" b="0">
                          <a:solidFill>
                            <a:srgbClr val="262626"/>
                          </a:solidFill>
                          <a:latin typeface="Consolas" panose="020B0609020204030204" pitchFamily="49" charset="0"/>
                        </a:rPr>
                        <a:t>10.40.179.0/26</a:t>
                      </a:r>
                    </a:p>
                  </a:txBody>
                  <a:tcPr marL="76200" marR="76200" marT="38100" marB="38100" anchor="ctr">
                    <a:lnL w="9525" cmpd="sng">
                      <a:solidFill>
                        <a:srgbClr val="ED7D31"/>
                      </a:solidFill>
                    </a:lnL>
                    <a:lnR w="9525" cmpd="sng">
                      <a:solidFill>
                        <a:srgbClr val="ED7D31"/>
                      </a:solidFill>
                    </a:lnR>
                    <a:lnT w="9525" cmpd="sng">
                      <a:solidFill>
                        <a:srgbClr val="ED7D31"/>
                      </a:solidFill>
                    </a:lnT>
                    <a:lnB w="9525" cmpd="sng">
                      <a:solidFill>
                        <a:srgbClr val="ED7D31"/>
                      </a:solidFill>
                    </a:lnB>
                    <a:solidFill>
                      <a:srgbClr val="FCECE8"/>
                    </a:solidFill>
                  </a:tcPr>
                </a:tc>
                <a:extLst>
                  <a:ext uri="{0D108BD9-81ED-4DB2-BD59-A6C34878D82A}">
                    <a16:rowId xmlns:a16="http://schemas.microsoft.com/office/drawing/2014/main" val="2549732461"/>
                  </a:ext>
                </a:extLst>
              </a:tr>
            </a:tbl>
          </a:graphicData>
        </a:graphic>
      </p:graphicFrame>
      <p:sp>
        <p:nvSpPr>
          <p:cNvPr id="5" name="TextBox 4">
            <a:extLst>
              <a:ext uri="{FF2B5EF4-FFF2-40B4-BE49-F238E27FC236}">
                <a16:creationId xmlns:a16="http://schemas.microsoft.com/office/drawing/2014/main" id="{A9A959CD-E9BC-DE9E-DB0A-39F12781BE48}"/>
              </a:ext>
            </a:extLst>
          </p:cNvPr>
          <p:cNvSpPr txBox="1"/>
          <p:nvPr/>
        </p:nvSpPr>
        <p:spPr>
          <a:xfrm>
            <a:off x="2844800" y="4318000"/>
            <a:ext cx="8902700" cy="660400"/>
          </a:xfrm>
          <a:prstGeom prst="rect">
            <a:avLst/>
          </a:prstGeom>
          <a:noFill/>
        </p:spPr>
        <p:txBody>
          <a:bodyPr vert="horz" wrap="square" lIns="0" tIns="0" rIns="0" bIns="0" rtlCol="0" anchor="t">
            <a:noAutofit/>
          </a:bodyPr>
          <a:lstStyle/>
          <a:p>
            <a:r>
              <a:rPr lang="en-US" sz="1300">
                <a:solidFill>
                  <a:srgbClr val="262626"/>
                </a:solidFill>
                <a:latin typeface="Calibri" panose="020F0502020204030204" pitchFamily="34" charset="0"/>
              </a:rPr>
              <a:t>Each VNet is a /20 that doesn’t overlap the others, so all three peer with the same hub VNet, vnet-bte-hub-cnc-02. The storage private endpoints use fixed addresses, so DNS records stay correct when an environment is rebuilt.</a:t>
            </a:r>
            <a:endParaRPr lang="en-CA" sz="1300">
              <a:solidFill>
                <a:srgbClr val="262626"/>
              </a:solidFill>
              <a:latin typeface="Calibri" panose="020F0502020204030204" pitchFamily="34" charset="0"/>
            </a:endParaRPr>
          </a:p>
        </p:txBody>
      </p:sp>
    </p:spTree>
    <p:extLst>
      <p:ext uri="{BB962C8B-B14F-4D97-AF65-F5344CB8AC3E}">
        <p14:creationId xmlns:p14="http://schemas.microsoft.com/office/powerpoint/2010/main" val="26463026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CB045-2E43-DF12-2BB4-2531E2EE5B8F}"/>
              </a:ext>
            </a:extLst>
          </p:cNvPr>
          <p:cNvSpPr>
            <a:spLocks noGrp="1"/>
          </p:cNvSpPr>
          <p:nvPr>
            <p:ph type="title"/>
          </p:nvPr>
        </p:nvSpPr>
        <p:spPr>
          <a:xfrm>
            <a:off x="552090" y="2685328"/>
            <a:ext cx="3488410" cy="498598"/>
          </a:xfrm>
        </p:spPr>
        <p:txBody>
          <a:bodyPr/>
          <a:lstStyle/>
          <a:p>
            <a:r>
              <a:rPr lang="en-CA">
                <a:solidFill>
                  <a:srgbClr val="FFFFFF"/>
                </a:solidFill>
              </a:rPr>
              <a:t>How It Works</a:t>
            </a:r>
          </a:p>
        </p:txBody>
      </p:sp>
      <p:sp>
        <p:nvSpPr>
          <p:cNvPr id="3" name="Text Placeholder 2">
            <a:extLst>
              <a:ext uri="{FF2B5EF4-FFF2-40B4-BE49-F238E27FC236}">
                <a16:creationId xmlns:a16="http://schemas.microsoft.com/office/drawing/2014/main" id="{08040852-E74C-B282-BCFB-F08004983C15}"/>
              </a:ext>
            </a:extLst>
          </p:cNvPr>
          <p:cNvSpPr>
            <a:spLocks noGrp="1"/>
          </p:cNvSpPr>
          <p:nvPr>
            <p:ph type="body" idx="1"/>
          </p:nvPr>
        </p:nvSpPr>
        <p:spPr/>
        <p:txBody>
          <a:bodyPr/>
          <a:lstStyle/>
          <a:p>
            <a:r>
              <a:rPr lang="en-US"/>
              <a:t>Traffic, security, deployment and operations</a:t>
            </a:r>
            <a:endParaRPr lang="en-CA"/>
          </a:p>
        </p:txBody>
      </p:sp>
    </p:spTree>
    <p:extLst>
      <p:ext uri="{BB962C8B-B14F-4D97-AF65-F5344CB8AC3E}">
        <p14:creationId xmlns:p14="http://schemas.microsoft.com/office/powerpoint/2010/main" val="30502584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401B7-6928-63D0-67CC-C5DA3451252D}"/>
              </a:ext>
            </a:extLst>
          </p:cNvPr>
          <p:cNvSpPr>
            <a:spLocks noGrp="1"/>
          </p:cNvSpPr>
          <p:nvPr>
            <p:ph type="title"/>
          </p:nvPr>
        </p:nvSpPr>
        <p:spPr/>
        <p:txBody>
          <a:bodyPr>
            <a:normAutofit/>
          </a:bodyPr>
          <a:lstStyle/>
          <a:p>
            <a:r>
              <a:rPr lang="en-CA" b="1">
                <a:latin typeface="Aptos Display" panose="020B0004020202020204" pitchFamily="34" charset="0"/>
              </a:rPr>
              <a:t>How Traffic Flows</a:t>
            </a:r>
          </a:p>
        </p:txBody>
      </p:sp>
      <p:sp>
        <p:nvSpPr>
          <p:cNvPr id="4" name="TextBox 3">
            <a:extLst>
              <a:ext uri="{FF2B5EF4-FFF2-40B4-BE49-F238E27FC236}">
                <a16:creationId xmlns:a16="http://schemas.microsoft.com/office/drawing/2014/main" id="{1B3A5BCC-6B39-AB87-43CE-8629E5077A2E}"/>
              </a:ext>
            </a:extLst>
          </p:cNvPr>
          <p:cNvSpPr txBox="1"/>
          <p:nvPr/>
        </p:nvSpPr>
        <p:spPr>
          <a:xfrm>
            <a:off x="2844800" y="1320800"/>
            <a:ext cx="1524000" cy="660400"/>
          </a:xfrm>
          <a:prstGeom prst="rect">
            <a:avLst/>
          </a:prstGeom>
          <a:noFill/>
        </p:spPr>
        <p:txBody>
          <a:bodyPr vert="horz" wrap="square" lIns="0" tIns="0" rIns="0" bIns="0" rtlCol="0" anchor="ctr">
            <a:noAutofit/>
          </a:bodyPr>
          <a:lstStyle/>
          <a:p>
            <a:r>
              <a:rPr lang="en-CA" sz="1200" b="1">
                <a:solidFill>
                  <a:srgbClr val="50152C"/>
                </a:solidFill>
                <a:latin typeface="Aptos Display" panose="020B0004020202020204" pitchFamily="34" charset="0"/>
              </a:rPr>
              <a:t>Classic compute</a:t>
            </a:r>
            <a:br>
              <a:rPr lang="en-CA" sz="1200" b="1">
                <a:solidFill>
                  <a:srgbClr val="50152C"/>
                </a:solidFill>
                <a:latin typeface="Aptos Display" panose="020B0004020202020204" pitchFamily="34" charset="0"/>
              </a:rPr>
            </a:br>
            <a:r>
              <a:rPr lang="en-CA" sz="1200" b="1">
                <a:solidFill>
                  <a:srgbClr val="50152C"/>
                </a:solidFill>
                <a:latin typeface="Aptos Display" panose="020B0004020202020204" pitchFamily="34" charset="0"/>
              </a:rPr>
              <a:t>to on-premises</a:t>
            </a:r>
          </a:p>
        </p:txBody>
      </p:sp>
      <p:sp>
        <p:nvSpPr>
          <p:cNvPr id="5" name="Rectangle: Rounded Corners 4">
            <a:extLst>
              <a:ext uri="{FF2B5EF4-FFF2-40B4-BE49-F238E27FC236}">
                <a16:creationId xmlns:a16="http://schemas.microsoft.com/office/drawing/2014/main" id="{AE9F0C03-D81C-39CA-9F6C-C116AEF57086}"/>
              </a:ext>
            </a:extLst>
          </p:cNvPr>
          <p:cNvSpPr/>
          <p:nvPr/>
        </p:nvSpPr>
        <p:spPr>
          <a:xfrm>
            <a:off x="4470400" y="1320800"/>
            <a:ext cx="1181100" cy="660400"/>
          </a:xfrm>
          <a:prstGeom prst="roundRect">
            <a:avLst>
              <a:gd name="adj" fmla="val 12000"/>
            </a:avLst>
          </a:prstGeom>
          <a:solidFill>
            <a:srgbClr val="FCEC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38100" tIns="0" rIns="38100" bIns="0" rtlCol="0" anchor="ctr"/>
          <a:lstStyle/>
          <a:p>
            <a:pPr algn="ctr"/>
            <a:r>
              <a:rPr lang="en-CA" sz="1100">
                <a:solidFill>
                  <a:srgbClr val="50152C"/>
                </a:solidFill>
                <a:latin typeface="Calibri" panose="020F0502020204030204" pitchFamily="34" charset="0"/>
              </a:rPr>
              <a:t>Databricks subnets</a:t>
            </a:r>
          </a:p>
        </p:txBody>
      </p:sp>
      <p:sp>
        <p:nvSpPr>
          <p:cNvPr id="6" name="Arrow: Right 5">
            <a:extLst>
              <a:ext uri="{FF2B5EF4-FFF2-40B4-BE49-F238E27FC236}">
                <a16:creationId xmlns:a16="http://schemas.microsoft.com/office/drawing/2014/main" id="{69BA941C-EFB2-3A3E-AE00-595C66C5516F}"/>
              </a:ext>
            </a:extLst>
          </p:cNvPr>
          <p:cNvSpPr/>
          <p:nvPr/>
        </p:nvSpPr>
        <p:spPr>
          <a:xfrm>
            <a:off x="5727700" y="1587500"/>
            <a:ext cx="177800" cy="127000"/>
          </a:xfrm>
          <a:prstGeom prst="rightArrow">
            <a:avLst/>
          </a:prstGeom>
          <a:solidFill>
            <a:srgbClr val="F68D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Rectangle: Rounded Corners 6">
            <a:extLst>
              <a:ext uri="{FF2B5EF4-FFF2-40B4-BE49-F238E27FC236}">
                <a16:creationId xmlns:a16="http://schemas.microsoft.com/office/drawing/2014/main" id="{8E51CDCA-F947-CBE6-67EE-85E85502AC1C}"/>
              </a:ext>
            </a:extLst>
          </p:cNvPr>
          <p:cNvSpPr/>
          <p:nvPr/>
        </p:nvSpPr>
        <p:spPr>
          <a:xfrm>
            <a:off x="5981700" y="1320800"/>
            <a:ext cx="1181100" cy="660400"/>
          </a:xfrm>
          <a:prstGeom prst="roundRect">
            <a:avLst>
              <a:gd name="adj" fmla="val 12000"/>
            </a:avLst>
          </a:prstGeom>
          <a:solidFill>
            <a:srgbClr val="F2F2F2"/>
          </a:solidFill>
          <a:ln w="9525">
            <a:solidFill>
              <a:srgbClr val="BFBFBF"/>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0" rIns="38100" bIns="0" rtlCol="0" anchor="ctr">
            <a:noAutofit/>
          </a:bodyPr>
          <a:lstStyle/>
          <a:p>
            <a:pPr algn="ctr"/>
            <a:r>
              <a:rPr lang="en-CA" sz="1100">
                <a:solidFill>
                  <a:srgbClr val="262626"/>
                </a:solidFill>
                <a:latin typeface="Calibri" panose="020F0502020204030204" pitchFamily="34" charset="0"/>
              </a:rPr>
              <a:t>Hub firewall and VPN</a:t>
            </a:r>
          </a:p>
        </p:txBody>
      </p:sp>
      <p:sp>
        <p:nvSpPr>
          <p:cNvPr id="8" name="Arrow: Right 7">
            <a:extLst>
              <a:ext uri="{FF2B5EF4-FFF2-40B4-BE49-F238E27FC236}">
                <a16:creationId xmlns:a16="http://schemas.microsoft.com/office/drawing/2014/main" id="{674C154E-C679-74B1-1E82-57357BDDA9B5}"/>
              </a:ext>
            </a:extLst>
          </p:cNvPr>
          <p:cNvSpPr/>
          <p:nvPr/>
        </p:nvSpPr>
        <p:spPr>
          <a:xfrm>
            <a:off x="7239000" y="1587500"/>
            <a:ext cx="177800" cy="127000"/>
          </a:xfrm>
          <a:prstGeom prst="rightArrow">
            <a:avLst/>
          </a:prstGeom>
          <a:solidFill>
            <a:srgbClr val="F68D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Rectangle: Rounded Corners 8">
            <a:extLst>
              <a:ext uri="{FF2B5EF4-FFF2-40B4-BE49-F238E27FC236}">
                <a16:creationId xmlns:a16="http://schemas.microsoft.com/office/drawing/2014/main" id="{53D63808-B78A-DBBA-EE94-6034853422EB}"/>
              </a:ext>
            </a:extLst>
          </p:cNvPr>
          <p:cNvSpPr/>
          <p:nvPr/>
        </p:nvSpPr>
        <p:spPr>
          <a:xfrm>
            <a:off x="7493000" y="1320800"/>
            <a:ext cx="1181100" cy="660400"/>
          </a:xfrm>
          <a:prstGeom prst="roundRect">
            <a:avLst>
              <a:gd name="adj" fmla="val 12000"/>
            </a:avLst>
          </a:prstGeom>
          <a:solidFill>
            <a:srgbClr val="50152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38100" tIns="0" rIns="38100" bIns="0" rtlCol="0" anchor="ctr"/>
          <a:lstStyle/>
          <a:p>
            <a:pPr algn="ctr"/>
            <a:r>
              <a:rPr lang="en-CA" sz="1100">
                <a:solidFill>
                  <a:srgbClr val="FFFFFF"/>
                </a:solidFill>
                <a:latin typeface="Calibri" panose="020F0502020204030204" pitchFamily="34" charset="0"/>
              </a:rPr>
              <a:t>SQL Server and Oracle</a:t>
            </a:r>
          </a:p>
        </p:txBody>
      </p:sp>
      <p:sp>
        <p:nvSpPr>
          <p:cNvPr id="10" name="TextBox 9">
            <a:extLst>
              <a:ext uri="{FF2B5EF4-FFF2-40B4-BE49-F238E27FC236}">
                <a16:creationId xmlns:a16="http://schemas.microsoft.com/office/drawing/2014/main" id="{38ADCE8B-E923-46D4-8931-E585B8A4A287}"/>
              </a:ext>
            </a:extLst>
          </p:cNvPr>
          <p:cNvSpPr txBox="1"/>
          <p:nvPr/>
        </p:nvSpPr>
        <p:spPr>
          <a:xfrm>
            <a:off x="2844800" y="2184400"/>
            <a:ext cx="1524000" cy="660400"/>
          </a:xfrm>
          <a:prstGeom prst="rect">
            <a:avLst/>
          </a:prstGeom>
          <a:noFill/>
        </p:spPr>
        <p:txBody>
          <a:bodyPr vert="horz" wrap="square" lIns="0" tIns="0" rIns="0" bIns="0" rtlCol="0" anchor="ctr">
            <a:noAutofit/>
          </a:bodyPr>
          <a:lstStyle/>
          <a:p>
            <a:r>
              <a:rPr lang="en-CA" sz="1200" b="1">
                <a:solidFill>
                  <a:srgbClr val="50152C"/>
                </a:solidFill>
                <a:latin typeface="Aptos Display" panose="020B0004020202020204" pitchFamily="34" charset="0"/>
              </a:rPr>
              <a:t>Serverless compute</a:t>
            </a:r>
            <a:br>
              <a:rPr lang="en-CA" sz="1200" b="1">
                <a:solidFill>
                  <a:srgbClr val="50152C"/>
                </a:solidFill>
                <a:latin typeface="Aptos Display" panose="020B0004020202020204" pitchFamily="34" charset="0"/>
              </a:rPr>
            </a:br>
            <a:r>
              <a:rPr lang="en-CA" sz="1200" b="1">
                <a:solidFill>
                  <a:srgbClr val="50152C"/>
                </a:solidFill>
                <a:latin typeface="Aptos Display" panose="020B0004020202020204" pitchFamily="34" charset="0"/>
              </a:rPr>
              <a:t>to on-premises</a:t>
            </a:r>
          </a:p>
        </p:txBody>
      </p:sp>
      <p:sp>
        <p:nvSpPr>
          <p:cNvPr id="11" name="Rectangle: Rounded Corners 10">
            <a:extLst>
              <a:ext uri="{FF2B5EF4-FFF2-40B4-BE49-F238E27FC236}">
                <a16:creationId xmlns:a16="http://schemas.microsoft.com/office/drawing/2014/main" id="{762296BD-6145-5169-2E47-8DC74B0426A1}"/>
              </a:ext>
            </a:extLst>
          </p:cNvPr>
          <p:cNvSpPr/>
          <p:nvPr/>
        </p:nvSpPr>
        <p:spPr>
          <a:xfrm>
            <a:off x="4470400" y="2184400"/>
            <a:ext cx="1181100" cy="660400"/>
          </a:xfrm>
          <a:prstGeom prst="roundRect">
            <a:avLst>
              <a:gd name="adj" fmla="val 12000"/>
            </a:avLst>
          </a:prstGeom>
          <a:solidFill>
            <a:srgbClr val="FCEC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38100" tIns="0" rIns="38100" bIns="0" rtlCol="0" anchor="ctr"/>
          <a:lstStyle/>
          <a:p>
            <a:pPr algn="ctr"/>
            <a:r>
              <a:rPr lang="en-CA" sz="1100">
                <a:solidFill>
                  <a:srgbClr val="50152C"/>
                </a:solidFill>
                <a:latin typeface="Calibri" panose="020F0502020204030204" pitchFamily="34" charset="0"/>
              </a:rPr>
              <a:t>NCC private endpoint</a:t>
            </a:r>
          </a:p>
        </p:txBody>
      </p:sp>
      <p:sp>
        <p:nvSpPr>
          <p:cNvPr id="12" name="Arrow: Right 11">
            <a:extLst>
              <a:ext uri="{FF2B5EF4-FFF2-40B4-BE49-F238E27FC236}">
                <a16:creationId xmlns:a16="http://schemas.microsoft.com/office/drawing/2014/main" id="{74A428D5-9E2F-CA4C-1DB1-6142CE9441EE}"/>
              </a:ext>
            </a:extLst>
          </p:cNvPr>
          <p:cNvSpPr/>
          <p:nvPr/>
        </p:nvSpPr>
        <p:spPr>
          <a:xfrm>
            <a:off x="5727700" y="2451100"/>
            <a:ext cx="177800" cy="127000"/>
          </a:xfrm>
          <a:prstGeom prst="rightArrow">
            <a:avLst/>
          </a:prstGeom>
          <a:solidFill>
            <a:srgbClr val="F68D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Rectangle: Rounded Corners 12">
            <a:extLst>
              <a:ext uri="{FF2B5EF4-FFF2-40B4-BE49-F238E27FC236}">
                <a16:creationId xmlns:a16="http://schemas.microsoft.com/office/drawing/2014/main" id="{51F0FC4A-688B-F2D8-077A-AC47301EB606}"/>
              </a:ext>
            </a:extLst>
          </p:cNvPr>
          <p:cNvSpPr/>
          <p:nvPr/>
        </p:nvSpPr>
        <p:spPr>
          <a:xfrm>
            <a:off x="5981700" y="2184400"/>
            <a:ext cx="1181100" cy="660400"/>
          </a:xfrm>
          <a:prstGeom prst="roundRect">
            <a:avLst>
              <a:gd name="adj" fmla="val 12000"/>
            </a:avLst>
          </a:prstGeom>
          <a:solidFill>
            <a:srgbClr val="FCEC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38100" tIns="0" rIns="38100" bIns="0" rtlCol="0" anchor="ctr"/>
          <a:lstStyle/>
          <a:p>
            <a:pPr algn="ctr"/>
            <a:r>
              <a:rPr lang="en-CA" sz="1100">
                <a:solidFill>
                  <a:srgbClr val="50152C"/>
                </a:solidFill>
                <a:latin typeface="Calibri" panose="020F0502020204030204" pitchFamily="34" charset="0"/>
              </a:rPr>
              <a:t>Private Link Service</a:t>
            </a:r>
          </a:p>
        </p:txBody>
      </p:sp>
      <p:sp>
        <p:nvSpPr>
          <p:cNvPr id="14" name="Arrow: Right 13">
            <a:extLst>
              <a:ext uri="{FF2B5EF4-FFF2-40B4-BE49-F238E27FC236}">
                <a16:creationId xmlns:a16="http://schemas.microsoft.com/office/drawing/2014/main" id="{E82E2FDA-D5B4-23B0-3489-455368B00B7D}"/>
              </a:ext>
            </a:extLst>
          </p:cNvPr>
          <p:cNvSpPr/>
          <p:nvPr/>
        </p:nvSpPr>
        <p:spPr>
          <a:xfrm>
            <a:off x="7239000" y="2451100"/>
            <a:ext cx="177800" cy="127000"/>
          </a:xfrm>
          <a:prstGeom prst="rightArrow">
            <a:avLst/>
          </a:prstGeom>
          <a:solidFill>
            <a:srgbClr val="F68D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Rectangle: Rounded Corners 14">
            <a:extLst>
              <a:ext uri="{FF2B5EF4-FFF2-40B4-BE49-F238E27FC236}">
                <a16:creationId xmlns:a16="http://schemas.microsoft.com/office/drawing/2014/main" id="{F72866E0-7D37-A6D1-B0F4-0A12A1D29847}"/>
              </a:ext>
            </a:extLst>
          </p:cNvPr>
          <p:cNvSpPr/>
          <p:nvPr/>
        </p:nvSpPr>
        <p:spPr>
          <a:xfrm>
            <a:off x="7493000" y="2184400"/>
            <a:ext cx="1181100" cy="660400"/>
          </a:xfrm>
          <a:prstGeom prst="roundRect">
            <a:avLst>
              <a:gd name="adj" fmla="val 12000"/>
            </a:avLst>
          </a:prstGeom>
          <a:solidFill>
            <a:srgbClr val="FCEC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38100" tIns="0" rIns="38100" bIns="0" rtlCol="0" anchor="ctr"/>
          <a:lstStyle/>
          <a:p>
            <a:pPr algn="ctr"/>
            <a:r>
              <a:rPr lang="en-CA" sz="1100">
                <a:solidFill>
                  <a:srgbClr val="50152C"/>
                </a:solidFill>
                <a:latin typeface="Calibri" panose="020F0502020204030204" pitchFamily="34" charset="0"/>
              </a:rPr>
              <a:t>Load balancer and HAProxy</a:t>
            </a:r>
          </a:p>
        </p:txBody>
      </p:sp>
      <p:sp>
        <p:nvSpPr>
          <p:cNvPr id="16" name="Arrow: Right 15">
            <a:extLst>
              <a:ext uri="{FF2B5EF4-FFF2-40B4-BE49-F238E27FC236}">
                <a16:creationId xmlns:a16="http://schemas.microsoft.com/office/drawing/2014/main" id="{40D3572D-DAD6-F946-5038-24BE2BC9B34E}"/>
              </a:ext>
            </a:extLst>
          </p:cNvPr>
          <p:cNvSpPr/>
          <p:nvPr/>
        </p:nvSpPr>
        <p:spPr>
          <a:xfrm>
            <a:off x="8750300" y="2451100"/>
            <a:ext cx="177800" cy="127000"/>
          </a:xfrm>
          <a:prstGeom prst="rightArrow">
            <a:avLst/>
          </a:prstGeom>
          <a:solidFill>
            <a:srgbClr val="F68D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 name="Rectangle: Rounded Corners 16">
            <a:extLst>
              <a:ext uri="{FF2B5EF4-FFF2-40B4-BE49-F238E27FC236}">
                <a16:creationId xmlns:a16="http://schemas.microsoft.com/office/drawing/2014/main" id="{FBB32B39-ECF2-CF8D-702C-25677819FC36}"/>
              </a:ext>
            </a:extLst>
          </p:cNvPr>
          <p:cNvSpPr/>
          <p:nvPr/>
        </p:nvSpPr>
        <p:spPr>
          <a:xfrm>
            <a:off x="9004300" y="2184400"/>
            <a:ext cx="1181100" cy="660400"/>
          </a:xfrm>
          <a:prstGeom prst="roundRect">
            <a:avLst>
              <a:gd name="adj" fmla="val 12000"/>
            </a:avLst>
          </a:prstGeom>
          <a:solidFill>
            <a:srgbClr val="F2F2F2"/>
          </a:solidFill>
          <a:ln w="9525">
            <a:solidFill>
              <a:srgbClr val="BFBFBF"/>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0" rIns="38100" bIns="0" rtlCol="0" anchor="ctr">
            <a:noAutofit/>
          </a:bodyPr>
          <a:lstStyle/>
          <a:p>
            <a:pPr algn="ctr"/>
            <a:r>
              <a:rPr lang="en-CA" sz="1100">
                <a:solidFill>
                  <a:srgbClr val="262626"/>
                </a:solidFill>
                <a:latin typeface="Calibri" panose="020F0502020204030204" pitchFamily="34" charset="0"/>
              </a:rPr>
              <a:t>Hub firewall and VPN</a:t>
            </a:r>
          </a:p>
        </p:txBody>
      </p:sp>
      <p:sp>
        <p:nvSpPr>
          <p:cNvPr id="18" name="Arrow: Right 17">
            <a:extLst>
              <a:ext uri="{FF2B5EF4-FFF2-40B4-BE49-F238E27FC236}">
                <a16:creationId xmlns:a16="http://schemas.microsoft.com/office/drawing/2014/main" id="{36E36D3A-854B-54DF-2B60-4F0219A3E703}"/>
              </a:ext>
            </a:extLst>
          </p:cNvPr>
          <p:cNvSpPr/>
          <p:nvPr/>
        </p:nvSpPr>
        <p:spPr>
          <a:xfrm>
            <a:off x="10261600" y="2451100"/>
            <a:ext cx="177800" cy="127000"/>
          </a:xfrm>
          <a:prstGeom prst="rightArrow">
            <a:avLst/>
          </a:prstGeom>
          <a:solidFill>
            <a:srgbClr val="F68D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Rectangle: Rounded Corners 18">
            <a:extLst>
              <a:ext uri="{FF2B5EF4-FFF2-40B4-BE49-F238E27FC236}">
                <a16:creationId xmlns:a16="http://schemas.microsoft.com/office/drawing/2014/main" id="{4D541AEE-04EE-FD8D-6596-7C3004C00B9A}"/>
              </a:ext>
            </a:extLst>
          </p:cNvPr>
          <p:cNvSpPr/>
          <p:nvPr/>
        </p:nvSpPr>
        <p:spPr>
          <a:xfrm>
            <a:off x="10515600" y="2184400"/>
            <a:ext cx="1181100" cy="660400"/>
          </a:xfrm>
          <a:prstGeom prst="roundRect">
            <a:avLst>
              <a:gd name="adj" fmla="val 12000"/>
            </a:avLst>
          </a:prstGeom>
          <a:solidFill>
            <a:srgbClr val="50152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38100" tIns="0" rIns="38100" bIns="0" rtlCol="0" anchor="ctr"/>
          <a:lstStyle/>
          <a:p>
            <a:pPr algn="ctr"/>
            <a:r>
              <a:rPr lang="en-CA" sz="1100">
                <a:solidFill>
                  <a:srgbClr val="FFFFFF"/>
                </a:solidFill>
                <a:latin typeface="Calibri" panose="020F0502020204030204" pitchFamily="34" charset="0"/>
              </a:rPr>
              <a:t>SQL Server and Oracle</a:t>
            </a:r>
          </a:p>
        </p:txBody>
      </p:sp>
      <p:sp>
        <p:nvSpPr>
          <p:cNvPr id="20" name="TextBox 19">
            <a:extLst>
              <a:ext uri="{FF2B5EF4-FFF2-40B4-BE49-F238E27FC236}">
                <a16:creationId xmlns:a16="http://schemas.microsoft.com/office/drawing/2014/main" id="{595BA911-7E3C-42B3-9F37-2A1484D5CFBE}"/>
              </a:ext>
            </a:extLst>
          </p:cNvPr>
          <p:cNvSpPr txBox="1"/>
          <p:nvPr/>
        </p:nvSpPr>
        <p:spPr>
          <a:xfrm>
            <a:off x="2844800" y="3048000"/>
            <a:ext cx="1524000" cy="660400"/>
          </a:xfrm>
          <a:prstGeom prst="rect">
            <a:avLst/>
          </a:prstGeom>
          <a:noFill/>
        </p:spPr>
        <p:txBody>
          <a:bodyPr vert="horz" wrap="square" lIns="0" tIns="0" rIns="0" bIns="0" rtlCol="0" anchor="ctr">
            <a:noAutofit/>
          </a:bodyPr>
          <a:lstStyle/>
          <a:p>
            <a:r>
              <a:rPr lang="en-US" sz="1200" b="1">
                <a:solidFill>
                  <a:srgbClr val="50152C"/>
                </a:solidFill>
                <a:latin typeface="Aptos Display" panose="020B0004020202020204" pitchFamily="34" charset="0"/>
              </a:rPr>
              <a:t>Classic and serverless</a:t>
            </a:r>
            <a:br>
              <a:rPr lang="en-US" sz="1200" b="1">
                <a:solidFill>
                  <a:srgbClr val="50152C"/>
                </a:solidFill>
                <a:latin typeface="Aptos Display" panose="020B0004020202020204" pitchFamily="34" charset="0"/>
              </a:rPr>
            </a:br>
            <a:r>
              <a:rPr lang="en-US" sz="1200" b="1">
                <a:solidFill>
                  <a:srgbClr val="50152C"/>
                </a:solidFill>
                <a:latin typeface="Aptos Display" panose="020B0004020202020204" pitchFamily="34" charset="0"/>
              </a:rPr>
              <a:t>to data storage</a:t>
            </a:r>
            <a:endParaRPr lang="en-CA" sz="1200" b="1">
              <a:solidFill>
                <a:srgbClr val="50152C"/>
              </a:solidFill>
              <a:latin typeface="Aptos Display" panose="020B0004020202020204" pitchFamily="34" charset="0"/>
            </a:endParaRPr>
          </a:p>
        </p:txBody>
      </p:sp>
      <p:sp>
        <p:nvSpPr>
          <p:cNvPr id="21" name="Rectangle: Rounded Corners 20">
            <a:extLst>
              <a:ext uri="{FF2B5EF4-FFF2-40B4-BE49-F238E27FC236}">
                <a16:creationId xmlns:a16="http://schemas.microsoft.com/office/drawing/2014/main" id="{B0A622A3-91F9-A043-5506-837C9022E8FC}"/>
              </a:ext>
            </a:extLst>
          </p:cNvPr>
          <p:cNvSpPr/>
          <p:nvPr/>
        </p:nvSpPr>
        <p:spPr>
          <a:xfrm>
            <a:off x="4470400" y="3048000"/>
            <a:ext cx="1181100" cy="660400"/>
          </a:xfrm>
          <a:prstGeom prst="roundRect">
            <a:avLst>
              <a:gd name="adj" fmla="val 12000"/>
            </a:avLst>
          </a:prstGeom>
          <a:solidFill>
            <a:srgbClr val="FCEC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38100" tIns="0" rIns="38100" bIns="0" rtlCol="0" anchor="ctr"/>
          <a:lstStyle/>
          <a:p>
            <a:pPr algn="ctr"/>
            <a:r>
              <a:rPr lang="en-US" sz="1100">
                <a:solidFill>
                  <a:srgbClr val="50152C"/>
                </a:solidFill>
                <a:latin typeface="Calibri" panose="020F0502020204030204" pitchFamily="34" charset="0"/>
              </a:rPr>
              <a:t>Spoke or NCC private endpoints</a:t>
            </a:r>
            <a:endParaRPr lang="en-CA" sz="1100">
              <a:solidFill>
                <a:srgbClr val="50152C"/>
              </a:solidFill>
              <a:latin typeface="Calibri" panose="020F0502020204030204" pitchFamily="34" charset="0"/>
            </a:endParaRPr>
          </a:p>
        </p:txBody>
      </p:sp>
      <p:sp>
        <p:nvSpPr>
          <p:cNvPr id="22" name="Arrow: Right 21">
            <a:extLst>
              <a:ext uri="{FF2B5EF4-FFF2-40B4-BE49-F238E27FC236}">
                <a16:creationId xmlns:a16="http://schemas.microsoft.com/office/drawing/2014/main" id="{132BACB1-ACAD-8A3E-3CBA-DC5A50227AD2}"/>
              </a:ext>
            </a:extLst>
          </p:cNvPr>
          <p:cNvSpPr/>
          <p:nvPr/>
        </p:nvSpPr>
        <p:spPr>
          <a:xfrm>
            <a:off x="5727700" y="3314700"/>
            <a:ext cx="177800" cy="127000"/>
          </a:xfrm>
          <a:prstGeom prst="rightArrow">
            <a:avLst/>
          </a:prstGeom>
          <a:solidFill>
            <a:srgbClr val="F68D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3" name="Rectangle: Rounded Corners 22">
            <a:extLst>
              <a:ext uri="{FF2B5EF4-FFF2-40B4-BE49-F238E27FC236}">
                <a16:creationId xmlns:a16="http://schemas.microsoft.com/office/drawing/2014/main" id="{004E6A4E-0642-15C2-46D0-26A3E362AFAF}"/>
              </a:ext>
            </a:extLst>
          </p:cNvPr>
          <p:cNvSpPr/>
          <p:nvPr/>
        </p:nvSpPr>
        <p:spPr>
          <a:xfrm>
            <a:off x="5981700" y="3048000"/>
            <a:ext cx="1181100" cy="660400"/>
          </a:xfrm>
          <a:prstGeom prst="roundRect">
            <a:avLst>
              <a:gd name="adj" fmla="val 12000"/>
            </a:avLst>
          </a:prstGeom>
          <a:solidFill>
            <a:srgbClr val="50152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38100" tIns="0" rIns="38100" bIns="0" rtlCol="0" anchor="ctr"/>
          <a:lstStyle/>
          <a:p>
            <a:pPr algn="ctr"/>
            <a:r>
              <a:rPr lang="en-CA" sz="1100">
                <a:solidFill>
                  <a:srgbClr val="FFFFFF"/>
                </a:solidFill>
                <a:latin typeface="Calibri" panose="020F0502020204030204" pitchFamily="34" charset="0"/>
              </a:rPr>
              <a:t>ADLS Gen2 data storage</a:t>
            </a:r>
          </a:p>
        </p:txBody>
      </p:sp>
      <p:sp>
        <p:nvSpPr>
          <p:cNvPr id="24" name="TextBox 23">
            <a:extLst>
              <a:ext uri="{FF2B5EF4-FFF2-40B4-BE49-F238E27FC236}">
                <a16:creationId xmlns:a16="http://schemas.microsoft.com/office/drawing/2014/main" id="{5C062001-CCD9-2E91-315D-95FDFCF6D333}"/>
              </a:ext>
            </a:extLst>
          </p:cNvPr>
          <p:cNvSpPr txBox="1"/>
          <p:nvPr/>
        </p:nvSpPr>
        <p:spPr>
          <a:xfrm>
            <a:off x="2844800" y="3911600"/>
            <a:ext cx="1524000" cy="660400"/>
          </a:xfrm>
          <a:prstGeom prst="rect">
            <a:avLst/>
          </a:prstGeom>
          <a:noFill/>
        </p:spPr>
        <p:txBody>
          <a:bodyPr vert="horz" wrap="square" lIns="0" tIns="0" rIns="0" bIns="0" rtlCol="0" anchor="ctr">
            <a:noAutofit/>
          </a:bodyPr>
          <a:lstStyle/>
          <a:p>
            <a:r>
              <a:rPr lang="en-CA" sz="1200" b="1">
                <a:solidFill>
                  <a:srgbClr val="50152C"/>
                </a:solidFill>
                <a:latin typeface="Aptos Display" panose="020B0004020202020204" pitchFamily="34" charset="0"/>
              </a:rPr>
              <a:t>Internet access</a:t>
            </a:r>
          </a:p>
        </p:txBody>
      </p:sp>
      <p:sp>
        <p:nvSpPr>
          <p:cNvPr id="25" name="Rectangle: Rounded Corners 24">
            <a:extLst>
              <a:ext uri="{FF2B5EF4-FFF2-40B4-BE49-F238E27FC236}">
                <a16:creationId xmlns:a16="http://schemas.microsoft.com/office/drawing/2014/main" id="{11EA6ECC-C24A-D9CA-FD35-62FA7473209D}"/>
              </a:ext>
            </a:extLst>
          </p:cNvPr>
          <p:cNvSpPr/>
          <p:nvPr/>
        </p:nvSpPr>
        <p:spPr>
          <a:xfrm>
            <a:off x="4470400" y="3911600"/>
            <a:ext cx="1181100" cy="660400"/>
          </a:xfrm>
          <a:prstGeom prst="roundRect">
            <a:avLst>
              <a:gd name="adj" fmla="val 12000"/>
            </a:avLst>
          </a:prstGeom>
          <a:solidFill>
            <a:srgbClr val="FCEC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38100" tIns="0" rIns="38100" bIns="0" rtlCol="0" anchor="ctr"/>
          <a:lstStyle/>
          <a:p>
            <a:pPr algn="ctr"/>
            <a:r>
              <a:rPr lang="en-CA" sz="1100">
                <a:solidFill>
                  <a:srgbClr val="50152C"/>
                </a:solidFill>
                <a:latin typeface="Calibri" panose="020F0502020204030204" pitchFamily="34" charset="0"/>
              </a:rPr>
              <a:t>NAT Gateway (classic)</a:t>
            </a:r>
          </a:p>
        </p:txBody>
      </p:sp>
      <p:sp>
        <p:nvSpPr>
          <p:cNvPr id="26" name="Arrow: Right 25">
            <a:extLst>
              <a:ext uri="{FF2B5EF4-FFF2-40B4-BE49-F238E27FC236}">
                <a16:creationId xmlns:a16="http://schemas.microsoft.com/office/drawing/2014/main" id="{2C08E6D5-CD7E-7F52-5430-3A07DA1410EE}"/>
              </a:ext>
            </a:extLst>
          </p:cNvPr>
          <p:cNvSpPr/>
          <p:nvPr/>
        </p:nvSpPr>
        <p:spPr>
          <a:xfrm>
            <a:off x="5727700" y="4178300"/>
            <a:ext cx="177800" cy="127000"/>
          </a:xfrm>
          <a:prstGeom prst="rightArrow">
            <a:avLst/>
          </a:prstGeom>
          <a:solidFill>
            <a:srgbClr val="F68D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7" name="Rectangle: Rounded Corners 26">
            <a:extLst>
              <a:ext uri="{FF2B5EF4-FFF2-40B4-BE49-F238E27FC236}">
                <a16:creationId xmlns:a16="http://schemas.microsoft.com/office/drawing/2014/main" id="{343BC234-0374-B6A6-1B8E-27C9B6D479EE}"/>
              </a:ext>
            </a:extLst>
          </p:cNvPr>
          <p:cNvSpPr/>
          <p:nvPr/>
        </p:nvSpPr>
        <p:spPr>
          <a:xfrm>
            <a:off x="5981700" y="3911600"/>
            <a:ext cx="1181100" cy="660400"/>
          </a:xfrm>
          <a:prstGeom prst="roundRect">
            <a:avLst>
              <a:gd name="adj" fmla="val 12000"/>
            </a:avLst>
          </a:prstGeom>
          <a:solidFill>
            <a:srgbClr val="50152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38100" tIns="0" rIns="38100" bIns="0" rtlCol="0" anchor="ctr"/>
          <a:lstStyle/>
          <a:p>
            <a:pPr algn="ctr"/>
            <a:r>
              <a:rPr lang="en-US" sz="1100">
                <a:solidFill>
                  <a:srgbClr val="FFFFFF"/>
                </a:solidFill>
                <a:latin typeface="Calibri" panose="020F0502020204030204" pitchFamily="34" charset="0"/>
              </a:rPr>
              <a:t>Internet and Databricks control plane</a:t>
            </a:r>
            <a:endParaRPr lang="en-CA" sz="1100">
              <a:solidFill>
                <a:srgbClr val="FFFFFF"/>
              </a:solidFill>
              <a:latin typeface="Calibri" panose="020F0502020204030204" pitchFamily="34" charset="0"/>
            </a:endParaRPr>
          </a:p>
        </p:txBody>
      </p:sp>
      <p:sp>
        <p:nvSpPr>
          <p:cNvPr id="28" name="Rectangle: Rounded Corners 27">
            <a:extLst>
              <a:ext uri="{FF2B5EF4-FFF2-40B4-BE49-F238E27FC236}">
                <a16:creationId xmlns:a16="http://schemas.microsoft.com/office/drawing/2014/main" id="{856FDEE7-7DC0-6D84-DAC3-7C212BF33B94}"/>
              </a:ext>
            </a:extLst>
          </p:cNvPr>
          <p:cNvSpPr/>
          <p:nvPr/>
        </p:nvSpPr>
        <p:spPr>
          <a:xfrm>
            <a:off x="7493000" y="3911600"/>
            <a:ext cx="1181100" cy="660400"/>
          </a:xfrm>
          <a:prstGeom prst="roundRect">
            <a:avLst>
              <a:gd name="adj" fmla="val 12000"/>
            </a:avLst>
          </a:prstGeom>
          <a:solidFill>
            <a:srgbClr val="FCEC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38100" tIns="0" rIns="38100" bIns="0" rtlCol="0" anchor="ctr"/>
          <a:lstStyle/>
          <a:p>
            <a:pPr algn="ctr"/>
            <a:r>
              <a:rPr lang="en-CA" sz="1100">
                <a:solidFill>
                  <a:srgbClr val="50152C"/>
                </a:solidFill>
                <a:latin typeface="Calibri" panose="020F0502020204030204" pitchFamily="34" charset="0"/>
              </a:rPr>
              <a:t>Network policy (serverless)</a:t>
            </a:r>
          </a:p>
        </p:txBody>
      </p:sp>
      <p:sp>
        <p:nvSpPr>
          <p:cNvPr id="29" name="Arrow: Right 28">
            <a:extLst>
              <a:ext uri="{FF2B5EF4-FFF2-40B4-BE49-F238E27FC236}">
                <a16:creationId xmlns:a16="http://schemas.microsoft.com/office/drawing/2014/main" id="{D0195FC6-D7E3-9036-5D91-ACB02CB4DAEA}"/>
              </a:ext>
            </a:extLst>
          </p:cNvPr>
          <p:cNvSpPr/>
          <p:nvPr/>
        </p:nvSpPr>
        <p:spPr>
          <a:xfrm>
            <a:off x="8750300" y="4178300"/>
            <a:ext cx="177800" cy="127000"/>
          </a:xfrm>
          <a:prstGeom prst="rightArrow">
            <a:avLst/>
          </a:prstGeom>
          <a:solidFill>
            <a:srgbClr val="F68D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0" name="Rectangle: Rounded Corners 29">
            <a:extLst>
              <a:ext uri="{FF2B5EF4-FFF2-40B4-BE49-F238E27FC236}">
                <a16:creationId xmlns:a16="http://schemas.microsoft.com/office/drawing/2014/main" id="{3743F1FA-DD1A-2951-5B3A-B62999B35125}"/>
              </a:ext>
            </a:extLst>
          </p:cNvPr>
          <p:cNvSpPr/>
          <p:nvPr/>
        </p:nvSpPr>
        <p:spPr>
          <a:xfrm>
            <a:off x="9004300" y="3911600"/>
            <a:ext cx="1181100" cy="660400"/>
          </a:xfrm>
          <a:prstGeom prst="roundRect">
            <a:avLst>
              <a:gd name="adj" fmla="val 12000"/>
            </a:avLst>
          </a:prstGeom>
          <a:solidFill>
            <a:srgbClr val="50152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38100" tIns="0" rIns="38100" bIns="0" rtlCol="0" anchor="ctr"/>
          <a:lstStyle/>
          <a:p>
            <a:pPr algn="ctr"/>
            <a:r>
              <a:rPr lang="en-CA" sz="1100">
                <a:solidFill>
                  <a:srgbClr val="FFFFFF"/>
                </a:solidFill>
                <a:latin typeface="Calibri" panose="020F0502020204030204" pitchFamily="34" charset="0"/>
              </a:rPr>
              <a:t>Approved destinations only</a:t>
            </a:r>
          </a:p>
        </p:txBody>
      </p:sp>
      <p:sp>
        <p:nvSpPr>
          <p:cNvPr id="31" name="TextBox 30">
            <a:extLst>
              <a:ext uri="{FF2B5EF4-FFF2-40B4-BE49-F238E27FC236}">
                <a16:creationId xmlns:a16="http://schemas.microsoft.com/office/drawing/2014/main" id="{A087A6F6-88B8-2C8A-F29C-722DF1276257}"/>
              </a:ext>
            </a:extLst>
          </p:cNvPr>
          <p:cNvSpPr txBox="1"/>
          <p:nvPr/>
        </p:nvSpPr>
        <p:spPr>
          <a:xfrm>
            <a:off x="2844800" y="4800600"/>
            <a:ext cx="8902700" cy="381000"/>
          </a:xfrm>
          <a:prstGeom prst="rect">
            <a:avLst/>
          </a:prstGeom>
          <a:noFill/>
        </p:spPr>
        <p:txBody>
          <a:bodyPr vert="horz" wrap="square" lIns="0" tIns="0" rIns="0" bIns="0" rtlCol="0" anchor="t">
            <a:noAutofit/>
          </a:bodyPr>
          <a:lstStyle/>
          <a:p>
            <a:r>
              <a:rPr lang="en-US" sz="1100">
                <a:solidFill>
                  <a:srgbClr val="595959"/>
                </a:solidFill>
                <a:latin typeface="Calibri" panose="020F0502020204030204" pitchFamily="34" charset="0"/>
              </a:rPr>
              <a:t>On-premises databases reply to the proxy subnet, so Baytex adds that range to its on-premises return routes. HAProxy resolves each database name through corporate DNS.</a:t>
            </a:r>
            <a:endParaRPr lang="en-CA" sz="1100">
              <a:solidFill>
                <a:srgbClr val="595959"/>
              </a:solidFill>
              <a:latin typeface="Calibri" panose="020F0502020204030204" pitchFamily="34" charset="0"/>
            </a:endParaRPr>
          </a:p>
        </p:txBody>
      </p:sp>
      <p:sp>
        <p:nvSpPr>
          <p:cNvPr id="32" name="Rectangle 31">
            <a:extLst>
              <a:ext uri="{FF2B5EF4-FFF2-40B4-BE49-F238E27FC236}">
                <a16:creationId xmlns:a16="http://schemas.microsoft.com/office/drawing/2014/main" id="{F66BBAF2-9C93-D40B-9DC3-DC62623F8D9B}"/>
              </a:ext>
            </a:extLst>
          </p:cNvPr>
          <p:cNvSpPr/>
          <p:nvPr/>
        </p:nvSpPr>
        <p:spPr>
          <a:xfrm>
            <a:off x="2844800" y="5359400"/>
            <a:ext cx="139700" cy="139700"/>
          </a:xfrm>
          <a:prstGeom prst="rect">
            <a:avLst/>
          </a:prstGeom>
          <a:solidFill>
            <a:srgbClr val="FCEC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3" name="TextBox 32">
            <a:extLst>
              <a:ext uri="{FF2B5EF4-FFF2-40B4-BE49-F238E27FC236}">
                <a16:creationId xmlns:a16="http://schemas.microsoft.com/office/drawing/2014/main" id="{A27157B5-2A58-AC23-1CBF-B48B9DC6EF41}"/>
              </a:ext>
            </a:extLst>
          </p:cNvPr>
          <p:cNvSpPr txBox="1"/>
          <p:nvPr/>
        </p:nvSpPr>
        <p:spPr>
          <a:xfrm>
            <a:off x="3060700" y="5334000"/>
            <a:ext cx="1905000" cy="190500"/>
          </a:xfrm>
          <a:prstGeom prst="rect">
            <a:avLst/>
          </a:prstGeom>
          <a:noFill/>
        </p:spPr>
        <p:txBody>
          <a:bodyPr vert="horz" wrap="square" lIns="0" tIns="0" rIns="0" bIns="0" rtlCol="0" anchor="t">
            <a:noAutofit/>
          </a:bodyPr>
          <a:lstStyle/>
          <a:p>
            <a:r>
              <a:rPr lang="en-CA" sz="1100">
                <a:solidFill>
                  <a:srgbClr val="262626"/>
                </a:solidFill>
                <a:latin typeface="Calibri" panose="020F0502020204030204" pitchFamily="34" charset="0"/>
              </a:rPr>
              <a:t>Platform, built by Terraform</a:t>
            </a:r>
          </a:p>
        </p:txBody>
      </p:sp>
      <p:sp>
        <p:nvSpPr>
          <p:cNvPr id="34" name="Rectangle 33">
            <a:extLst>
              <a:ext uri="{FF2B5EF4-FFF2-40B4-BE49-F238E27FC236}">
                <a16:creationId xmlns:a16="http://schemas.microsoft.com/office/drawing/2014/main" id="{29C61560-CFCA-F042-3C91-0A96E080FC0B}"/>
              </a:ext>
            </a:extLst>
          </p:cNvPr>
          <p:cNvSpPr/>
          <p:nvPr/>
        </p:nvSpPr>
        <p:spPr>
          <a:xfrm>
            <a:off x="5130800" y="5359400"/>
            <a:ext cx="139700" cy="139700"/>
          </a:xfrm>
          <a:prstGeom prst="rect">
            <a:avLst/>
          </a:prstGeom>
          <a:solidFill>
            <a:srgbClr val="F2F2F2"/>
          </a:solidFill>
          <a:ln w="9525">
            <a:solidFill>
              <a:srgbClr val="BFBF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5" name="TextBox 34">
            <a:extLst>
              <a:ext uri="{FF2B5EF4-FFF2-40B4-BE49-F238E27FC236}">
                <a16:creationId xmlns:a16="http://schemas.microsoft.com/office/drawing/2014/main" id="{A2FE7752-1FF2-7004-6570-48B669D1D141}"/>
              </a:ext>
            </a:extLst>
          </p:cNvPr>
          <p:cNvSpPr txBox="1"/>
          <p:nvPr/>
        </p:nvSpPr>
        <p:spPr>
          <a:xfrm>
            <a:off x="5346700" y="5334000"/>
            <a:ext cx="1016000" cy="190500"/>
          </a:xfrm>
          <a:prstGeom prst="rect">
            <a:avLst/>
          </a:prstGeom>
          <a:noFill/>
        </p:spPr>
        <p:txBody>
          <a:bodyPr vert="horz" wrap="square" lIns="0" tIns="0" rIns="0" bIns="0" rtlCol="0" anchor="t">
            <a:noAutofit/>
          </a:bodyPr>
          <a:lstStyle/>
          <a:p>
            <a:r>
              <a:rPr lang="en-CA" sz="1100">
                <a:solidFill>
                  <a:srgbClr val="262626"/>
                </a:solidFill>
                <a:latin typeface="Calibri" panose="020F0502020204030204" pitchFamily="34" charset="0"/>
              </a:rPr>
              <a:t>Baytex hub</a:t>
            </a:r>
          </a:p>
        </p:txBody>
      </p:sp>
      <p:sp>
        <p:nvSpPr>
          <p:cNvPr id="36" name="Rectangle 35">
            <a:extLst>
              <a:ext uri="{FF2B5EF4-FFF2-40B4-BE49-F238E27FC236}">
                <a16:creationId xmlns:a16="http://schemas.microsoft.com/office/drawing/2014/main" id="{F0A16503-E2A0-9C63-BF17-6FD18ACBAC02}"/>
              </a:ext>
            </a:extLst>
          </p:cNvPr>
          <p:cNvSpPr/>
          <p:nvPr/>
        </p:nvSpPr>
        <p:spPr>
          <a:xfrm>
            <a:off x="6527800" y="5359400"/>
            <a:ext cx="139700" cy="139700"/>
          </a:xfrm>
          <a:prstGeom prst="rect">
            <a:avLst/>
          </a:prstGeom>
          <a:solidFill>
            <a:srgbClr val="50152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7" name="TextBox 36">
            <a:extLst>
              <a:ext uri="{FF2B5EF4-FFF2-40B4-BE49-F238E27FC236}">
                <a16:creationId xmlns:a16="http://schemas.microsoft.com/office/drawing/2014/main" id="{AA965517-5BBD-007C-2035-D204CDCDD999}"/>
              </a:ext>
            </a:extLst>
          </p:cNvPr>
          <p:cNvSpPr txBox="1"/>
          <p:nvPr/>
        </p:nvSpPr>
        <p:spPr>
          <a:xfrm>
            <a:off x="6743700" y="5334000"/>
            <a:ext cx="1016000" cy="190500"/>
          </a:xfrm>
          <a:prstGeom prst="rect">
            <a:avLst/>
          </a:prstGeom>
          <a:noFill/>
        </p:spPr>
        <p:txBody>
          <a:bodyPr vert="horz" wrap="square" lIns="0" tIns="0" rIns="0" bIns="0" rtlCol="0" anchor="t">
            <a:noAutofit/>
          </a:bodyPr>
          <a:lstStyle/>
          <a:p>
            <a:r>
              <a:rPr lang="en-CA" sz="1100">
                <a:solidFill>
                  <a:srgbClr val="262626"/>
                </a:solidFill>
                <a:latin typeface="Calibri" panose="020F0502020204030204" pitchFamily="34" charset="0"/>
              </a:rPr>
              <a:t>Destination</a:t>
            </a:r>
          </a:p>
        </p:txBody>
      </p:sp>
    </p:spTree>
    <p:extLst>
      <p:ext uri="{BB962C8B-B14F-4D97-AF65-F5344CB8AC3E}">
        <p14:creationId xmlns:p14="http://schemas.microsoft.com/office/powerpoint/2010/main" val="38068871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A1300-6350-FCDD-0A3D-D102226B1D9E}"/>
              </a:ext>
            </a:extLst>
          </p:cNvPr>
          <p:cNvSpPr>
            <a:spLocks noGrp="1"/>
          </p:cNvSpPr>
          <p:nvPr>
            <p:ph type="title"/>
          </p:nvPr>
        </p:nvSpPr>
        <p:spPr/>
        <p:txBody>
          <a:bodyPr>
            <a:normAutofit/>
          </a:bodyPr>
          <a:lstStyle/>
          <a:p>
            <a:r>
              <a:rPr lang="en-CA" b="1">
                <a:latin typeface="Aptos Display" panose="020B0004020202020204" pitchFamily="34" charset="0"/>
              </a:rPr>
              <a:t>Serverless Access to On-premises</a:t>
            </a:r>
          </a:p>
        </p:txBody>
      </p:sp>
      <p:sp>
        <p:nvSpPr>
          <p:cNvPr id="4" name="TextBox 3">
            <a:extLst>
              <a:ext uri="{FF2B5EF4-FFF2-40B4-BE49-F238E27FC236}">
                <a16:creationId xmlns:a16="http://schemas.microsoft.com/office/drawing/2014/main" id="{196C0569-9A0A-663B-D245-59D3B33B8E4D}"/>
              </a:ext>
            </a:extLst>
          </p:cNvPr>
          <p:cNvSpPr txBox="1"/>
          <p:nvPr/>
        </p:nvSpPr>
        <p:spPr>
          <a:xfrm>
            <a:off x="2844800" y="1346200"/>
            <a:ext cx="1244600" cy="203200"/>
          </a:xfrm>
          <a:prstGeom prst="rect">
            <a:avLst/>
          </a:prstGeom>
          <a:noFill/>
        </p:spPr>
        <p:txBody>
          <a:bodyPr vert="horz" wrap="square" lIns="0" tIns="0" rIns="0" bIns="0" rtlCol="0" anchor="t">
            <a:noAutofit/>
          </a:bodyPr>
          <a:lstStyle/>
          <a:p>
            <a:pPr algn="ctr"/>
            <a:r>
              <a:rPr lang="en-CA" sz="1050" b="1">
                <a:solidFill>
                  <a:srgbClr val="50152C"/>
                </a:solidFill>
                <a:latin typeface="Aptos Display" panose="020B0004020202020204" pitchFamily="34" charset="0"/>
              </a:rPr>
              <a:t>Databricks</a:t>
            </a:r>
          </a:p>
        </p:txBody>
      </p:sp>
      <p:sp>
        <p:nvSpPr>
          <p:cNvPr id="5" name="TextBox 4">
            <a:extLst>
              <a:ext uri="{FF2B5EF4-FFF2-40B4-BE49-F238E27FC236}">
                <a16:creationId xmlns:a16="http://schemas.microsoft.com/office/drawing/2014/main" id="{16CA9647-FC23-E396-64EA-16120F919CF6}"/>
              </a:ext>
            </a:extLst>
          </p:cNvPr>
          <p:cNvSpPr txBox="1"/>
          <p:nvPr/>
        </p:nvSpPr>
        <p:spPr>
          <a:xfrm>
            <a:off x="4376420" y="1346200"/>
            <a:ext cx="1244600" cy="203200"/>
          </a:xfrm>
          <a:prstGeom prst="rect">
            <a:avLst/>
          </a:prstGeom>
          <a:noFill/>
        </p:spPr>
        <p:txBody>
          <a:bodyPr vert="horz" wrap="square" lIns="0" tIns="0" rIns="0" bIns="0" rtlCol="0" anchor="t">
            <a:noAutofit/>
          </a:bodyPr>
          <a:lstStyle/>
          <a:p>
            <a:pPr algn="ctr"/>
            <a:r>
              <a:rPr lang="en-CA" sz="1050" b="1">
                <a:solidFill>
                  <a:srgbClr val="50152C"/>
                </a:solidFill>
                <a:latin typeface="Aptos Display" panose="020B0004020202020204" pitchFamily="34" charset="0"/>
              </a:rPr>
              <a:t>NCC</a:t>
            </a:r>
          </a:p>
        </p:txBody>
      </p:sp>
      <p:sp>
        <p:nvSpPr>
          <p:cNvPr id="6" name="TextBox 5">
            <a:extLst>
              <a:ext uri="{FF2B5EF4-FFF2-40B4-BE49-F238E27FC236}">
                <a16:creationId xmlns:a16="http://schemas.microsoft.com/office/drawing/2014/main" id="{D7863E75-42D4-5151-A98A-A784CDD72EB1}"/>
              </a:ext>
            </a:extLst>
          </p:cNvPr>
          <p:cNvSpPr txBox="1"/>
          <p:nvPr/>
        </p:nvSpPr>
        <p:spPr>
          <a:xfrm>
            <a:off x="5908040" y="1346200"/>
            <a:ext cx="1244600" cy="203200"/>
          </a:xfrm>
          <a:prstGeom prst="rect">
            <a:avLst/>
          </a:prstGeom>
          <a:noFill/>
        </p:spPr>
        <p:txBody>
          <a:bodyPr vert="horz" wrap="square" lIns="0" tIns="0" rIns="0" bIns="0" rtlCol="0" anchor="t">
            <a:noAutofit/>
          </a:bodyPr>
          <a:lstStyle/>
          <a:p>
            <a:pPr algn="ctr"/>
            <a:r>
              <a:rPr lang="en-CA" sz="1050" b="1">
                <a:solidFill>
                  <a:srgbClr val="50152C"/>
                </a:solidFill>
                <a:latin typeface="Aptos Display" panose="020B0004020202020204" pitchFamily="34" charset="0"/>
              </a:rPr>
              <a:t>Private Link</a:t>
            </a:r>
          </a:p>
        </p:txBody>
      </p:sp>
      <p:sp>
        <p:nvSpPr>
          <p:cNvPr id="7" name="TextBox 6">
            <a:extLst>
              <a:ext uri="{FF2B5EF4-FFF2-40B4-BE49-F238E27FC236}">
                <a16:creationId xmlns:a16="http://schemas.microsoft.com/office/drawing/2014/main" id="{1034ED54-2D0E-2E51-7B48-147B9379E4B5}"/>
              </a:ext>
            </a:extLst>
          </p:cNvPr>
          <p:cNvSpPr txBox="1"/>
          <p:nvPr/>
        </p:nvSpPr>
        <p:spPr>
          <a:xfrm>
            <a:off x="7439660" y="1346200"/>
            <a:ext cx="1244600" cy="203200"/>
          </a:xfrm>
          <a:prstGeom prst="rect">
            <a:avLst/>
          </a:prstGeom>
          <a:noFill/>
        </p:spPr>
        <p:txBody>
          <a:bodyPr vert="horz" wrap="square" lIns="0" tIns="0" rIns="0" bIns="0" rtlCol="0" anchor="t">
            <a:noAutofit/>
          </a:bodyPr>
          <a:lstStyle/>
          <a:p>
            <a:pPr algn="ctr"/>
            <a:r>
              <a:rPr lang="en-CA" sz="1050" b="1">
                <a:solidFill>
                  <a:srgbClr val="50152C"/>
                </a:solidFill>
                <a:latin typeface="Aptos Display" panose="020B0004020202020204" pitchFamily="34" charset="0"/>
              </a:rPr>
              <a:t>HAProxy tier</a:t>
            </a:r>
          </a:p>
        </p:txBody>
      </p:sp>
      <p:sp>
        <p:nvSpPr>
          <p:cNvPr id="8" name="TextBox 7">
            <a:extLst>
              <a:ext uri="{FF2B5EF4-FFF2-40B4-BE49-F238E27FC236}">
                <a16:creationId xmlns:a16="http://schemas.microsoft.com/office/drawing/2014/main" id="{8C66E7A4-B00C-C5BC-CEDE-22AD1DAC5385}"/>
              </a:ext>
            </a:extLst>
          </p:cNvPr>
          <p:cNvSpPr txBox="1"/>
          <p:nvPr/>
        </p:nvSpPr>
        <p:spPr>
          <a:xfrm>
            <a:off x="8971280" y="1346200"/>
            <a:ext cx="1244600" cy="203200"/>
          </a:xfrm>
          <a:prstGeom prst="rect">
            <a:avLst/>
          </a:prstGeom>
          <a:noFill/>
        </p:spPr>
        <p:txBody>
          <a:bodyPr vert="horz" wrap="square" lIns="0" tIns="0" rIns="0" bIns="0" rtlCol="0" anchor="t">
            <a:noAutofit/>
          </a:bodyPr>
          <a:lstStyle/>
          <a:p>
            <a:pPr algn="ctr"/>
            <a:r>
              <a:rPr lang="en-CA" sz="1050" b="1">
                <a:solidFill>
                  <a:srgbClr val="50152C"/>
                </a:solidFill>
                <a:latin typeface="Aptos Display" panose="020B0004020202020204" pitchFamily="34" charset="0"/>
              </a:rPr>
              <a:t>Baytex hub</a:t>
            </a:r>
          </a:p>
        </p:txBody>
      </p:sp>
      <p:sp>
        <p:nvSpPr>
          <p:cNvPr id="9" name="TextBox 8">
            <a:extLst>
              <a:ext uri="{FF2B5EF4-FFF2-40B4-BE49-F238E27FC236}">
                <a16:creationId xmlns:a16="http://schemas.microsoft.com/office/drawing/2014/main" id="{3CB9E73D-CFBA-2E21-23D4-70CAF6339645}"/>
              </a:ext>
            </a:extLst>
          </p:cNvPr>
          <p:cNvSpPr txBox="1"/>
          <p:nvPr/>
        </p:nvSpPr>
        <p:spPr>
          <a:xfrm>
            <a:off x="10502900" y="1346200"/>
            <a:ext cx="1244600" cy="203200"/>
          </a:xfrm>
          <a:prstGeom prst="rect">
            <a:avLst/>
          </a:prstGeom>
          <a:noFill/>
        </p:spPr>
        <p:txBody>
          <a:bodyPr vert="horz" wrap="square" lIns="0" tIns="0" rIns="0" bIns="0" rtlCol="0" anchor="t">
            <a:noAutofit/>
          </a:bodyPr>
          <a:lstStyle/>
          <a:p>
            <a:pPr algn="ctr"/>
            <a:r>
              <a:rPr lang="en-CA" sz="1050" b="1">
                <a:solidFill>
                  <a:srgbClr val="50152C"/>
                </a:solidFill>
                <a:latin typeface="Aptos Display" panose="020B0004020202020204" pitchFamily="34" charset="0"/>
              </a:rPr>
              <a:t>On-premises</a:t>
            </a:r>
          </a:p>
        </p:txBody>
      </p:sp>
      <p:cxnSp>
        <p:nvCxnSpPr>
          <p:cNvPr id="10" name="Straight Connector 9">
            <a:extLst>
              <a:ext uri="{FF2B5EF4-FFF2-40B4-BE49-F238E27FC236}">
                <a16:creationId xmlns:a16="http://schemas.microsoft.com/office/drawing/2014/main" id="{0A2F3F98-D423-001F-7B8F-617F4BA1C60E}"/>
              </a:ext>
            </a:extLst>
          </p:cNvPr>
          <p:cNvCxnSpPr/>
          <p:nvPr/>
        </p:nvCxnSpPr>
        <p:spPr>
          <a:xfrm>
            <a:off x="2844800" y="1625600"/>
            <a:ext cx="8902700" cy="0"/>
          </a:xfrm>
          <a:prstGeom prst="line">
            <a:avLst/>
          </a:prstGeom>
          <a:ln w="12700">
            <a:solidFill>
              <a:srgbClr val="F8D7CD"/>
            </a:solidFill>
          </a:ln>
        </p:spPr>
        <p:style>
          <a:lnRef idx="1">
            <a:schemeClr val="accent1"/>
          </a:lnRef>
          <a:fillRef idx="0">
            <a:schemeClr val="accent1"/>
          </a:fillRef>
          <a:effectRef idx="0">
            <a:schemeClr val="accent1"/>
          </a:effectRef>
          <a:fontRef idx="minor">
            <a:schemeClr val="tx1"/>
          </a:fontRef>
        </p:style>
      </p:cxnSp>
      <p:sp>
        <p:nvSpPr>
          <p:cNvPr id="11" name="Rectangle: Rounded Corners 10">
            <a:extLst>
              <a:ext uri="{FF2B5EF4-FFF2-40B4-BE49-F238E27FC236}">
                <a16:creationId xmlns:a16="http://schemas.microsoft.com/office/drawing/2014/main" id="{D6705BF7-3D26-CB98-AC78-6B7553E60EF6}"/>
              </a:ext>
            </a:extLst>
          </p:cNvPr>
          <p:cNvSpPr/>
          <p:nvPr/>
        </p:nvSpPr>
        <p:spPr>
          <a:xfrm>
            <a:off x="2844800" y="2413000"/>
            <a:ext cx="1244600" cy="1016000"/>
          </a:xfrm>
          <a:prstGeom prst="roundRect">
            <a:avLst>
              <a:gd name="adj" fmla="val 10000"/>
            </a:avLst>
          </a:prstGeom>
          <a:solidFill>
            <a:srgbClr val="50152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CA" sz="1100" b="1">
                <a:solidFill>
                  <a:srgbClr val="FFFFFF"/>
                </a:solidFill>
                <a:latin typeface="Calibri" panose="020F0502020204030204" pitchFamily="34" charset="0"/>
              </a:rPr>
              <a:t>Serverless compute</a:t>
            </a:r>
          </a:p>
        </p:txBody>
      </p:sp>
      <p:sp>
        <p:nvSpPr>
          <p:cNvPr id="12" name="Rectangle: Rounded Corners 11">
            <a:extLst>
              <a:ext uri="{FF2B5EF4-FFF2-40B4-BE49-F238E27FC236}">
                <a16:creationId xmlns:a16="http://schemas.microsoft.com/office/drawing/2014/main" id="{F7D107B9-15C0-FC73-34CB-DA50D218D897}"/>
              </a:ext>
            </a:extLst>
          </p:cNvPr>
          <p:cNvSpPr/>
          <p:nvPr/>
        </p:nvSpPr>
        <p:spPr>
          <a:xfrm>
            <a:off x="4376420" y="2413000"/>
            <a:ext cx="1244600" cy="1016000"/>
          </a:xfrm>
          <a:prstGeom prst="roundRect">
            <a:avLst>
              <a:gd name="adj" fmla="val 10000"/>
            </a:avLst>
          </a:prstGeom>
          <a:solidFill>
            <a:srgbClr val="FCEC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US" sz="1000" b="1">
                <a:solidFill>
                  <a:srgbClr val="50152C"/>
                </a:solidFill>
                <a:latin typeface="Calibri" panose="020F0502020204030204" pitchFamily="34" charset="0"/>
              </a:rPr>
              <a:t>13 private endpoint rules</a:t>
            </a:r>
          </a:p>
          <a:p>
            <a:pPr algn="ctr"/>
            <a:r>
              <a:rPr lang="en-US" sz="1000">
                <a:solidFill>
                  <a:srgbClr val="50152C"/>
                </a:solidFill>
                <a:latin typeface="Calibri" panose="020F0502020204030204" pitchFamily="34" charset="0"/>
              </a:rPr>
              <a:t>one per database</a:t>
            </a:r>
            <a:endParaRPr lang="en-CA" sz="1000">
              <a:solidFill>
                <a:srgbClr val="50152C"/>
              </a:solidFill>
              <a:latin typeface="Calibri" panose="020F0502020204030204" pitchFamily="34" charset="0"/>
            </a:endParaRPr>
          </a:p>
        </p:txBody>
      </p:sp>
      <p:sp>
        <p:nvSpPr>
          <p:cNvPr id="13" name="Rectangle: Rounded Corners 12">
            <a:extLst>
              <a:ext uri="{FF2B5EF4-FFF2-40B4-BE49-F238E27FC236}">
                <a16:creationId xmlns:a16="http://schemas.microsoft.com/office/drawing/2014/main" id="{9F10F873-E46B-26B1-799C-4678A405DB1D}"/>
              </a:ext>
            </a:extLst>
          </p:cNvPr>
          <p:cNvSpPr/>
          <p:nvPr/>
        </p:nvSpPr>
        <p:spPr>
          <a:xfrm>
            <a:off x="5908040" y="1778000"/>
            <a:ext cx="1244600" cy="1016000"/>
          </a:xfrm>
          <a:prstGeom prst="roundRect">
            <a:avLst>
              <a:gd name="adj" fmla="val 10000"/>
            </a:avLst>
          </a:prstGeom>
          <a:solidFill>
            <a:srgbClr val="F8D7C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US" sz="1000" b="1">
                <a:solidFill>
                  <a:srgbClr val="50152C"/>
                </a:solidFill>
                <a:latin typeface="Calibri" panose="020F0502020204030204" pitchFamily="34" charset="0"/>
              </a:rPr>
              <a:t>Load balancer 1</a:t>
            </a:r>
          </a:p>
          <a:p>
            <a:pPr algn="ctr"/>
            <a:r>
              <a:rPr lang="en-US" sz="1000">
                <a:solidFill>
                  <a:srgbClr val="50152C"/>
                </a:solidFill>
                <a:latin typeface="Calibri" panose="020F0502020204030204" pitchFamily="34" charset="0"/>
              </a:rPr>
              <a:t>8 Private Link Services</a:t>
            </a:r>
            <a:endParaRPr lang="en-CA" sz="1000">
              <a:solidFill>
                <a:srgbClr val="50152C"/>
              </a:solidFill>
              <a:latin typeface="Calibri" panose="020F0502020204030204" pitchFamily="34" charset="0"/>
            </a:endParaRPr>
          </a:p>
        </p:txBody>
      </p:sp>
      <p:sp>
        <p:nvSpPr>
          <p:cNvPr id="14" name="Rectangle: Rounded Corners 13">
            <a:extLst>
              <a:ext uri="{FF2B5EF4-FFF2-40B4-BE49-F238E27FC236}">
                <a16:creationId xmlns:a16="http://schemas.microsoft.com/office/drawing/2014/main" id="{1B10581B-AC3F-D45A-8885-3C1AE2DAB58F}"/>
              </a:ext>
            </a:extLst>
          </p:cNvPr>
          <p:cNvSpPr/>
          <p:nvPr/>
        </p:nvSpPr>
        <p:spPr>
          <a:xfrm>
            <a:off x="5908040" y="3048000"/>
            <a:ext cx="1244600" cy="1016000"/>
          </a:xfrm>
          <a:prstGeom prst="roundRect">
            <a:avLst>
              <a:gd name="adj" fmla="val 10000"/>
            </a:avLst>
          </a:prstGeom>
          <a:solidFill>
            <a:srgbClr val="F8D7C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US" sz="1000" b="1">
                <a:solidFill>
                  <a:srgbClr val="50152C"/>
                </a:solidFill>
                <a:latin typeface="Calibri" panose="020F0502020204030204" pitchFamily="34" charset="0"/>
              </a:rPr>
              <a:t>Load balancer 2</a:t>
            </a:r>
          </a:p>
          <a:p>
            <a:pPr algn="ctr"/>
            <a:r>
              <a:rPr lang="en-US" sz="1000">
                <a:solidFill>
                  <a:srgbClr val="50152C"/>
                </a:solidFill>
                <a:latin typeface="Calibri" panose="020F0502020204030204" pitchFamily="34" charset="0"/>
              </a:rPr>
              <a:t>5 Private Link Services</a:t>
            </a:r>
            <a:endParaRPr lang="en-CA" sz="1000">
              <a:solidFill>
                <a:srgbClr val="50152C"/>
              </a:solidFill>
              <a:latin typeface="Calibri" panose="020F0502020204030204" pitchFamily="34" charset="0"/>
            </a:endParaRPr>
          </a:p>
        </p:txBody>
      </p:sp>
      <p:sp>
        <p:nvSpPr>
          <p:cNvPr id="15" name="Rectangle: Rounded Corners 14">
            <a:extLst>
              <a:ext uri="{FF2B5EF4-FFF2-40B4-BE49-F238E27FC236}">
                <a16:creationId xmlns:a16="http://schemas.microsoft.com/office/drawing/2014/main" id="{2906F698-722D-1EB9-AAE0-F77496CE8742}"/>
              </a:ext>
            </a:extLst>
          </p:cNvPr>
          <p:cNvSpPr/>
          <p:nvPr/>
        </p:nvSpPr>
        <p:spPr>
          <a:xfrm>
            <a:off x="7439660" y="1778000"/>
            <a:ext cx="1244600" cy="1016000"/>
          </a:xfrm>
          <a:prstGeom prst="roundRect">
            <a:avLst>
              <a:gd name="adj" fmla="val 10000"/>
            </a:avLst>
          </a:prstGeom>
          <a:solidFill>
            <a:srgbClr val="6E2A4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CA" sz="1100" b="1">
                <a:solidFill>
                  <a:srgbClr val="FFFFFF"/>
                </a:solidFill>
                <a:latin typeface="Calibri" panose="020F0502020204030204" pitchFamily="34" charset="0"/>
              </a:rPr>
              <a:t>HAProxy VM</a:t>
            </a:r>
          </a:p>
          <a:p>
            <a:pPr algn="ctr"/>
            <a:r>
              <a:rPr lang="en-CA" sz="1100">
                <a:solidFill>
                  <a:srgbClr val="FFFFFF"/>
                </a:solidFill>
                <a:latin typeface="Calibri" panose="020F0502020204030204" pitchFamily="34" charset="0"/>
              </a:rPr>
              <a:t>zone 1</a:t>
            </a:r>
          </a:p>
        </p:txBody>
      </p:sp>
      <p:sp>
        <p:nvSpPr>
          <p:cNvPr id="16" name="Rectangle: Rounded Corners 15">
            <a:extLst>
              <a:ext uri="{FF2B5EF4-FFF2-40B4-BE49-F238E27FC236}">
                <a16:creationId xmlns:a16="http://schemas.microsoft.com/office/drawing/2014/main" id="{71D0EF47-87EB-5486-0884-7DCF866D0D3B}"/>
              </a:ext>
            </a:extLst>
          </p:cNvPr>
          <p:cNvSpPr/>
          <p:nvPr/>
        </p:nvSpPr>
        <p:spPr>
          <a:xfrm>
            <a:off x="7439660" y="3048000"/>
            <a:ext cx="1244600" cy="1016000"/>
          </a:xfrm>
          <a:prstGeom prst="roundRect">
            <a:avLst>
              <a:gd name="adj" fmla="val 10000"/>
            </a:avLst>
          </a:prstGeom>
          <a:solidFill>
            <a:srgbClr val="6E2A4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CA" sz="1100" b="1">
                <a:solidFill>
                  <a:srgbClr val="FFFFFF"/>
                </a:solidFill>
                <a:latin typeface="Calibri" panose="020F0502020204030204" pitchFamily="34" charset="0"/>
              </a:rPr>
              <a:t>HAProxy VM</a:t>
            </a:r>
          </a:p>
          <a:p>
            <a:pPr algn="ctr"/>
            <a:r>
              <a:rPr lang="en-CA" sz="1100">
                <a:solidFill>
                  <a:srgbClr val="FFFFFF"/>
                </a:solidFill>
                <a:latin typeface="Calibri" panose="020F0502020204030204" pitchFamily="34" charset="0"/>
              </a:rPr>
              <a:t>zone 2</a:t>
            </a:r>
          </a:p>
        </p:txBody>
      </p:sp>
      <p:sp>
        <p:nvSpPr>
          <p:cNvPr id="17" name="Rectangle: Rounded Corners 16">
            <a:extLst>
              <a:ext uri="{FF2B5EF4-FFF2-40B4-BE49-F238E27FC236}">
                <a16:creationId xmlns:a16="http://schemas.microsoft.com/office/drawing/2014/main" id="{84A44709-F299-3781-74A7-4D55F5FECD1A}"/>
              </a:ext>
            </a:extLst>
          </p:cNvPr>
          <p:cNvSpPr/>
          <p:nvPr/>
        </p:nvSpPr>
        <p:spPr>
          <a:xfrm>
            <a:off x="8971280" y="2413000"/>
            <a:ext cx="1244600" cy="1016000"/>
          </a:xfrm>
          <a:prstGeom prst="roundRect">
            <a:avLst>
              <a:gd name="adj" fmla="val 10000"/>
            </a:avLst>
          </a:prstGeom>
          <a:solidFill>
            <a:srgbClr val="F2F2F2"/>
          </a:solidFill>
          <a:ln w="9525">
            <a:solidFill>
              <a:srgbClr val="BFBFBF"/>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0" rIns="50800" bIns="0" rtlCol="0" anchor="ctr">
            <a:noAutofit/>
          </a:bodyPr>
          <a:lstStyle/>
          <a:p>
            <a:pPr algn="ctr"/>
            <a:r>
              <a:rPr lang="en-CA" sz="1100" b="1">
                <a:solidFill>
                  <a:srgbClr val="262626"/>
                </a:solidFill>
                <a:latin typeface="Calibri" panose="020F0502020204030204" pitchFamily="34" charset="0"/>
              </a:rPr>
              <a:t>Cisco firewall</a:t>
            </a:r>
          </a:p>
          <a:p>
            <a:pPr algn="ctr"/>
            <a:r>
              <a:rPr lang="en-CA" sz="1100">
                <a:solidFill>
                  <a:srgbClr val="262626"/>
                </a:solidFill>
                <a:latin typeface="Calibri" panose="020F0502020204030204" pitchFamily="34" charset="0"/>
              </a:rPr>
              <a:t>and VPN</a:t>
            </a:r>
          </a:p>
        </p:txBody>
      </p:sp>
      <p:sp>
        <p:nvSpPr>
          <p:cNvPr id="18" name="Rectangle: Rounded Corners 17">
            <a:extLst>
              <a:ext uri="{FF2B5EF4-FFF2-40B4-BE49-F238E27FC236}">
                <a16:creationId xmlns:a16="http://schemas.microsoft.com/office/drawing/2014/main" id="{B0736125-8D5A-8128-B2EA-19A232C1D8B6}"/>
              </a:ext>
            </a:extLst>
          </p:cNvPr>
          <p:cNvSpPr/>
          <p:nvPr/>
        </p:nvSpPr>
        <p:spPr>
          <a:xfrm>
            <a:off x="10502900" y="1778000"/>
            <a:ext cx="1244600" cy="1016000"/>
          </a:xfrm>
          <a:prstGeom prst="roundRect">
            <a:avLst>
              <a:gd name="adj" fmla="val 10000"/>
            </a:avLst>
          </a:prstGeom>
          <a:solidFill>
            <a:srgbClr val="50152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fr-FR" sz="1100" b="1">
                <a:solidFill>
                  <a:srgbClr val="FFFFFF"/>
                </a:solidFill>
                <a:latin typeface="Calibri" panose="020F0502020204030204" pitchFamily="34" charset="0"/>
              </a:rPr>
              <a:t>6 SQL Server</a:t>
            </a:r>
          </a:p>
          <a:p>
            <a:pPr algn="ctr"/>
            <a:r>
              <a:rPr lang="fr-FR" sz="1100">
                <a:solidFill>
                  <a:srgbClr val="FFFFFF"/>
                </a:solidFill>
                <a:latin typeface="Calibri" panose="020F0502020204030204" pitchFamily="34" charset="0"/>
              </a:rPr>
              <a:t>port 1433</a:t>
            </a:r>
            <a:endParaRPr lang="en-CA" sz="1100">
              <a:solidFill>
                <a:srgbClr val="FFFFFF"/>
              </a:solidFill>
              <a:latin typeface="Calibri" panose="020F0502020204030204" pitchFamily="34" charset="0"/>
            </a:endParaRPr>
          </a:p>
        </p:txBody>
      </p:sp>
      <p:sp>
        <p:nvSpPr>
          <p:cNvPr id="19" name="Rectangle: Rounded Corners 18">
            <a:extLst>
              <a:ext uri="{FF2B5EF4-FFF2-40B4-BE49-F238E27FC236}">
                <a16:creationId xmlns:a16="http://schemas.microsoft.com/office/drawing/2014/main" id="{D30B82D7-5358-0D8C-1B97-1DE47FB16E35}"/>
              </a:ext>
            </a:extLst>
          </p:cNvPr>
          <p:cNvSpPr/>
          <p:nvPr/>
        </p:nvSpPr>
        <p:spPr>
          <a:xfrm>
            <a:off x="10502900" y="3048000"/>
            <a:ext cx="1244600" cy="1016000"/>
          </a:xfrm>
          <a:prstGeom prst="roundRect">
            <a:avLst>
              <a:gd name="adj" fmla="val 10000"/>
            </a:avLst>
          </a:prstGeom>
          <a:solidFill>
            <a:srgbClr val="50152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CA" sz="1100" b="1">
                <a:solidFill>
                  <a:srgbClr val="FFFFFF"/>
                </a:solidFill>
                <a:latin typeface="Calibri" panose="020F0502020204030204" pitchFamily="34" charset="0"/>
              </a:rPr>
              <a:t>7 Oracle</a:t>
            </a:r>
          </a:p>
          <a:p>
            <a:pPr algn="ctr"/>
            <a:r>
              <a:rPr lang="en-CA" sz="1100">
                <a:solidFill>
                  <a:srgbClr val="FFFFFF"/>
                </a:solidFill>
                <a:latin typeface="Calibri" panose="020F0502020204030204" pitchFamily="34" charset="0"/>
              </a:rPr>
              <a:t>port 1521</a:t>
            </a:r>
          </a:p>
        </p:txBody>
      </p:sp>
      <p:cxnSp>
        <p:nvCxnSpPr>
          <p:cNvPr id="20" name="Straight Connector 19">
            <a:extLst>
              <a:ext uri="{FF2B5EF4-FFF2-40B4-BE49-F238E27FC236}">
                <a16:creationId xmlns:a16="http://schemas.microsoft.com/office/drawing/2014/main" id="{CB074C42-FCFF-B91A-7A7F-338891781520}"/>
              </a:ext>
            </a:extLst>
          </p:cNvPr>
          <p:cNvCxnSpPr/>
          <p:nvPr/>
        </p:nvCxnSpPr>
        <p:spPr>
          <a:xfrm>
            <a:off x="4089400" y="2921000"/>
            <a:ext cx="287020" cy="0"/>
          </a:xfrm>
          <a:prstGeom prst="line">
            <a:avLst/>
          </a:prstGeom>
          <a:ln w="15875">
            <a:solidFill>
              <a:srgbClr val="50152C"/>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49B646A-DED6-318B-0607-713234A17D2F}"/>
              </a:ext>
            </a:extLst>
          </p:cNvPr>
          <p:cNvCxnSpPr/>
          <p:nvPr/>
        </p:nvCxnSpPr>
        <p:spPr>
          <a:xfrm flipV="1">
            <a:off x="5621020" y="2286000"/>
            <a:ext cx="287020" cy="444500"/>
          </a:xfrm>
          <a:prstGeom prst="line">
            <a:avLst/>
          </a:prstGeom>
          <a:ln w="15875">
            <a:solidFill>
              <a:srgbClr val="50152C"/>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725A540-AD36-59DF-3D65-861E9133037A}"/>
              </a:ext>
            </a:extLst>
          </p:cNvPr>
          <p:cNvCxnSpPr/>
          <p:nvPr/>
        </p:nvCxnSpPr>
        <p:spPr>
          <a:xfrm>
            <a:off x="5621020" y="3111500"/>
            <a:ext cx="287020" cy="444500"/>
          </a:xfrm>
          <a:prstGeom prst="line">
            <a:avLst/>
          </a:prstGeom>
          <a:ln w="15875">
            <a:solidFill>
              <a:srgbClr val="50152C"/>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6BA7436-DA67-87D3-B5BA-1A3EBF4CBBA0}"/>
              </a:ext>
            </a:extLst>
          </p:cNvPr>
          <p:cNvCxnSpPr/>
          <p:nvPr/>
        </p:nvCxnSpPr>
        <p:spPr>
          <a:xfrm>
            <a:off x="7152640" y="2159000"/>
            <a:ext cx="287020" cy="0"/>
          </a:xfrm>
          <a:prstGeom prst="line">
            <a:avLst/>
          </a:prstGeom>
          <a:ln w="15875">
            <a:solidFill>
              <a:srgbClr val="50152C"/>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2BD46C3D-6F8F-7DBF-A4F0-F6FA560CF858}"/>
              </a:ext>
            </a:extLst>
          </p:cNvPr>
          <p:cNvCxnSpPr/>
          <p:nvPr/>
        </p:nvCxnSpPr>
        <p:spPr>
          <a:xfrm>
            <a:off x="7152640" y="2476500"/>
            <a:ext cx="287020" cy="889000"/>
          </a:xfrm>
          <a:prstGeom prst="line">
            <a:avLst/>
          </a:prstGeom>
          <a:ln w="15875">
            <a:solidFill>
              <a:srgbClr val="50152C"/>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3F5C8A00-5BA5-CE2B-B92B-9E0CFDDF1072}"/>
              </a:ext>
            </a:extLst>
          </p:cNvPr>
          <p:cNvCxnSpPr/>
          <p:nvPr/>
        </p:nvCxnSpPr>
        <p:spPr>
          <a:xfrm flipV="1">
            <a:off x="7152640" y="2476500"/>
            <a:ext cx="287020" cy="889000"/>
          </a:xfrm>
          <a:prstGeom prst="line">
            <a:avLst/>
          </a:prstGeom>
          <a:ln w="15875">
            <a:solidFill>
              <a:srgbClr val="50152C"/>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48E7A6C-EF87-2986-FDDF-F5DCBA498671}"/>
              </a:ext>
            </a:extLst>
          </p:cNvPr>
          <p:cNvCxnSpPr/>
          <p:nvPr/>
        </p:nvCxnSpPr>
        <p:spPr>
          <a:xfrm>
            <a:off x="7152640" y="3683000"/>
            <a:ext cx="287020" cy="0"/>
          </a:xfrm>
          <a:prstGeom prst="line">
            <a:avLst/>
          </a:prstGeom>
          <a:ln w="15875">
            <a:solidFill>
              <a:srgbClr val="50152C"/>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58792DD-5EF4-4860-8A49-C966F65963A9}"/>
              </a:ext>
            </a:extLst>
          </p:cNvPr>
          <p:cNvCxnSpPr/>
          <p:nvPr/>
        </p:nvCxnSpPr>
        <p:spPr>
          <a:xfrm>
            <a:off x="8684260" y="2286000"/>
            <a:ext cx="287020" cy="444500"/>
          </a:xfrm>
          <a:prstGeom prst="line">
            <a:avLst/>
          </a:prstGeom>
          <a:ln w="15875">
            <a:solidFill>
              <a:srgbClr val="50152C"/>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45F0F5C-449C-CD39-04AE-2DA376BAFE1C}"/>
              </a:ext>
            </a:extLst>
          </p:cNvPr>
          <p:cNvCxnSpPr/>
          <p:nvPr/>
        </p:nvCxnSpPr>
        <p:spPr>
          <a:xfrm flipV="1">
            <a:off x="8684260" y="3111500"/>
            <a:ext cx="287020" cy="444500"/>
          </a:xfrm>
          <a:prstGeom prst="line">
            <a:avLst/>
          </a:prstGeom>
          <a:ln w="15875">
            <a:solidFill>
              <a:srgbClr val="50152C"/>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28E5D6A-F325-4586-421A-05362D6EB07B}"/>
              </a:ext>
            </a:extLst>
          </p:cNvPr>
          <p:cNvCxnSpPr/>
          <p:nvPr/>
        </p:nvCxnSpPr>
        <p:spPr>
          <a:xfrm flipV="1">
            <a:off x="10215880" y="2286000"/>
            <a:ext cx="287020" cy="444500"/>
          </a:xfrm>
          <a:prstGeom prst="line">
            <a:avLst/>
          </a:prstGeom>
          <a:ln w="15875">
            <a:solidFill>
              <a:srgbClr val="50152C"/>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1BD4257-3E8C-70B1-4791-7891FFD15CCA}"/>
              </a:ext>
            </a:extLst>
          </p:cNvPr>
          <p:cNvCxnSpPr/>
          <p:nvPr/>
        </p:nvCxnSpPr>
        <p:spPr>
          <a:xfrm>
            <a:off x="10215880" y="3111500"/>
            <a:ext cx="287020" cy="444500"/>
          </a:xfrm>
          <a:prstGeom prst="line">
            <a:avLst/>
          </a:prstGeom>
          <a:ln w="15875">
            <a:solidFill>
              <a:srgbClr val="50152C"/>
            </a:solidFill>
            <a:tailEnd type="triangle" w="med" len="med"/>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9F9C3505-38DE-1CA8-24E5-EF62BA3CBBB3}"/>
              </a:ext>
            </a:extLst>
          </p:cNvPr>
          <p:cNvSpPr txBox="1"/>
          <p:nvPr/>
        </p:nvSpPr>
        <p:spPr>
          <a:xfrm>
            <a:off x="2844800" y="4241800"/>
            <a:ext cx="8902700" cy="203200"/>
          </a:xfrm>
          <a:prstGeom prst="rect">
            <a:avLst/>
          </a:prstGeom>
          <a:noFill/>
        </p:spPr>
        <p:txBody>
          <a:bodyPr vert="horz" wrap="square" lIns="0" tIns="0" rIns="0" bIns="0" rtlCol="0" anchor="t">
            <a:noAutofit/>
          </a:bodyPr>
          <a:lstStyle/>
          <a:p>
            <a:pPr algn="ctr"/>
            <a:r>
              <a:rPr lang="en-US" sz="1050">
                <a:solidFill>
                  <a:srgbClr val="595959"/>
                </a:solidFill>
                <a:latin typeface="Calibri" panose="020F0502020204030204" pitchFamily="34" charset="0"/>
              </a:rPr>
              <a:t>Both load balancers send traffic to both HAProxy VMs. Each database has its own frontend, Private Link Service and NCC rule.</a:t>
            </a:r>
            <a:endParaRPr lang="en-CA" sz="1050">
              <a:solidFill>
                <a:srgbClr val="595959"/>
              </a:solidFill>
              <a:latin typeface="Calibri" panose="020F0502020204030204" pitchFamily="34" charset="0"/>
            </a:endParaRPr>
          </a:p>
        </p:txBody>
      </p:sp>
      <p:sp>
        <p:nvSpPr>
          <p:cNvPr id="32" name="Rectangle: Rounded Corners 31">
            <a:extLst>
              <a:ext uri="{FF2B5EF4-FFF2-40B4-BE49-F238E27FC236}">
                <a16:creationId xmlns:a16="http://schemas.microsoft.com/office/drawing/2014/main" id="{5E9AB7B0-E13C-232F-428C-B3A5F46DF5A1}"/>
              </a:ext>
            </a:extLst>
          </p:cNvPr>
          <p:cNvSpPr/>
          <p:nvPr/>
        </p:nvSpPr>
        <p:spPr>
          <a:xfrm>
            <a:off x="2844800" y="4597400"/>
            <a:ext cx="2844800" cy="1625600"/>
          </a:xfrm>
          <a:prstGeom prst="roundRect">
            <a:avLst>
              <a:gd name="adj" fmla="val 6000"/>
            </a:avLst>
          </a:prstGeom>
          <a:solidFill>
            <a:srgbClr val="FCEC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3" name="TextBox 32">
            <a:extLst>
              <a:ext uri="{FF2B5EF4-FFF2-40B4-BE49-F238E27FC236}">
                <a16:creationId xmlns:a16="http://schemas.microsoft.com/office/drawing/2014/main" id="{568A5CF8-28BF-EAF4-07F4-3EF9D852DC47}"/>
              </a:ext>
            </a:extLst>
          </p:cNvPr>
          <p:cNvSpPr txBox="1"/>
          <p:nvPr/>
        </p:nvSpPr>
        <p:spPr>
          <a:xfrm>
            <a:off x="2997200" y="4724400"/>
            <a:ext cx="2540000" cy="228600"/>
          </a:xfrm>
          <a:prstGeom prst="rect">
            <a:avLst/>
          </a:prstGeom>
          <a:noFill/>
        </p:spPr>
        <p:txBody>
          <a:bodyPr vert="horz" wrap="square" lIns="0" tIns="0" rIns="0" bIns="0" rtlCol="0" anchor="t">
            <a:noAutofit/>
          </a:bodyPr>
          <a:lstStyle/>
          <a:p>
            <a:r>
              <a:rPr lang="en-CA" sz="1250" b="1">
                <a:solidFill>
                  <a:srgbClr val="50152C"/>
                </a:solidFill>
                <a:latin typeface="Aptos Display" panose="020B0004020202020204" pitchFamily="34" charset="0"/>
              </a:rPr>
              <a:t>High availability</a:t>
            </a:r>
          </a:p>
        </p:txBody>
      </p:sp>
      <p:sp>
        <p:nvSpPr>
          <p:cNvPr id="34" name="TextBox 33">
            <a:extLst>
              <a:ext uri="{FF2B5EF4-FFF2-40B4-BE49-F238E27FC236}">
                <a16:creationId xmlns:a16="http://schemas.microsoft.com/office/drawing/2014/main" id="{C1D09C92-6314-E30A-428D-458F2A86A3F1}"/>
              </a:ext>
            </a:extLst>
          </p:cNvPr>
          <p:cNvSpPr txBox="1"/>
          <p:nvPr/>
        </p:nvSpPr>
        <p:spPr>
          <a:xfrm>
            <a:off x="2997200" y="5003800"/>
            <a:ext cx="2540000" cy="1143000"/>
          </a:xfrm>
          <a:prstGeom prst="rect">
            <a:avLst/>
          </a:prstGeom>
          <a:noFill/>
        </p:spPr>
        <p:txBody>
          <a:bodyPr vert="horz" wrap="square" lIns="0" tIns="0" rIns="0" bIns="0" rtlCol="0" anchor="t">
            <a:noAutofit/>
          </a:bodyPr>
          <a:lstStyle/>
          <a:p>
            <a:r>
              <a:rPr lang="en-US" sz="1200">
                <a:solidFill>
                  <a:srgbClr val="262626"/>
                </a:solidFill>
                <a:latin typeface="Calibri" panose="020F0502020204030204" pitchFamily="34" charset="0"/>
              </a:rPr>
              <a:t>The load balancers probe each HAProxy VM every five seconds. If one VM or zone fails, the other carries all traffic.</a:t>
            </a:r>
            <a:endParaRPr lang="en-CA" sz="1200">
              <a:solidFill>
                <a:srgbClr val="262626"/>
              </a:solidFill>
              <a:latin typeface="Calibri" panose="020F0502020204030204" pitchFamily="34" charset="0"/>
            </a:endParaRPr>
          </a:p>
        </p:txBody>
      </p:sp>
      <p:sp>
        <p:nvSpPr>
          <p:cNvPr id="35" name="Rectangle: Rounded Corners 34">
            <a:extLst>
              <a:ext uri="{FF2B5EF4-FFF2-40B4-BE49-F238E27FC236}">
                <a16:creationId xmlns:a16="http://schemas.microsoft.com/office/drawing/2014/main" id="{E9D5EE75-4091-7EC9-7152-1B6C2C746ACB}"/>
              </a:ext>
            </a:extLst>
          </p:cNvPr>
          <p:cNvSpPr/>
          <p:nvPr/>
        </p:nvSpPr>
        <p:spPr>
          <a:xfrm>
            <a:off x="5873750" y="4597400"/>
            <a:ext cx="2844800" cy="1625600"/>
          </a:xfrm>
          <a:prstGeom prst="roundRect">
            <a:avLst>
              <a:gd name="adj" fmla="val 6000"/>
            </a:avLst>
          </a:prstGeom>
          <a:solidFill>
            <a:srgbClr val="FCEC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6" name="TextBox 35">
            <a:extLst>
              <a:ext uri="{FF2B5EF4-FFF2-40B4-BE49-F238E27FC236}">
                <a16:creationId xmlns:a16="http://schemas.microsoft.com/office/drawing/2014/main" id="{9F54E406-49C3-4C02-7DA9-33CC916F45D6}"/>
              </a:ext>
            </a:extLst>
          </p:cNvPr>
          <p:cNvSpPr txBox="1"/>
          <p:nvPr/>
        </p:nvSpPr>
        <p:spPr>
          <a:xfrm>
            <a:off x="6026150" y="4724400"/>
            <a:ext cx="2540000" cy="228600"/>
          </a:xfrm>
          <a:prstGeom prst="rect">
            <a:avLst/>
          </a:prstGeom>
          <a:noFill/>
        </p:spPr>
        <p:txBody>
          <a:bodyPr vert="horz" wrap="square" lIns="0" tIns="0" rIns="0" bIns="0" rtlCol="0" anchor="t">
            <a:noAutofit/>
          </a:bodyPr>
          <a:lstStyle/>
          <a:p>
            <a:r>
              <a:rPr lang="en-CA" sz="1250" b="1">
                <a:solidFill>
                  <a:srgbClr val="50152C"/>
                </a:solidFill>
                <a:latin typeface="Aptos Display" panose="020B0004020202020204" pitchFamily="34" charset="0"/>
              </a:rPr>
              <a:t>Approved by name</a:t>
            </a:r>
          </a:p>
        </p:txBody>
      </p:sp>
      <p:sp>
        <p:nvSpPr>
          <p:cNvPr id="37" name="TextBox 36">
            <a:extLst>
              <a:ext uri="{FF2B5EF4-FFF2-40B4-BE49-F238E27FC236}">
                <a16:creationId xmlns:a16="http://schemas.microsoft.com/office/drawing/2014/main" id="{7BCEEA70-2ED2-5C56-3ACB-79C2D2B36F89}"/>
              </a:ext>
            </a:extLst>
          </p:cNvPr>
          <p:cNvSpPr txBox="1"/>
          <p:nvPr/>
        </p:nvSpPr>
        <p:spPr>
          <a:xfrm>
            <a:off x="6026150" y="5003800"/>
            <a:ext cx="2540000" cy="1143000"/>
          </a:xfrm>
          <a:prstGeom prst="rect">
            <a:avLst/>
          </a:prstGeom>
          <a:noFill/>
        </p:spPr>
        <p:txBody>
          <a:bodyPr vert="horz" wrap="square" lIns="0" tIns="0" rIns="0" bIns="0" rtlCol="0" anchor="t">
            <a:noAutofit/>
          </a:bodyPr>
          <a:lstStyle/>
          <a:p>
            <a:r>
              <a:rPr lang="en-US" sz="1200">
                <a:solidFill>
                  <a:srgbClr val="262626"/>
                </a:solidFill>
                <a:latin typeface="Calibri" panose="020F0502020204030204" pitchFamily="34" charset="0"/>
              </a:rPr>
              <a:t>Each private endpoint connection arrives pending. The deploy pipeline approves only those that match the environment’s NCC rules.</a:t>
            </a:r>
            <a:endParaRPr lang="en-CA" sz="1200">
              <a:solidFill>
                <a:srgbClr val="262626"/>
              </a:solidFill>
              <a:latin typeface="Calibri" panose="020F0502020204030204" pitchFamily="34" charset="0"/>
            </a:endParaRPr>
          </a:p>
        </p:txBody>
      </p:sp>
      <p:sp>
        <p:nvSpPr>
          <p:cNvPr id="38" name="Rectangle: Rounded Corners 37">
            <a:extLst>
              <a:ext uri="{FF2B5EF4-FFF2-40B4-BE49-F238E27FC236}">
                <a16:creationId xmlns:a16="http://schemas.microsoft.com/office/drawing/2014/main" id="{12807B09-184F-12FF-C736-F47A37093D49}"/>
              </a:ext>
            </a:extLst>
          </p:cNvPr>
          <p:cNvSpPr/>
          <p:nvPr/>
        </p:nvSpPr>
        <p:spPr>
          <a:xfrm>
            <a:off x="8902700" y="4597400"/>
            <a:ext cx="2844800" cy="1625600"/>
          </a:xfrm>
          <a:prstGeom prst="roundRect">
            <a:avLst>
              <a:gd name="adj" fmla="val 6000"/>
            </a:avLst>
          </a:prstGeom>
          <a:solidFill>
            <a:srgbClr val="FCEC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9" name="TextBox 38">
            <a:extLst>
              <a:ext uri="{FF2B5EF4-FFF2-40B4-BE49-F238E27FC236}">
                <a16:creationId xmlns:a16="http://schemas.microsoft.com/office/drawing/2014/main" id="{C8C3550B-6DD1-BC61-28A6-3A0025F4E984}"/>
              </a:ext>
            </a:extLst>
          </p:cNvPr>
          <p:cNvSpPr txBox="1"/>
          <p:nvPr/>
        </p:nvSpPr>
        <p:spPr>
          <a:xfrm>
            <a:off x="9055100" y="4724400"/>
            <a:ext cx="2540000" cy="228600"/>
          </a:xfrm>
          <a:prstGeom prst="rect">
            <a:avLst/>
          </a:prstGeom>
          <a:noFill/>
        </p:spPr>
        <p:txBody>
          <a:bodyPr vert="horz" wrap="square" lIns="0" tIns="0" rIns="0" bIns="0" rtlCol="0" anchor="t">
            <a:noAutofit/>
          </a:bodyPr>
          <a:lstStyle/>
          <a:p>
            <a:r>
              <a:rPr lang="en-CA" sz="1250" b="1">
                <a:solidFill>
                  <a:srgbClr val="50152C"/>
                </a:solidFill>
                <a:latin typeface="Aptos Display" panose="020B0004020202020204" pitchFamily="34" charset="0"/>
              </a:rPr>
              <a:t>Changes in place</a:t>
            </a:r>
          </a:p>
        </p:txBody>
      </p:sp>
      <p:sp>
        <p:nvSpPr>
          <p:cNvPr id="40" name="TextBox 39">
            <a:extLst>
              <a:ext uri="{FF2B5EF4-FFF2-40B4-BE49-F238E27FC236}">
                <a16:creationId xmlns:a16="http://schemas.microsoft.com/office/drawing/2014/main" id="{6357DF23-60F5-E3AF-6538-310279FB4DC4}"/>
              </a:ext>
            </a:extLst>
          </p:cNvPr>
          <p:cNvSpPr txBox="1"/>
          <p:nvPr/>
        </p:nvSpPr>
        <p:spPr>
          <a:xfrm>
            <a:off x="9055100" y="5003800"/>
            <a:ext cx="2540000" cy="1143000"/>
          </a:xfrm>
          <a:prstGeom prst="rect">
            <a:avLst/>
          </a:prstGeom>
          <a:noFill/>
        </p:spPr>
        <p:txBody>
          <a:bodyPr vert="horz" wrap="square" lIns="0" tIns="0" rIns="0" bIns="0" rtlCol="0" anchor="t">
            <a:noAutofit/>
          </a:bodyPr>
          <a:lstStyle/>
          <a:p>
            <a:r>
              <a:rPr lang="en-US" sz="1200">
                <a:solidFill>
                  <a:srgbClr val="262626"/>
                </a:solidFill>
                <a:latin typeface="Calibri" panose="020F0502020204030204" pitchFamily="34" charset="0"/>
              </a:rPr>
              <a:t>HAProxy resolves each database name through corporate DNS. Adding a database updates both VMs without a rebuild.</a:t>
            </a:r>
            <a:endParaRPr lang="en-CA" sz="1200">
              <a:solidFill>
                <a:srgbClr val="262626"/>
              </a:solidFill>
              <a:latin typeface="Calibri" panose="020F0502020204030204" pitchFamily="34" charset="0"/>
            </a:endParaRPr>
          </a:p>
        </p:txBody>
      </p:sp>
    </p:spTree>
    <p:extLst>
      <p:ext uri="{BB962C8B-B14F-4D97-AF65-F5344CB8AC3E}">
        <p14:creationId xmlns:p14="http://schemas.microsoft.com/office/powerpoint/2010/main" val="12079795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C7148-7147-F83B-49CF-109DECAAEE88}"/>
              </a:ext>
            </a:extLst>
          </p:cNvPr>
          <p:cNvSpPr>
            <a:spLocks noGrp="1"/>
          </p:cNvSpPr>
          <p:nvPr>
            <p:ph type="title"/>
          </p:nvPr>
        </p:nvSpPr>
        <p:spPr/>
        <p:txBody>
          <a:bodyPr>
            <a:normAutofit/>
          </a:bodyPr>
          <a:lstStyle/>
          <a:p>
            <a:r>
              <a:rPr lang="en-US" b="1">
                <a:latin typeface="Aptos Display" panose="020B0004020202020204" pitchFamily="34" charset="0"/>
              </a:rPr>
              <a:t>Data Access and Unity Catalog</a:t>
            </a:r>
            <a:endParaRPr lang="en-CA" b="1">
              <a:latin typeface="Aptos Display" panose="020B0004020202020204" pitchFamily="34" charset="0"/>
            </a:endParaRPr>
          </a:p>
        </p:txBody>
      </p:sp>
      <p:sp>
        <p:nvSpPr>
          <p:cNvPr id="4" name="Rectangle: Rounded Corners 3">
            <a:extLst>
              <a:ext uri="{FF2B5EF4-FFF2-40B4-BE49-F238E27FC236}">
                <a16:creationId xmlns:a16="http://schemas.microsoft.com/office/drawing/2014/main" id="{C60645C5-D4AC-0ABC-A028-B6FDA12FD523}"/>
              </a:ext>
            </a:extLst>
          </p:cNvPr>
          <p:cNvSpPr/>
          <p:nvPr/>
        </p:nvSpPr>
        <p:spPr>
          <a:xfrm>
            <a:off x="10033000" y="1320800"/>
            <a:ext cx="1714500" cy="4902200"/>
          </a:xfrm>
          <a:prstGeom prst="roundRect">
            <a:avLst>
              <a:gd name="adj" fmla="val 5000"/>
            </a:avLst>
          </a:prstGeom>
          <a:solidFill>
            <a:srgbClr val="F2F2F2"/>
          </a:solidFill>
          <a:ln w="9525">
            <a:solidFill>
              <a:srgbClr val="50152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TextBox 4">
            <a:extLst>
              <a:ext uri="{FF2B5EF4-FFF2-40B4-BE49-F238E27FC236}">
                <a16:creationId xmlns:a16="http://schemas.microsoft.com/office/drawing/2014/main" id="{21764787-2B7C-7C51-C5FC-BE208949391C}"/>
              </a:ext>
            </a:extLst>
          </p:cNvPr>
          <p:cNvSpPr txBox="1"/>
          <p:nvPr/>
        </p:nvSpPr>
        <p:spPr>
          <a:xfrm>
            <a:off x="10160000" y="1422400"/>
            <a:ext cx="1460500" cy="381000"/>
          </a:xfrm>
          <a:prstGeom prst="rect">
            <a:avLst/>
          </a:prstGeom>
          <a:noFill/>
        </p:spPr>
        <p:txBody>
          <a:bodyPr vert="horz" wrap="square" lIns="0" tIns="0" rIns="0" bIns="0" rtlCol="0" anchor="t">
            <a:noAutofit/>
          </a:bodyPr>
          <a:lstStyle/>
          <a:p>
            <a:r>
              <a:rPr lang="en-CA" sz="1100" b="1">
                <a:solidFill>
                  <a:srgbClr val="50152C"/>
                </a:solidFill>
                <a:latin typeface="Aptos Display" panose="020B0004020202020204" pitchFamily="34" charset="0"/>
              </a:rPr>
              <a:t>ADLS Gen2 data storage</a:t>
            </a:r>
          </a:p>
        </p:txBody>
      </p:sp>
      <p:sp>
        <p:nvSpPr>
          <p:cNvPr id="6" name="TextBox 5">
            <a:extLst>
              <a:ext uri="{FF2B5EF4-FFF2-40B4-BE49-F238E27FC236}">
                <a16:creationId xmlns:a16="http://schemas.microsoft.com/office/drawing/2014/main" id="{52337612-B0C9-BC1B-E29A-FDB72C6F1239}"/>
              </a:ext>
            </a:extLst>
          </p:cNvPr>
          <p:cNvSpPr txBox="1"/>
          <p:nvPr/>
        </p:nvSpPr>
        <p:spPr>
          <a:xfrm>
            <a:off x="10160000" y="1879600"/>
            <a:ext cx="1460500" cy="812800"/>
          </a:xfrm>
          <a:prstGeom prst="rect">
            <a:avLst/>
          </a:prstGeom>
          <a:noFill/>
        </p:spPr>
        <p:txBody>
          <a:bodyPr vert="horz" wrap="square" lIns="0" tIns="0" rIns="0" bIns="0" rtlCol="0" anchor="t">
            <a:noAutofit/>
          </a:bodyPr>
          <a:lstStyle/>
          <a:p>
            <a:r>
              <a:rPr lang="en-US" sz="1000">
                <a:solidFill>
                  <a:srgbClr val="262626"/>
                </a:solidFill>
                <a:latin typeface="Calibri" panose="020F0502020204030204" pitchFamily="34" charset="0"/>
              </a:rPr>
              <a:t>Zone-redundant. No public network access and no shared keys.</a:t>
            </a:r>
            <a:endParaRPr lang="en-CA" sz="1000">
              <a:solidFill>
                <a:srgbClr val="262626"/>
              </a:solidFill>
              <a:latin typeface="Calibri" panose="020F0502020204030204" pitchFamily="34" charset="0"/>
            </a:endParaRPr>
          </a:p>
        </p:txBody>
      </p:sp>
      <p:sp>
        <p:nvSpPr>
          <p:cNvPr id="7" name="Rectangle: Rounded Corners 6">
            <a:extLst>
              <a:ext uri="{FF2B5EF4-FFF2-40B4-BE49-F238E27FC236}">
                <a16:creationId xmlns:a16="http://schemas.microsoft.com/office/drawing/2014/main" id="{A629BAA6-520E-5FB1-202D-779A59530E87}"/>
              </a:ext>
            </a:extLst>
          </p:cNvPr>
          <p:cNvSpPr/>
          <p:nvPr/>
        </p:nvSpPr>
        <p:spPr>
          <a:xfrm>
            <a:off x="10160000" y="4826000"/>
            <a:ext cx="1460500" cy="508000"/>
          </a:xfrm>
          <a:prstGeom prst="roundRect">
            <a:avLst>
              <a:gd name="adj" fmla="val 10000"/>
            </a:avLst>
          </a:prstGeom>
          <a:solidFill>
            <a:srgbClr val="FFFFFF"/>
          </a:solidFill>
          <a:ln w="9525">
            <a:solidFill>
              <a:srgbClr val="F68D2E"/>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0" rIns="50800" bIns="0" rtlCol="0" anchor="ctr">
            <a:noAutofit/>
          </a:bodyPr>
          <a:lstStyle/>
          <a:p>
            <a:pPr algn="ctr"/>
            <a:r>
              <a:rPr lang="en-CA" sz="1000" b="1">
                <a:solidFill>
                  <a:srgbClr val="50152C"/>
                </a:solidFill>
                <a:latin typeface="Calibri" panose="020F0502020204030204" pitchFamily="34" charset="0"/>
              </a:rPr>
              <a:t>unity-catalog container</a:t>
            </a:r>
          </a:p>
        </p:txBody>
      </p:sp>
      <p:sp>
        <p:nvSpPr>
          <p:cNvPr id="8" name="Rectangle: Rounded Corners 7">
            <a:extLst>
              <a:ext uri="{FF2B5EF4-FFF2-40B4-BE49-F238E27FC236}">
                <a16:creationId xmlns:a16="http://schemas.microsoft.com/office/drawing/2014/main" id="{1E1B21DF-26DF-C477-D420-45573E59B192}"/>
              </a:ext>
            </a:extLst>
          </p:cNvPr>
          <p:cNvSpPr/>
          <p:nvPr/>
        </p:nvSpPr>
        <p:spPr>
          <a:xfrm>
            <a:off x="10160000" y="5435600"/>
            <a:ext cx="1460500" cy="508000"/>
          </a:xfrm>
          <a:prstGeom prst="roundRect">
            <a:avLst>
              <a:gd name="adj" fmla="val 10000"/>
            </a:avLst>
          </a:prstGeom>
          <a:solidFill>
            <a:srgbClr val="FFFFFF"/>
          </a:solidFill>
          <a:ln w="9525">
            <a:solidFill>
              <a:srgbClr val="BFBFBF"/>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0" rIns="50800" bIns="0" rtlCol="0" anchor="ctr">
            <a:noAutofit/>
          </a:bodyPr>
          <a:lstStyle/>
          <a:p>
            <a:pPr algn="ctr"/>
            <a:r>
              <a:rPr lang="en-CA" sz="1000" b="1">
                <a:solidFill>
                  <a:srgbClr val="262626"/>
                </a:solidFill>
                <a:latin typeface="Calibri" panose="020F0502020204030204" pitchFamily="34" charset="0"/>
              </a:rPr>
              <a:t>Data containers</a:t>
            </a:r>
          </a:p>
        </p:txBody>
      </p:sp>
      <p:sp>
        <p:nvSpPr>
          <p:cNvPr id="9" name="TextBox 8">
            <a:extLst>
              <a:ext uri="{FF2B5EF4-FFF2-40B4-BE49-F238E27FC236}">
                <a16:creationId xmlns:a16="http://schemas.microsoft.com/office/drawing/2014/main" id="{F2343BBA-D451-7F69-CDCF-1343ED0AE8D9}"/>
              </a:ext>
            </a:extLst>
          </p:cNvPr>
          <p:cNvSpPr txBox="1"/>
          <p:nvPr/>
        </p:nvSpPr>
        <p:spPr>
          <a:xfrm>
            <a:off x="2844800" y="1320800"/>
            <a:ext cx="6858000" cy="203200"/>
          </a:xfrm>
          <a:prstGeom prst="rect">
            <a:avLst/>
          </a:prstGeom>
          <a:noFill/>
        </p:spPr>
        <p:txBody>
          <a:bodyPr vert="horz" wrap="square" lIns="0" tIns="0" rIns="0" bIns="0" rtlCol="0" anchor="t">
            <a:noAutofit/>
          </a:bodyPr>
          <a:lstStyle/>
          <a:p>
            <a:r>
              <a:rPr lang="en-US" sz="1100" b="1">
                <a:solidFill>
                  <a:srgbClr val="50152C"/>
                </a:solidFill>
                <a:latin typeface="Aptos Display" panose="020B0004020202020204" pitchFamily="34" charset="0"/>
              </a:rPr>
              <a:t>Network path to the data</a:t>
            </a:r>
            <a:endParaRPr lang="en-CA" sz="1100" b="1">
              <a:solidFill>
                <a:srgbClr val="50152C"/>
              </a:solidFill>
              <a:latin typeface="Aptos Display" panose="020B0004020202020204" pitchFamily="34" charset="0"/>
            </a:endParaRPr>
          </a:p>
        </p:txBody>
      </p:sp>
      <p:sp>
        <p:nvSpPr>
          <p:cNvPr id="10" name="Rectangle: Rounded Corners 9">
            <a:extLst>
              <a:ext uri="{FF2B5EF4-FFF2-40B4-BE49-F238E27FC236}">
                <a16:creationId xmlns:a16="http://schemas.microsoft.com/office/drawing/2014/main" id="{36920211-4492-4A62-88E9-8DA3B73975A2}"/>
              </a:ext>
            </a:extLst>
          </p:cNvPr>
          <p:cNvSpPr/>
          <p:nvPr/>
        </p:nvSpPr>
        <p:spPr>
          <a:xfrm>
            <a:off x="2844800" y="1600200"/>
            <a:ext cx="2032000" cy="685800"/>
          </a:xfrm>
          <a:prstGeom prst="roundRect">
            <a:avLst>
              <a:gd name="adj" fmla="val 10000"/>
            </a:avLst>
          </a:prstGeom>
          <a:solidFill>
            <a:srgbClr val="FCEC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CA" sz="1000" b="1">
                <a:solidFill>
                  <a:srgbClr val="50152C"/>
                </a:solidFill>
                <a:latin typeface="Calibri" panose="020F0502020204030204" pitchFamily="34" charset="0"/>
              </a:rPr>
              <a:t>Classic compute</a:t>
            </a:r>
          </a:p>
          <a:p>
            <a:pPr algn="ctr"/>
            <a:r>
              <a:rPr lang="en-CA" sz="1000">
                <a:solidFill>
                  <a:srgbClr val="50152C"/>
                </a:solidFill>
                <a:latin typeface="Calibri" panose="020F0502020204030204" pitchFamily="34" charset="0"/>
              </a:rPr>
              <a:t>spoke subnets</a:t>
            </a:r>
          </a:p>
        </p:txBody>
      </p:sp>
      <p:sp>
        <p:nvSpPr>
          <p:cNvPr id="11" name="Rectangle: Rounded Corners 10">
            <a:extLst>
              <a:ext uri="{FF2B5EF4-FFF2-40B4-BE49-F238E27FC236}">
                <a16:creationId xmlns:a16="http://schemas.microsoft.com/office/drawing/2014/main" id="{5E608951-8D78-8D6C-17B2-F2416BF256B8}"/>
              </a:ext>
            </a:extLst>
          </p:cNvPr>
          <p:cNvSpPr/>
          <p:nvPr/>
        </p:nvSpPr>
        <p:spPr>
          <a:xfrm>
            <a:off x="5257800" y="1600200"/>
            <a:ext cx="2489200" cy="685800"/>
          </a:xfrm>
          <a:prstGeom prst="roundRect">
            <a:avLst>
              <a:gd name="adj" fmla="val 10000"/>
            </a:avLst>
          </a:prstGeom>
          <a:solidFill>
            <a:srgbClr val="FFFFFF"/>
          </a:solidFill>
          <a:ln w="9525">
            <a:solidFill>
              <a:srgbClr val="F8D7CD"/>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0" rIns="50800" bIns="0" rtlCol="0" anchor="ctr">
            <a:noAutofit/>
          </a:bodyPr>
          <a:lstStyle/>
          <a:p>
            <a:pPr algn="ctr"/>
            <a:r>
              <a:rPr lang="en-US" sz="1000" b="1">
                <a:solidFill>
                  <a:srgbClr val="50152C"/>
                </a:solidFill>
                <a:latin typeface="Calibri" panose="020F0502020204030204" pitchFamily="34" charset="0"/>
              </a:rPr>
              <a:t>Spoke private endpoints</a:t>
            </a:r>
          </a:p>
          <a:p>
            <a:pPr algn="ctr"/>
            <a:r>
              <a:rPr lang="en-US" sz="1000">
                <a:solidFill>
                  <a:srgbClr val="50152C"/>
                </a:solidFill>
                <a:latin typeface="Calibri" panose="020F0502020204030204" pitchFamily="34" charset="0"/>
              </a:rPr>
              <a:t>blob and dfs, fixed addresses</a:t>
            </a:r>
            <a:endParaRPr lang="en-CA" sz="1000">
              <a:solidFill>
                <a:srgbClr val="50152C"/>
              </a:solidFill>
              <a:latin typeface="Calibri" panose="020F0502020204030204" pitchFamily="34" charset="0"/>
            </a:endParaRPr>
          </a:p>
        </p:txBody>
      </p:sp>
      <p:sp>
        <p:nvSpPr>
          <p:cNvPr id="12" name="Rectangle: Rounded Corners 11">
            <a:extLst>
              <a:ext uri="{FF2B5EF4-FFF2-40B4-BE49-F238E27FC236}">
                <a16:creationId xmlns:a16="http://schemas.microsoft.com/office/drawing/2014/main" id="{A32EAE5B-F97B-9BF8-7D84-B05F3429181B}"/>
              </a:ext>
            </a:extLst>
          </p:cNvPr>
          <p:cNvSpPr/>
          <p:nvPr/>
        </p:nvSpPr>
        <p:spPr>
          <a:xfrm>
            <a:off x="2844800" y="2438400"/>
            <a:ext cx="2032000" cy="685800"/>
          </a:xfrm>
          <a:prstGeom prst="roundRect">
            <a:avLst>
              <a:gd name="adj" fmla="val 10000"/>
            </a:avLst>
          </a:prstGeom>
          <a:solidFill>
            <a:srgbClr val="50152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CA" sz="1000" b="1">
                <a:solidFill>
                  <a:srgbClr val="FFFFFF"/>
                </a:solidFill>
                <a:latin typeface="Calibri" panose="020F0502020204030204" pitchFamily="34" charset="0"/>
              </a:rPr>
              <a:t>Serverless compute</a:t>
            </a:r>
          </a:p>
          <a:p>
            <a:pPr algn="ctr"/>
            <a:r>
              <a:rPr lang="en-CA" sz="1000">
                <a:solidFill>
                  <a:srgbClr val="FFFFFF"/>
                </a:solidFill>
                <a:latin typeface="Calibri" panose="020F0502020204030204" pitchFamily="34" charset="0"/>
              </a:rPr>
              <a:t>Databricks-managed</a:t>
            </a:r>
          </a:p>
        </p:txBody>
      </p:sp>
      <p:sp>
        <p:nvSpPr>
          <p:cNvPr id="13" name="Rectangle: Rounded Corners 12">
            <a:extLst>
              <a:ext uri="{FF2B5EF4-FFF2-40B4-BE49-F238E27FC236}">
                <a16:creationId xmlns:a16="http://schemas.microsoft.com/office/drawing/2014/main" id="{4BCF305F-9CD2-3454-22B2-70D09EFBDD8C}"/>
              </a:ext>
            </a:extLst>
          </p:cNvPr>
          <p:cNvSpPr/>
          <p:nvPr/>
        </p:nvSpPr>
        <p:spPr>
          <a:xfrm>
            <a:off x="5257800" y="2438400"/>
            <a:ext cx="2489200" cy="685800"/>
          </a:xfrm>
          <a:prstGeom prst="roundRect">
            <a:avLst>
              <a:gd name="adj" fmla="val 10000"/>
            </a:avLst>
          </a:prstGeom>
          <a:solidFill>
            <a:srgbClr val="FFFFFF"/>
          </a:solidFill>
          <a:ln w="9525">
            <a:solidFill>
              <a:srgbClr val="F8D7CD"/>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0" rIns="50800" bIns="0" rtlCol="0" anchor="ctr">
            <a:noAutofit/>
          </a:bodyPr>
          <a:lstStyle/>
          <a:p>
            <a:pPr algn="ctr"/>
            <a:r>
              <a:rPr lang="en-US" sz="1000" b="1">
                <a:solidFill>
                  <a:srgbClr val="50152C"/>
                </a:solidFill>
                <a:latin typeface="Calibri" panose="020F0502020204030204" pitchFamily="34" charset="0"/>
              </a:rPr>
              <a:t>NCC private endpoints</a:t>
            </a:r>
          </a:p>
          <a:p>
            <a:pPr algn="ctr"/>
            <a:r>
              <a:rPr lang="en-US" sz="1000">
                <a:solidFill>
                  <a:srgbClr val="50152C"/>
                </a:solidFill>
                <a:latin typeface="Calibri" panose="020F0502020204030204" pitchFamily="34" charset="0"/>
              </a:rPr>
              <a:t>blob and dfs</a:t>
            </a:r>
            <a:endParaRPr lang="en-CA" sz="1000">
              <a:solidFill>
                <a:srgbClr val="50152C"/>
              </a:solidFill>
              <a:latin typeface="Calibri" panose="020F0502020204030204" pitchFamily="34" charset="0"/>
            </a:endParaRPr>
          </a:p>
        </p:txBody>
      </p:sp>
      <p:cxnSp>
        <p:nvCxnSpPr>
          <p:cNvPr id="14" name="Straight Connector 13">
            <a:extLst>
              <a:ext uri="{FF2B5EF4-FFF2-40B4-BE49-F238E27FC236}">
                <a16:creationId xmlns:a16="http://schemas.microsoft.com/office/drawing/2014/main" id="{F6C6AF00-A661-7AE9-BDC0-CB5039A9D4EE}"/>
              </a:ext>
            </a:extLst>
          </p:cNvPr>
          <p:cNvCxnSpPr/>
          <p:nvPr/>
        </p:nvCxnSpPr>
        <p:spPr>
          <a:xfrm>
            <a:off x="4876800" y="1943100"/>
            <a:ext cx="381000" cy="0"/>
          </a:xfrm>
          <a:prstGeom prst="line">
            <a:avLst/>
          </a:prstGeom>
          <a:ln w="15875">
            <a:solidFill>
              <a:srgbClr val="ED7D31"/>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DBE5A76-14E5-FB24-0B86-6D462E9384AB}"/>
              </a:ext>
            </a:extLst>
          </p:cNvPr>
          <p:cNvCxnSpPr/>
          <p:nvPr/>
        </p:nvCxnSpPr>
        <p:spPr>
          <a:xfrm>
            <a:off x="7747000" y="1943100"/>
            <a:ext cx="2286000" cy="0"/>
          </a:xfrm>
          <a:prstGeom prst="line">
            <a:avLst/>
          </a:prstGeom>
          <a:ln w="15875">
            <a:solidFill>
              <a:srgbClr val="ED7D31"/>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EF94B11-8A3E-C5F0-E059-C570F77A8C3B}"/>
              </a:ext>
            </a:extLst>
          </p:cNvPr>
          <p:cNvCxnSpPr/>
          <p:nvPr/>
        </p:nvCxnSpPr>
        <p:spPr>
          <a:xfrm>
            <a:off x="4876800" y="2781300"/>
            <a:ext cx="381000" cy="0"/>
          </a:xfrm>
          <a:prstGeom prst="line">
            <a:avLst/>
          </a:prstGeom>
          <a:ln w="15875">
            <a:solidFill>
              <a:srgbClr val="50152C"/>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556E796-6C94-349F-20BD-A02B230ECD63}"/>
              </a:ext>
            </a:extLst>
          </p:cNvPr>
          <p:cNvCxnSpPr/>
          <p:nvPr/>
        </p:nvCxnSpPr>
        <p:spPr>
          <a:xfrm>
            <a:off x="7747000" y="2781300"/>
            <a:ext cx="2286000" cy="0"/>
          </a:xfrm>
          <a:prstGeom prst="line">
            <a:avLst/>
          </a:prstGeom>
          <a:ln w="15875">
            <a:solidFill>
              <a:srgbClr val="50152C"/>
            </a:solidFill>
            <a:tailEnd type="triangle" w="med" len="med"/>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83691357-B1D3-48D4-3BBC-4D849FFBF46A}"/>
              </a:ext>
            </a:extLst>
          </p:cNvPr>
          <p:cNvSpPr txBox="1"/>
          <p:nvPr/>
        </p:nvSpPr>
        <p:spPr>
          <a:xfrm>
            <a:off x="2844800" y="3378200"/>
            <a:ext cx="6858000" cy="203200"/>
          </a:xfrm>
          <a:prstGeom prst="rect">
            <a:avLst/>
          </a:prstGeom>
          <a:noFill/>
        </p:spPr>
        <p:txBody>
          <a:bodyPr vert="horz" wrap="square" lIns="0" tIns="0" rIns="0" bIns="0" rtlCol="0" anchor="t">
            <a:noAutofit/>
          </a:bodyPr>
          <a:lstStyle/>
          <a:p>
            <a:r>
              <a:rPr lang="en-US" sz="1100" b="1">
                <a:solidFill>
                  <a:srgbClr val="50152C"/>
                </a:solidFill>
                <a:latin typeface="Aptos Display" panose="020B0004020202020204" pitchFamily="34" charset="0"/>
              </a:rPr>
              <a:t>Unity Catalog access to the data</a:t>
            </a:r>
            <a:endParaRPr lang="en-CA" sz="1100" b="1">
              <a:solidFill>
                <a:srgbClr val="50152C"/>
              </a:solidFill>
              <a:latin typeface="Aptos Display" panose="020B0004020202020204" pitchFamily="34" charset="0"/>
            </a:endParaRPr>
          </a:p>
        </p:txBody>
      </p:sp>
      <p:sp>
        <p:nvSpPr>
          <p:cNvPr id="19" name="Rectangle: Rounded Corners 18">
            <a:extLst>
              <a:ext uri="{FF2B5EF4-FFF2-40B4-BE49-F238E27FC236}">
                <a16:creationId xmlns:a16="http://schemas.microsoft.com/office/drawing/2014/main" id="{6C86C694-3034-AC91-4238-02D8C7A4909C}"/>
              </a:ext>
            </a:extLst>
          </p:cNvPr>
          <p:cNvSpPr/>
          <p:nvPr/>
        </p:nvSpPr>
        <p:spPr>
          <a:xfrm>
            <a:off x="2844800" y="3657600"/>
            <a:ext cx="1524000" cy="787400"/>
          </a:xfrm>
          <a:prstGeom prst="roundRect">
            <a:avLst>
              <a:gd name="adj" fmla="val 10000"/>
            </a:avLst>
          </a:prstGeom>
          <a:solidFill>
            <a:srgbClr val="FCEC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US" sz="1000" b="1">
                <a:solidFill>
                  <a:srgbClr val="50152C"/>
                </a:solidFill>
                <a:latin typeface="Calibri" panose="020F0502020204030204" pitchFamily="34" charset="0"/>
              </a:rPr>
              <a:t>Databricks workspace</a:t>
            </a:r>
          </a:p>
          <a:p>
            <a:pPr algn="ctr"/>
            <a:r>
              <a:rPr lang="en-US" sz="1000">
                <a:solidFill>
                  <a:srgbClr val="50152C"/>
                </a:solidFill>
                <a:latin typeface="Calibri" panose="020F0502020204030204" pitchFamily="34" charset="0"/>
              </a:rPr>
              <a:t>assigned to the metastore</a:t>
            </a:r>
            <a:endParaRPr lang="en-CA" sz="1000">
              <a:solidFill>
                <a:srgbClr val="50152C"/>
              </a:solidFill>
              <a:latin typeface="Calibri" panose="020F0502020204030204" pitchFamily="34" charset="0"/>
            </a:endParaRPr>
          </a:p>
        </p:txBody>
      </p:sp>
      <p:sp>
        <p:nvSpPr>
          <p:cNvPr id="20" name="Rectangle: Rounded Corners 19">
            <a:extLst>
              <a:ext uri="{FF2B5EF4-FFF2-40B4-BE49-F238E27FC236}">
                <a16:creationId xmlns:a16="http://schemas.microsoft.com/office/drawing/2014/main" id="{CBC44E21-481E-CB73-0222-B8AC60FC1DD7}"/>
              </a:ext>
            </a:extLst>
          </p:cNvPr>
          <p:cNvSpPr/>
          <p:nvPr/>
        </p:nvSpPr>
        <p:spPr>
          <a:xfrm>
            <a:off x="4622800" y="3657600"/>
            <a:ext cx="1524000" cy="787400"/>
          </a:xfrm>
          <a:prstGeom prst="roundRect">
            <a:avLst>
              <a:gd name="adj" fmla="val 10000"/>
            </a:avLst>
          </a:prstGeom>
          <a:solidFill>
            <a:srgbClr val="F2F2F2"/>
          </a:solidFill>
          <a:ln w="9525">
            <a:solidFill>
              <a:srgbClr val="BFBFBF"/>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0" rIns="50800" bIns="0" rtlCol="0" anchor="ctr">
            <a:noAutofit/>
          </a:bodyPr>
          <a:lstStyle/>
          <a:p>
            <a:pPr algn="ctr"/>
            <a:r>
              <a:rPr lang="en-US" sz="1000" b="1">
                <a:solidFill>
                  <a:srgbClr val="50152C"/>
                </a:solidFill>
                <a:latin typeface="Calibri" panose="020F0502020204030204" pitchFamily="34" charset="0"/>
              </a:rPr>
              <a:t>Unity Catalog metastore</a:t>
            </a:r>
          </a:p>
          <a:p>
            <a:pPr algn="ctr"/>
            <a:r>
              <a:rPr lang="en-US" sz="1000">
                <a:solidFill>
                  <a:srgbClr val="50152C"/>
                </a:solidFill>
                <a:latin typeface="Calibri" panose="020F0502020204030204" pitchFamily="34" charset="0"/>
              </a:rPr>
              <a:t>owned by Baytex BI</a:t>
            </a:r>
            <a:endParaRPr lang="en-CA" sz="1000">
              <a:solidFill>
                <a:srgbClr val="50152C"/>
              </a:solidFill>
              <a:latin typeface="Calibri" panose="020F0502020204030204" pitchFamily="34" charset="0"/>
            </a:endParaRPr>
          </a:p>
        </p:txBody>
      </p:sp>
      <p:sp>
        <p:nvSpPr>
          <p:cNvPr id="21" name="Rectangle: Rounded Corners 20">
            <a:extLst>
              <a:ext uri="{FF2B5EF4-FFF2-40B4-BE49-F238E27FC236}">
                <a16:creationId xmlns:a16="http://schemas.microsoft.com/office/drawing/2014/main" id="{8F0C778D-F07F-E16D-F1A1-F2C2A13DDA5A}"/>
              </a:ext>
            </a:extLst>
          </p:cNvPr>
          <p:cNvSpPr/>
          <p:nvPr/>
        </p:nvSpPr>
        <p:spPr>
          <a:xfrm>
            <a:off x="6400800" y="3657600"/>
            <a:ext cx="1651000" cy="787400"/>
          </a:xfrm>
          <a:prstGeom prst="roundRect">
            <a:avLst>
              <a:gd name="adj" fmla="val 10000"/>
            </a:avLst>
          </a:prstGeom>
          <a:solidFill>
            <a:srgbClr val="F8D7C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US" sz="1000" b="1">
                <a:solidFill>
                  <a:srgbClr val="50152C"/>
                </a:solidFill>
                <a:latin typeface="Calibri" panose="020F0502020204030204" pitchFamily="34" charset="0"/>
              </a:rPr>
              <a:t>Storage credential</a:t>
            </a:r>
          </a:p>
          <a:p>
            <a:pPr algn="ctr"/>
            <a:r>
              <a:rPr lang="en-US" sz="1000">
                <a:solidFill>
                  <a:srgbClr val="50152C"/>
                </a:solidFill>
                <a:latin typeface="Calibri" panose="020F0502020204030204" pitchFamily="34" charset="0"/>
              </a:rPr>
              <a:t>one per environment</a:t>
            </a:r>
            <a:endParaRPr lang="en-CA" sz="1000">
              <a:solidFill>
                <a:srgbClr val="50152C"/>
              </a:solidFill>
              <a:latin typeface="Calibri" panose="020F0502020204030204" pitchFamily="34" charset="0"/>
            </a:endParaRPr>
          </a:p>
        </p:txBody>
      </p:sp>
      <p:sp>
        <p:nvSpPr>
          <p:cNvPr id="22" name="Rectangle: Rounded Corners 21">
            <a:extLst>
              <a:ext uri="{FF2B5EF4-FFF2-40B4-BE49-F238E27FC236}">
                <a16:creationId xmlns:a16="http://schemas.microsoft.com/office/drawing/2014/main" id="{E8BA0727-4619-DA61-39A2-59C4FB70510C}"/>
              </a:ext>
            </a:extLst>
          </p:cNvPr>
          <p:cNvSpPr/>
          <p:nvPr/>
        </p:nvSpPr>
        <p:spPr>
          <a:xfrm>
            <a:off x="8305800" y="3657600"/>
            <a:ext cx="1473200" cy="787400"/>
          </a:xfrm>
          <a:prstGeom prst="roundRect">
            <a:avLst>
              <a:gd name="adj" fmla="val 10000"/>
            </a:avLst>
          </a:prstGeom>
          <a:solidFill>
            <a:srgbClr val="F8D7C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CA" sz="1000" b="1">
                <a:solidFill>
                  <a:srgbClr val="50152C"/>
                </a:solidFill>
                <a:latin typeface="Calibri" panose="020F0502020204030204" pitchFamily="34" charset="0"/>
              </a:rPr>
              <a:t>Access Connector</a:t>
            </a:r>
          </a:p>
          <a:p>
            <a:pPr algn="ctr"/>
            <a:r>
              <a:rPr lang="en-CA" sz="1000">
                <a:solidFill>
                  <a:srgbClr val="50152C"/>
                </a:solidFill>
                <a:latin typeface="Calibri" panose="020F0502020204030204" pitchFamily="34" charset="0"/>
              </a:rPr>
              <a:t>managed identity</a:t>
            </a:r>
          </a:p>
        </p:txBody>
      </p:sp>
      <p:cxnSp>
        <p:nvCxnSpPr>
          <p:cNvPr id="23" name="Straight Connector 22">
            <a:extLst>
              <a:ext uri="{FF2B5EF4-FFF2-40B4-BE49-F238E27FC236}">
                <a16:creationId xmlns:a16="http://schemas.microsoft.com/office/drawing/2014/main" id="{EC02FB7E-1F9B-790F-60FA-D394B7A789EB}"/>
              </a:ext>
            </a:extLst>
          </p:cNvPr>
          <p:cNvCxnSpPr/>
          <p:nvPr/>
        </p:nvCxnSpPr>
        <p:spPr>
          <a:xfrm>
            <a:off x="4368800" y="4051300"/>
            <a:ext cx="254000" cy="0"/>
          </a:xfrm>
          <a:prstGeom prst="line">
            <a:avLst/>
          </a:prstGeom>
          <a:ln w="15875">
            <a:solidFill>
              <a:srgbClr val="262626"/>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232E276-FFE1-12A8-8B91-23731B050CEE}"/>
              </a:ext>
            </a:extLst>
          </p:cNvPr>
          <p:cNvCxnSpPr/>
          <p:nvPr/>
        </p:nvCxnSpPr>
        <p:spPr>
          <a:xfrm>
            <a:off x="6146800" y="4051300"/>
            <a:ext cx="254000" cy="0"/>
          </a:xfrm>
          <a:prstGeom prst="line">
            <a:avLst/>
          </a:prstGeom>
          <a:ln w="15875">
            <a:solidFill>
              <a:srgbClr val="262626"/>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033B329-97FA-C6A9-A195-F6FED1AA96C5}"/>
              </a:ext>
            </a:extLst>
          </p:cNvPr>
          <p:cNvCxnSpPr/>
          <p:nvPr/>
        </p:nvCxnSpPr>
        <p:spPr>
          <a:xfrm>
            <a:off x="8051800" y="4051300"/>
            <a:ext cx="254000" cy="0"/>
          </a:xfrm>
          <a:prstGeom prst="line">
            <a:avLst/>
          </a:prstGeom>
          <a:ln w="15875">
            <a:solidFill>
              <a:srgbClr val="262626"/>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400E550-D795-CF65-3AD7-60CD16070C16}"/>
              </a:ext>
            </a:extLst>
          </p:cNvPr>
          <p:cNvCxnSpPr/>
          <p:nvPr/>
        </p:nvCxnSpPr>
        <p:spPr>
          <a:xfrm>
            <a:off x="9779000" y="4051300"/>
            <a:ext cx="254000" cy="0"/>
          </a:xfrm>
          <a:prstGeom prst="line">
            <a:avLst/>
          </a:prstGeom>
          <a:ln w="15875">
            <a:solidFill>
              <a:srgbClr val="262626"/>
            </a:solidFill>
            <a:tailEnd type="triangle" w="med" len="med"/>
          </a:ln>
        </p:spPr>
        <p:style>
          <a:lnRef idx="1">
            <a:schemeClr val="accent1"/>
          </a:lnRef>
          <a:fillRef idx="0">
            <a:schemeClr val="accent1"/>
          </a:fillRef>
          <a:effectRef idx="0">
            <a:schemeClr val="accent1"/>
          </a:effectRef>
          <a:fontRef idx="minor">
            <a:schemeClr val="tx1"/>
          </a:fontRef>
        </p:style>
      </p:cxnSp>
      <p:sp>
        <p:nvSpPr>
          <p:cNvPr id="27" name="Rectangle: Rounded Corners 26">
            <a:extLst>
              <a:ext uri="{FF2B5EF4-FFF2-40B4-BE49-F238E27FC236}">
                <a16:creationId xmlns:a16="http://schemas.microsoft.com/office/drawing/2014/main" id="{B6CAA31F-1CDB-0473-C3D6-34E06801E2DA}"/>
              </a:ext>
            </a:extLst>
          </p:cNvPr>
          <p:cNvSpPr/>
          <p:nvPr/>
        </p:nvSpPr>
        <p:spPr>
          <a:xfrm>
            <a:off x="6400800" y="4724400"/>
            <a:ext cx="3378200" cy="711200"/>
          </a:xfrm>
          <a:prstGeom prst="roundRect">
            <a:avLst>
              <a:gd name="adj" fmla="val 10000"/>
            </a:avLst>
          </a:prstGeom>
          <a:solidFill>
            <a:srgbClr val="F8D7C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US" sz="1000" b="1">
                <a:solidFill>
                  <a:srgbClr val="50152C"/>
                </a:solidFill>
                <a:latin typeface="Calibri" panose="020F0502020204030204" pitchFamily="34" charset="0"/>
              </a:rPr>
              <a:t>External location</a:t>
            </a:r>
          </a:p>
          <a:p>
            <a:pPr algn="ctr"/>
            <a:r>
              <a:rPr lang="en-US" sz="1000">
                <a:solidFill>
                  <a:srgbClr val="50152C"/>
                </a:solidFill>
                <a:latin typeface="Calibri" panose="020F0502020204030204" pitchFamily="34" charset="0"/>
              </a:rPr>
              <a:t>covers the unity-catalog container</a:t>
            </a:r>
            <a:endParaRPr lang="en-CA" sz="1000">
              <a:solidFill>
                <a:srgbClr val="50152C"/>
              </a:solidFill>
              <a:latin typeface="Calibri" panose="020F0502020204030204" pitchFamily="34" charset="0"/>
            </a:endParaRPr>
          </a:p>
        </p:txBody>
      </p:sp>
      <p:cxnSp>
        <p:nvCxnSpPr>
          <p:cNvPr id="28" name="Straight Connector 27">
            <a:extLst>
              <a:ext uri="{FF2B5EF4-FFF2-40B4-BE49-F238E27FC236}">
                <a16:creationId xmlns:a16="http://schemas.microsoft.com/office/drawing/2014/main" id="{B38A3470-1443-C3F6-3D4B-F63BC9B5E120}"/>
              </a:ext>
            </a:extLst>
          </p:cNvPr>
          <p:cNvCxnSpPr/>
          <p:nvPr/>
        </p:nvCxnSpPr>
        <p:spPr>
          <a:xfrm>
            <a:off x="7226300" y="4445000"/>
            <a:ext cx="0" cy="279400"/>
          </a:xfrm>
          <a:prstGeom prst="line">
            <a:avLst/>
          </a:prstGeom>
          <a:ln w="15875">
            <a:solidFill>
              <a:srgbClr val="262626"/>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C3BA9E12-BFED-A7FF-DD20-7AA6622B1933}"/>
              </a:ext>
            </a:extLst>
          </p:cNvPr>
          <p:cNvCxnSpPr/>
          <p:nvPr/>
        </p:nvCxnSpPr>
        <p:spPr>
          <a:xfrm>
            <a:off x="9779000" y="5080000"/>
            <a:ext cx="381000" cy="0"/>
          </a:xfrm>
          <a:prstGeom prst="line">
            <a:avLst/>
          </a:prstGeom>
          <a:ln w="15875">
            <a:solidFill>
              <a:srgbClr val="262626"/>
            </a:solidFill>
            <a:tailEnd type="triangle" w="med" len="med"/>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4B118B6B-8391-B258-C679-5A4B763D3994}"/>
              </a:ext>
            </a:extLst>
          </p:cNvPr>
          <p:cNvSpPr txBox="1"/>
          <p:nvPr/>
        </p:nvSpPr>
        <p:spPr>
          <a:xfrm>
            <a:off x="2844800" y="5638800"/>
            <a:ext cx="6934200" cy="584200"/>
          </a:xfrm>
          <a:prstGeom prst="rect">
            <a:avLst/>
          </a:prstGeom>
          <a:noFill/>
        </p:spPr>
        <p:txBody>
          <a:bodyPr vert="horz" wrap="square" lIns="0" tIns="0" rIns="0" bIns="0" rtlCol="0" anchor="t">
            <a:noAutofit/>
          </a:bodyPr>
          <a:lstStyle/>
          <a:p>
            <a:r>
              <a:rPr lang="en-CA" sz="1050">
                <a:solidFill>
                  <a:srgbClr val="595959"/>
                </a:solidFill>
                <a:latin typeface="Calibri" panose="020F0502020204030204" pitchFamily="34" charset="0"/>
              </a:rPr>
              <a:t>Names: sc_bte_dbx_&lt;env&gt;_data_cnc_001 and el_bte_dbx_&lt;env&gt;_data_cnc_001, ending in 002 in test. Baytex BI creates catalogs whose managed storage sits in the external location; the platform creates no catalogs or schemas.</a:t>
            </a:r>
          </a:p>
        </p:txBody>
      </p:sp>
    </p:spTree>
    <p:extLst>
      <p:ext uri="{BB962C8B-B14F-4D97-AF65-F5344CB8AC3E}">
        <p14:creationId xmlns:p14="http://schemas.microsoft.com/office/powerpoint/2010/main" val="41516057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B7E5A-A98E-7653-76C9-12493C1A388A}"/>
              </a:ext>
            </a:extLst>
          </p:cNvPr>
          <p:cNvSpPr>
            <a:spLocks noGrp="1"/>
          </p:cNvSpPr>
          <p:nvPr>
            <p:ph type="title"/>
          </p:nvPr>
        </p:nvSpPr>
        <p:spPr/>
        <p:txBody>
          <a:bodyPr>
            <a:normAutofit/>
          </a:bodyPr>
          <a:lstStyle/>
          <a:p>
            <a:r>
              <a:rPr lang="en-CA" b="1">
                <a:latin typeface="Aptos Display" panose="020B0004020202020204" pitchFamily="34" charset="0"/>
              </a:rPr>
              <a:t>Security by Design</a:t>
            </a:r>
          </a:p>
        </p:txBody>
      </p:sp>
      <p:sp>
        <p:nvSpPr>
          <p:cNvPr id="4" name="Oval 3">
            <a:extLst>
              <a:ext uri="{FF2B5EF4-FFF2-40B4-BE49-F238E27FC236}">
                <a16:creationId xmlns:a16="http://schemas.microsoft.com/office/drawing/2014/main" id="{5B36A833-69A4-1424-F3DE-7B4412851B9C}"/>
              </a:ext>
            </a:extLst>
          </p:cNvPr>
          <p:cNvSpPr/>
          <p:nvPr/>
        </p:nvSpPr>
        <p:spPr>
          <a:xfrm>
            <a:off x="2844800" y="1371600"/>
            <a:ext cx="381000" cy="381000"/>
          </a:xfrm>
          <a:prstGeom prst="ellipse">
            <a:avLst/>
          </a:prstGeom>
          <a:solidFill>
            <a:srgbClr val="FFFFFF"/>
          </a:solidFill>
          <a:ln w="19050">
            <a:solidFill>
              <a:srgbClr val="F68D2E"/>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CA" sz="1300" b="1">
                <a:solidFill>
                  <a:srgbClr val="50152C"/>
                </a:solidFill>
                <a:latin typeface="Aptos Display" panose="020B0004020202020204" pitchFamily="34" charset="0"/>
              </a:rPr>
              <a:t>1</a:t>
            </a:r>
          </a:p>
        </p:txBody>
      </p:sp>
      <p:sp>
        <p:nvSpPr>
          <p:cNvPr id="5" name="TextBox 4">
            <a:extLst>
              <a:ext uri="{FF2B5EF4-FFF2-40B4-BE49-F238E27FC236}">
                <a16:creationId xmlns:a16="http://schemas.microsoft.com/office/drawing/2014/main" id="{8B87A312-F826-9844-C8E8-62602836B99E}"/>
              </a:ext>
            </a:extLst>
          </p:cNvPr>
          <p:cNvSpPr txBox="1"/>
          <p:nvPr/>
        </p:nvSpPr>
        <p:spPr>
          <a:xfrm>
            <a:off x="3378200" y="1422400"/>
            <a:ext cx="3771900" cy="254000"/>
          </a:xfrm>
          <a:prstGeom prst="rect">
            <a:avLst/>
          </a:prstGeom>
          <a:noFill/>
        </p:spPr>
        <p:txBody>
          <a:bodyPr vert="horz" wrap="square" lIns="0" tIns="0" rIns="0" bIns="0" rtlCol="0" anchor="t">
            <a:noAutofit/>
          </a:bodyPr>
          <a:lstStyle/>
          <a:p>
            <a:r>
              <a:rPr lang="en-US" sz="1400" b="1">
                <a:solidFill>
                  <a:srgbClr val="50152C"/>
                </a:solidFill>
                <a:latin typeface="Aptos Display" panose="020B0004020202020204" pitchFamily="34" charset="0"/>
              </a:rPr>
              <a:t>No public IPs on compute</a:t>
            </a:r>
            <a:endParaRPr lang="en-CA" sz="1400" b="1">
              <a:solidFill>
                <a:srgbClr val="50152C"/>
              </a:solidFill>
              <a:latin typeface="Aptos Display" panose="020B0004020202020204" pitchFamily="34" charset="0"/>
            </a:endParaRPr>
          </a:p>
        </p:txBody>
      </p:sp>
      <p:sp>
        <p:nvSpPr>
          <p:cNvPr id="6" name="TextBox 5">
            <a:extLst>
              <a:ext uri="{FF2B5EF4-FFF2-40B4-BE49-F238E27FC236}">
                <a16:creationId xmlns:a16="http://schemas.microsoft.com/office/drawing/2014/main" id="{1284BAA4-16CE-6732-EB4A-5CE5B0F29BD7}"/>
              </a:ext>
            </a:extLst>
          </p:cNvPr>
          <p:cNvSpPr txBox="1"/>
          <p:nvPr/>
        </p:nvSpPr>
        <p:spPr>
          <a:xfrm>
            <a:off x="3378200" y="1727200"/>
            <a:ext cx="3771900" cy="889000"/>
          </a:xfrm>
          <a:prstGeom prst="rect">
            <a:avLst/>
          </a:prstGeom>
          <a:noFill/>
        </p:spPr>
        <p:txBody>
          <a:bodyPr vert="horz" wrap="square" lIns="0" tIns="0" rIns="0" bIns="0" rtlCol="0" anchor="t">
            <a:noAutofit/>
          </a:bodyPr>
          <a:lstStyle/>
          <a:p>
            <a:r>
              <a:rPr lang="en-US" sz="1300">
                <a:solidFill>
                  <a:srgbClr val="262626"/>
                </a:solidFill>
                <a:latin typeface="Calibri" panose="020F0502020204030204" pitchFamily="34" charset="0"/>
              </a:rPr>
              <a:t>Classic compute uses secure cluster connectivity. Users sign in to the workspace with Microsoft Entra ID.</a:t>
            </a:r>
            <a:endParaRPr lang="en-CA" sz="1300">
              <a:solidFill>
                <a:srgbClr val="262626"/>
              </a:solidFill>
              <a:latin typeface="Calibri" panose="020F0502020204030204" pitchFamily="34" charset="0"/>
            </a:endParaRPr>
          </a:p>
        </p:txBody>
      </p:sp>
      <p:sp>
        <p:nvSpPr>
          <p:cNvPr id="7" name="Oval 6">
            <a:extLst>
              <a:ext uri="{FF2B5EF4-FFF2-40B4-BE49-F238E27FC236}">
                <a16:creationId xmlns:a16="http://schemas.microsoft.com/office/drawing/2014/main" id="{7E7229D7-4FD5-6ADC-7C1C-F281AF690379}"/>
              </a:ext>
            </a:extLst>
          </p:cNvPr>
          <p:cNvSpPr/>
          <p:nvPr/>
        </p:nvSpPr>
        <p:spPr>
          <a:xfrm>
            <a:off x="7442200" y="1371600"/>
            <a:ext cx="381000" cy="381000"/>
          </a:xfrm>
          <a:prstGeom prst="ellipse">
            <a:avLst/>
          </a:prstGeom>
          <a:solidFill>
            <a:srgbClr val="FFFFFF"/>
          </a:solidFill>
          <a:ln w="19050">
            <a:solidFill>
              <a:srgbClr val="F68D2E"/>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CA" sz="1300" b="1">
                <a:solidFill>
                  <a:srgbClr val="50152C"/>
                </a:solidFill>
                <a:latin typeface="Aptos Display" panose="020B0004020202020204" pitchFamily="34" charset="0"/>
              </a:rPr>
              <a:t>2</a:t>
            </a:r>
          </a:p>
        </p:txBody>
      </p:sp>
      <p:sp>
        <p:nvSpPr>
          <p:cNvPr id="8" name="TextBox 7">
            <a:extLst>
              <a:ext uri="{FF2B5EF4-FFF2-40B4-BE49-F238E27FC236}">
                <a16:creationId xmlns:a16="http://schemas.microsoft.com/office/drawing/2014/main" id="{13AA15DD-BE5C-71D5-06BE-BB523956360F}"/>
              </a:ext>
            </a:extLst>
          </p:cNvPr>
          <p:cNvSpPr txBox="1"/>
          <p:nvPr/>
        </p:nvSpPr>
        <p:spPr>
          <a:xfrm>
            <a:off x="7975600" y="1422400"/>
            <a:ext cx="3771900" cy="254000"/>
          </a:xfrm>
          <a:prstGeom prst="rect">
            <a:avLst/>
          </a:prstGeom>
          <a:noFill/>
        </p:spPr>
        <p:txBody>
          <a:bodyPr vert="horz" wrap="square" lIns="0" tIns="0" rIns="0" bIns="0" rtlCol="0" anchor="t">
            <a:noAutofit/>
          </a:bodyPr>
          <a:lstStyle/>
          <a:p>
            <a:r>
              <a:rPr lang="en-CA" sz="1400" b="1">
                <a:solidFill>
                  <a:srgbClr val="50152C"/>
                </a:solidFill>
                <a:latin typeface="Aptos Display" panose="020B0004020202020204" pitchFamily="34" charset="0"/>
              </a:rPr>
              <a:t>Private data paths</a:t>
            </a:r>
          </a:p>
        </p:txBody>
      </p:sp>
      <p:sp>
        <p:nvSpPr>
          <p:cNvPr id="9" name="TextBox 8">
            <a:extLst>
              <a:ext uri="{FF2B5EF4-FFF2-40B4-BE49-F238E27FC236}">
                <a16:creationId xmlns:a16="http://schemas.microsoft.com/office/drawing/2014/main" id="{B2AE1B9A-9884-FA6A-DD29-89C56B029613}"/>
              </a:ext>
            </a:extLst>
          </p:cNvPr>
          <p:cNvSpPr txBox="1"/>
          <p:nvPr/>
        </p:nvSpPr>
        <p:spPr>
          <a:xfrm>
            <a:off x="7975600" y="1727200"/>
            <a:ext cx="3771900" cy="889000"/>
          </a:xfrm>
          <a:prstGeom prst="rect">
            <a:avLst/>
          </a:prstGeom>
          <a:noFill/>
        </p:spPr>
        <p:txBody>
          <a:bodyPr vert="horz" wrap="square" lIns="0" tIns="0" rIns="0" bIns="0" rtlCol="0" anchor="t">
            <a:noAutofit/>
          </a:bodyPr>
          <a:lstStyle/>
          <a:p>
            <a:r>
              <a:rPr lang="en-US" sz="1300">
                <a:solidFill>
                  <a:srgbClr val="262626"/>
                </a:solidFill>
                <a:latin typeface="Calibri" panose="020F0502020204030204" pitchFamily="34" charset="0"/>
              </a:rPr>
              <a:t>Storage has no public network access and no shared keys. Compute reaches it only through private endpoints.</a:t>
            </a:r>
            <a:endParaRPr lang="en-CA" sz="1300">
              <a:solidFill>
                <a:srgbClr val="262626"/>
              </a:solidFill>
              <a:latin typeface="Calibri" panose="020F0502020204030204" pitchFamily="34" charset="0"/>
            </a:endParaRPr>
          </a:p>
        </p:txBody>
      </p:sp>
      <p:sp>
        <p:nvSpPr>
          <p:cNvPr id="10" name="Oval 9">
            <a:extLst>
              <a:ext uri="{FF2B5EF4-FFF2-40B4-BE49-F238E27FC236}">
                <a16:creationId xmlns:a16="http://schemas.microsoft.com/office/drawing/2014/main" id="{AC62BA09-33C6-21E9-F01D-D9D6BCA96EF5}"/>
              </a:ext>
            </a:extLst>
          </p:cNvPr>
          <p:cNvSpPr/>
          <p:nvPr/>
        </p:nvSpPr>
        <p:spPr>
          <a:xfrm>
            <a:off x="2844800" y="2946400"/>
            <a:ext cx="381000" cy="381000"/>
          </a:xfrm>
          <a:prstGeom prst="ellipse">
            <a:avLst/>
          </a:prstGeom>
          <a:solidFill>
            <a:srgbClr val="FFFFFF"/>
          </a:solidFill>
          <a:ln w="19050">
            <a:solidFill>
              <a:srgbClr val="F68D2E"/>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CA" sz="1300" b="1">
                <a:solidFill>
                  <a:srgbClr val="50152C"/>
                </a:solidFill>
                <a:latin typeface="Aptos Display" panose="020B0004020202020204" pitchFamily="34" charset="0"/>
              </a:rPr>
              <a:t>3</a:t>
            </a:r>
          </a:p>
        </p:txBody>
      </p:sp>
      <p:sp>
        <p:nvSpPr>
          <p:cNvPr id="11" name="TextBox 10">
            <a:extLst>
              <a:ext uri="{FF2B5EF4-FFF2-40B4-BE49-F238E27FC236}">
                <a16:creationId xmlns:a16="http://schemas.microsoft.com/office/drawing/2014/main" id="{5092D6E5-C321-4172-E23D-5B06746234A4}"/>
              </a:ext>
            </a:extLst>
          </p:cNvPr>
          <p:cNvSpPr txBox="1"/>
          <p:nvPr/>
        </p:nvSpPr>
        <p:spPr>
          <a:xfrm>
            <a:off x="3378200" y="2997200"/>
            <a:ext cx="3771900" cy="254000"/>
          </a:xfrm>
          <a:prstGeom prst="rect">
            <a:avLst/>
          </a:prstGeom>
          <a:noFill/>
        </p:spPr>
        <p:txBody>
          <a:bodyPr vert="horz" wrap="square" lIns="0" tIns="0" rIns="0" bIns="0" rtlCol="0" anchor="t">
            <a:noAutofit/>
          </a:bodyPr>
          <a:lstStyle/>
          <a:p>
            <a:r>
              <a:rPr lang="en-CA" sz="1400" b="1">
                <a:solidFill>
                  <a:srgbClr val="50152C"/>
                </a:solidFill>
                <a:latin typeface="Aptos Display" panose="020B0004020202020204" pitchFamily="34" charset="0"/>
              </a:rPr>
              <a:t>Controlled outbound traffic</a:t>
            </a:r>
          </a:p>
        </p:txBody>
      </p:sp>
      <p:sp>
        <p:nvSpPr>
          <p:cNvPr id="12" name="TextBox 11">
            <a:extLst>
              <a:ext uri="{FF2B5EF4-FFF2-40B4-BE49-F238E27FC236}">
                <a16:creationId xmlns:a16="http://schemas.microsoft.com/office/drawing/2014/main" id="{D8031275-F549-BBE2-9BEE-57A97A16EE6B}"/>
              </a:ext>
            </a:extLst>
          </p:cNvPr>
          <p:cNvSpPr txBox="1"/>
          <p:nvPr/>
        </p:nvSpPr>
        <p:spPr>
          <a:xfrm>
            <a:off x="3378200" y="3302000"/>
            <a:ext cx="3771900" cy="889000"/>
          </a:xfrm>
          <a:prstGeom prst="rect">
            <a:avLst/>
          </a:prstGeom>
          <a:noFill/>
        </p:spPr>
        <p:txBody>
          <a:bodyPr vert="horz" wrap="square" lIns="0" tIns="0" rIns="0" bIns="0" rtlCol="0" anchor="t">
            <a:noAutofit/>
          </a:bodyPr>
          <a:lstStyle/>
          <a:p>
            <a:r>
              <a:rPr lang="en-US" sz="1300">
                <a:solidFill>
                  <a:srgbClr val="262626"/>
                </a:solidFill>
                <a:latin typeface="Calibri" panose="020F0502020204030204" pitchFamily="34" charset="0"/>
              </a:rPr>
              <a:t>Serverless reaches only approved internet destinations. Classic compute leaves only through the NAT Gateway or the firewall.</a:t>
            </a:r>
            <a:endParaRPr lang="en-CA" sz="1300">
              <a:solidFill>
                <a:srgbClr val="262626"/>
              </a:solidFill>
              <a:latin typeface="Calibri" panose="020F0502020204030204" pitchFamily="34" charset="0"/>
            </a:endParaRPr>
          </a:p>
        </p:txBody>
      </p:sp>
      <p:sp>
        <p:nvSpPr>
          <p:cNvPr id="13" name="Oval 12">
            <a:extLst>
              <a:ext uri="{FF2B5EF4-FFF2-40B4-BE49-F238E27FC236}">
                <a16:creationId xmlns:a16="http://schemas.microsoft.com/office/drawing/2014/main" id="{3DD14326-5799-C791-EC0F-25BC4B336CE4}"/>
              </a:ext>
            </a:extLst>
          </p:cNvPr>
          <p:cNvSpPr/>
          <p:nvPr/>
        </p:nvSpPr>
        <p:spPr>
          <a:xfrm>
            <a:off x="7442200" y="2946400"/>
            <a:ext cx="381000" cy="381000"/>
          </a:xfrm>
          <a:prstGeom prst="ellipse">
            <a:avLst/>
          </a:prstGeom>
          <a:solidFill>
            <a:srgbClr val="FFFFFF"/>
          </a:solidFill>
          <a:ln w="19050">
            <a:solidFill>
              <a:srgbClr val="F68D2E"/>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CA" sz="1300" b="1">
                <a:solidFill>
                  <a:srgbClr val="50152C"/>
                </a:solidFill>
                <a:latin typeface="Aptos Display" panose="020B0004020202020204" pitchFamily="34" charset="0"/>
              </a:rPr>
              <a:t>4</a:t>
            </a:r>
          </a:p>
        </p:txBody>
      </p:sp>
      <p:sp>
        <p:nvSpPr>
          <p:cNvPr id="14" name="TextBox 13">
            <a:extLst>
              <a:ext uri="{FF2B5EF4-FFF2-40B4-BE49-F238E27FC236}">
                <a16:creationId xmlns:a16="http://schemas.microsoft.com/office/drawing/2014/main" id="{9DBFAD23-FBFB-45AD-0FF1-FFB5AD891531}"/>
              </a:ext>
            </a:extLst>
          </p:cNvPr>
          <p:cNvSpPr txBox="1"/>
          <p:nvPr/>
        </p:nvSpPr>
        <p:spPr>
          <a:xfrm>
            <a:off x="7975600" y="2997200"/>
            <a:ext cx="3771900" cy="254000"/>
          </a:xfrm>
          <a:prstGeom prst="rect">
            <a:avLst/>
          </a:prstGeom>
          <a:noFill/>
        </p:spPr>
        <p:txBody>
          <a:bodyPr vert="horz" wrap="square" lIns="0" tIns="0" rIns="0" bIns="0" rtlCol="0" anchor="t">
            <a:noAutofit/>
          </a:bodyPr>
          <a:lstStyle/>
          <a:p>
            <a:r>
              <a:rPr lang="en-CA" sz="1400" b="1">
                <a:solidFill>
                  <a:srgbClr val="50152C"/>
                </a:solidFill>
                <a:latin typeface="Aptos Display" panose="020B0004020202020204" pitchFamily="34" charset="0"/>
              </a:rPr>
              <a:t>Connections approved by name</a:t>
            </a:r>
          </a:p>
        </p:txBody>
      </p:sp>
      <p:sp>
        <p:nvSpPr>
          <p:cNvPr id="15" name="TextBox 14">
            <a:extLst>
              <a:ext uri="{FF2B5EF4-FFF2-40B4-BE49-F238E27FC236}">
                <a16:creationId xmlns:a16="http://schemas.microsoft.com/office/drawing/2014/main" id="{3F9BE3B1-F3EB-4328-FF4C-BD36EE649F74}"/>
              </a:ext>
            </a:extLst>
          </p:cNvPr>
          <p:cNvSpPr txBox="1"/>
          <p:nvPr/>
        </p:nvSpPr>
        <p:spPr>
          <a:xfrm>
            <a:off x="7975600" y="3302000"/>
            <a:ext cx="3771900" cy="889000"/>
          </a:xfrm>
          <a:prstGeom prst="rect">
            <a:avLst/>
          </a:prstGeom>
          <a:noFill/>
        </p:spPr>
        <p:txBody>
          <a:bodyPr vert="horz" wrap="square" lIns="0" tIns="0" rIns="0" bIns="0" rtlCol="0" anchor="t">
            <a:noAutofit/>
          </a:bodyPr>
          <a:lstStyle/>
          <a:p>
            <a:r>
              <a:rPr lang="en-US" sz="1300">
                <a:solidFill>
                  <a:srgbClr val="262626"/>
                </a:solidFill>
                <a:latin typeface="Calibri" panose="020F0502020204030204" pitchFamily="34" charset="0"/>
              </a:rPr>
              <a:t>The deploy pipeline approves only the Private Link connections that match the environment’s NCC rules.</a:t>
            </a:r>
            <a:endParaRPr lang="en-CA" sz="1300">
              <a:solidFill>
                <a:srgbClr val="262626"/>
              </a:solidFill>
              <a:latin typeface="Calibri" panose="020F0502020204030204" pitchFamily="34" charset="0"/>
            </a:endParaRPr>
          </a:p>
        </p:txBody>
      </p:sp>
      <p:sp>
        <p:nvSpPr>
          <p:cNvPr id="16" name="Oval 15">
            <a:extLst>
              <a:ext uri="{FF2B5EF4-FFF2-40B4-BE49-F238E27FC236}">
                <a16:creationId xmlns:a16="http://schemas.microsoft.com/office/drawing/2014/main" id="{F4A549A0-7FDB-97F1-1803-5C5C33B12FF6}"/>
              </a:ext>
            </a:extLst>
          </p:cNvPr>
          <p:cNvSpPr/>
          <p:nvPr/>
        </p:nvSpPr>
        <p:spPr>
          <a:xfrm>
            <a:off x="2844800" y="4521200"/>
            <a:ext cx="381000" cy="381000"/>
          </a:xfrm>
          <a:prstGeom prst="ellipse">
            <a:avLst/>
          </a:prstGeom>
          <a:solidFill>
            <a:srgbClr val="FFFFFF"/>
          </a:solidFill>
          <a:ln w="19050">
            <a:solidFill>
              <a:srgbClr val="F68D2E"/>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CA" sz="1300" b="1">
                <a:solidFill>
                  <a:srgbClr val="50152C"/>
                </a:solidFill>
                <a:latin typeface="Aptos Display" panose="020B0004020202020204" pitchFamily="34" charset="0"/>
              </a:rPr>
              <a:t>5</a:t>
            </a:r>
          </a:p>
        </p:txBody>
      </p:sp>
      <p:sp>
        <p:nvSpPr>
          <p:cNvPr id="17" name="TextBox 16">
            <a:extLst>
              <a:ext uri="{FF2B5EF4-FFF2-40B4-BE49-F238E27FC236}">
                <a16:creationId xmlns:a16="http://schemas.microsoft.com/office/drawing/2014/main" id="{460F48DE-517C-E0FD-48EE-512ECB642653}"/>
              </a:ext>
            </a:extLst>
          </p:cNvPr>
          <p:cNvSpPr txBox="1"/>
          <p:nvPr/>
        </p:nvSpPr>
        <p:spPr>
          <a:xfrm>
            <a:off x="3378200" y="4572000"/>
            <a:ext cx="3771900" cy="254000"/>
          </a:xfrm>
          <a:prstGeom prst="rect">
            <a:avLst/>
          </a:prstGeom>
          <a:noFill/>
        </p:spPr>
        <p:txBody>
          <a:bodyPr vert="horz" wrap="square" lIns="0" tIns="0" rIns="0" bIns="0" rtlCol="0" anchor="t">
            <a:noAutofit/>
          </a:bodyPr>
          <a:lstStyle/>
          <a:p>
            <a:r>
              <a:rPr lang="en-CA" sz="1400" b="1">
                <a:solidFill>
                  <a:srgbClr val="50152C"/>
                </a:solidFill>
                <a:latin typeface="Aptos Display" panose="020B0004020202020204" pitchFamily="34" charset="0"/>
              </a:rPr>
              <a:t>No stored secrets</a:t>
            </a:r>
          </a:p>
        </p:txBody>
      </p:sp>
      <p:sp>
        <p:nvSpPr>
          <p:cNvPr id="18" name="TextBox 17">
            <a:extLst>
              <a:ext uri="{FF2B5EF4-FFF2-40B4-BE49-F238E27FC236}">
                <a16:creationId xmlns:a16="http://schemas.microsoft.com/office/drawing/2014/main" id="{8E6DE6CB-6E81-059D-0F07-41F461032522}"/>
              </a:ext>
            </a:extLst>
          </p:cNvPr>
          <p:cNvSpPr txBox="1"/>
          <p:nvPr/>
        </p:nvSpPr>
        <p:spPr>
          <a:xfrm>
            <a:off x="3378200" y="4876800"/>
            <a:ext cx="3771900" cy="889000"/>
          </a:xfrm>
          <a:prstGeom prst="rect">
            <a:avLst/>
          </a:prstGeom>
          <a:noFill/>
        </p:spPr>
        <p:txBody>
          <a:bodyPr vert="horz" wrap="square" lIns="0" tIns="0" rIns="0" bIns="0" rtlCol="0" anchor="t">
            <a:noAutofit/>
          </a:bodyPr>
          <a:lstStyle/>
          <a:p>
            <a:r>
              <a:rPr lang="en-US" sz="1300">
                <a:solidFill>
                  <a:srgbClr val="262626"/>
                </a:solidFill>
                <a:latin typeface="Calibri" panose="020F0502020204030204" pitchFamily="34" charset="0"/>
              </a:rPr>
              <a:t>Pipelines sign in with GitHub OIDC. The HAProxy VMs use SSH keys and Trusted Launch.</a:t>
            </a:r>
            <a:endParaRPr lang="en-CA" sz="1300">
              <a:solidFill>
                <a:srgbClr val="262626"/>
              </a:solidFill>
              <a:latin typeface="Calibri" panose="020F0502020204030204" pitchFamily="34" charset="0"/>
            </a:endParaRPr>
          </a:p>
        </p:txBody>
      </p:sp>
      <p:sp>
        <p:nvSpPr>
          <p:cNvPr id="19" name="Oval 18">
            <a:extLst>
              <a:ext uri="{FF2B5EF4-FFF2-40B4-BE49-F238E27FC236}">
                <a16:creationId xmlns:a16="http://schemas.microsoft.com/office/drawing/2014/main" id="{C67D68CF-BB62-E5F5-C644-F4C8D1E8677B}"/>
              </a:ext>
            </a:extLst>
          </p:cNvPr>
          <p:cNvSpPr/>
          <p:nvPr/>
        </p:nvSpPr>
        <p:spPr>
          <a:xfrm>
            <a:off x="7442200" y="4521200"/>
            <a:ext cx="381000" cy="381000"/>
          </a:xfrm>
          <a:prstGeom prst="ellipse">
            <a:avLst/>
          </a:prstGeom>
          <a:solidFill>
            <a:srgbClr val="FFFFFF"/>
          </a:solidFill>
          <a:ln w="19050">
            <a:solidFill>
              <a:srgbClr val="F68D2E"/>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CA" sz="1300" b="1">
                <a:solidFill>
                  <a:srgbClr val="50152C"/>
                </a:solidFill>
                <a:latin typeface="Aptos Display" panose="020B0004020202020204" pitchFamily="34" charset="0"/>
              </a:rPr>
              <a:t>6</a:t>
            </a:r>
          </a:p>
        </p:txBody>
      </p:sp>
      <p:sp>
        <p:nvSpPr>
          <p:cNvPr id="20" name="TextBox 19">
            <a:extLst>
              <a:ext uri="{FF2B5EF4-FFF2-40B4-BE49-F238E27FC236}">
                <a16:creationId xmlns:a16="http://schemas.microsoft.com/office/drawing/2014/main" id="{DEBD3832-9270-EAB0-6D39-3A784291A950}"/>
              </a:ext>
            </a:extLst>
          </p:cNvPr>
          <p:cNvSpPr txBox="1"/>
          <p:nvPr/>
        </p:nvSpPr>
        <p:spPr>
          <a:xfrm>
            <a:off x="7975600" y="4572000"/>
            <a:ext cx="3771900" cy="254000"/>
          </a:xfrm>
          <a:prstGeom prst="rect">
            <a:avLst/>
          </a:prstGeom>
          <a:noFill/>
        </p:spPr>
        <p:txBody>
          <a:bodyPr vert="horz" wrap="square" lIns="0" tIns="0" rIns="0" bIns="0" rtlCol="0" anchor="t">
            <a:noAutofit/>
          </a:bodyPr>
          <a:lstStyle/>
          <a:p>
            <a:r>
              <a:rPr lang="en-CA" sz="1400" b="1">
                <a:solidFill>
                  <a:srgbClr val="50152C"/>
                </a:solidFill>
                <a:latin typeface="Aptos Display" panose="020B0004020202020204" pitchFamily="34" charset="0"/>
              </a:rPr>
              <a:t>Hub stays with Baytex</a:t>
            </a:r>
          </a:p>
        </p:txBody>
      </p:sp>
      <p:sp>
        <p:nvSpPr>
          <p:cNvPr id="21" name="TextBox 20">
            <a:extLst>
              <a:ext uri="{FF2B5EF4-FFF2-40B4-BE49-F238E27FC236}">
                <a16:creationId xmlns:a16="http://schemas.microsoft.com/office/drawing/2014/main" id="{6D0B7FF7-078E-53CF-19A0-E9D3D05ED59A}"/>
              </a:ext>
            </a:extLst>
          </p:cNvPr>
          <p:cNvSpPr txBox="1"/>
          <p:nvPr/>
        </p:nvSpPr>
        <p:spPr>
          <a:xfrm>
            <a:off x="7975600" y="4876800"/>
            <a:ext cx="3771900" cy="889000"/>
          </a:xfrm>
          <a:prstGeom prst="rect">
            <a:avLst/>
          </a:prstGeom>
          <a:noFill/>
        </p:spPr>
        <p:txBody>
          <a:bodyPr vert="horz" wrap="square" lIns="0" tIns="0" rIns="0" bIns="0" rtlCol="0" anchor="t">
            <a:noAutofit/>
          </a:bodyPr>
          <a:lstStyle/>
          <a:p>
            <a:r>
              <a:rPr lang="en-US" sz="1300">
                <a:solidFill>
                  <a:srgbClr val="262626"/>
                </a:solidFill>
                <a:latin typeface="Calibri" panose="020F0502020204030204" pitchFamily="34" charset="0"/>
              </a:rPr>
              <a:t>Terraform makes no changes in the hub subscription, and existing resources are never imported or modified.</a:t>
            </a:r>
            <a:endParaRPr lang="en-CA" sz="1300">
              <a:solidFill>
                <a:srgbClr val="262626"/>
              </a:solidFill>
              <a:latin typeface="Calibri" panose="020F0502020204030204" pitchFamily="34" charset="0"/>
            </a:endParaRPr>
          </a:p>
        </p:txBody>
      </p:sp>
    </p:spTree>
    <p:extLst>
      <p:ext uri="{BB962C8B-B14F-4D97-AF65-F5344CB8AC3E}">
        <p14:creationId xmlns:p14="http://schemas.microsoft.com/office/powerpoint/2010/main" val="14145525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99650-78C7-68D2-CD97-B2A97F2F5C97}"/>
              </a:ext>
            </a:extLst>
          </p:cNvPr>
          <p:cNvSpPr>
            <a:spLocks noGrp="1"/>
          </p:cNvSpPr>
          <p:nvPr>
            <p:ph type="title"/>
          </p:nvPr>
        </p:nvSpPr>
        <p:spPr/>
        <p:txBody>
          <a:bodyPr>
            <a:normAutofit/>
          </a:bodyPr>
          <a:lstStyle/>
          <a:p>
            <a:r>
              <a:rPr lang="en-CA" b="1">
                <a:latin typeface="Aptos Display" panose="020B0004020202020204" pitchFamily="34" charset="0"/>
              </a:rPr>
              <a:t>How Changes Are Deployed</a:t>
            </a:r>
          </a:p>
        </p:txBody>
      </p:sp>
      <p:sp>
        <p:nvSpPr>
          <p:cNvPr id="4" name="Rectangle: Rounded Corners 3">
            <a:extLst>
              <a:ext uri="{FF2B5EF4-FFF2-40B4-BE49-F238E27FC236}">
                <a16:creationId xmlns:a16="http://schemas.microsoft.com/office/drawing/2014/main" id="{D02D6AD1-FD8E-85A4-B3E3-662A1D760F91}"/>
              </a:ext>
            </a:extLst>
          </p:cNvPr>
          <p:cNvSpPr/>
          <p:nvPr/>
        </p:nvSpPr>
        <p:spPr>
          <a:xfrm>
            <a:off x="2844800" y="1320800"/>
            <a:ext cx="1574800" cy="1498600"/>
          </a:xfrm>
          <a:prstGeom prst="roundRect">
            <a:avLst>
              <a:gd name="adj" fmla="val 8000"/>
            </a:avLst>
          </a:prstGeom>
          <a:solidFill>
            <a:srgbClr val="FCEC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Oval 4">
            <a:extLst>
              <a:ext uri="{FF2B5EF4-FFF2-40B4-BE49-F238E27FC236}">
                <a16:creationId xmlns:a16="http://schemas.microsoft.com/office/drawing/2014/main" id="{A33FD2C9-BF7E-F64B-FD3C-F2D3DB025B32}"/>
              </a:ext>
            </a:extLst>
          </p:cNvPr>
          <p:cNvSpPr/>
          <p:nvPr/>
        </p:nvSpPr>
        <p:spPr>
          <a:xfrm>
            <a:off x="2971800" y="1447800"/>
            <a:ext cx="304800" cy="304800"/>
          </a:xfrm>
          <a:prstGeom prst="ellipse">
            <a:avLst/>
          </a:prstGeom>
          <a:solidFill>
            <a:srgbClr val="FFFFFF"/>
          </a:solidFill>
          <a:ln w="19050">
            <a:solidFill>
              <a:srgbClr val="F68D2E"/>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CA" sz="1100" b="1">
                <a:solidFill>
                  <a:srgbClr val="50152C"/>
                </a:solidFill>
                <a:latin typeface="Aptos Display" panose="020B0004020202020204" pitchFamily="34" charset="0"/>
              </a:rPr>
              <a:t>1</a:t>
            </a:r>
          </a:p>
        </p:txBody>
      </p:sp>
      <p:sp>
        <p:nvSpPr>
          <p:cNvPr id="6" name="TextBox 5">
            <a:extLst>
              <a:ext uri="{FF2B5EF4-FFF2-40B4-BE49-F238E27FC236}">
                <a16:creationId xmlns:a16="http://schemas.microsoft.com/office/drawing/2014/main" id="{599F9D8D-381D-1A7D-2F58-09AAC9425A39}"/>
              </a:ext>
            </a:extLst>
          </p:cNvPr>
          <p:cNvSpPr txBox="1"/>
          <p:nvPr/>
        </p:nvSpPr>
        <p:spPr>
          <a:xfrm>
            <a:off x="2971800" y="1854200"/>
            <a:ext cx="1320800" cy="228600"/>
          </a:xfrm>
          <a:prstGeom prst="rect">
            <a:avLst/>
          </a:prstGeom>
          <a:noFill/>
        </p:spPr>
        <p:txBody>
          <a:bodyPr vert="horz" wrap="square" lIns="0" tIns="0" rIns="0" bIns="0" rtlCol="0" anchor="t">
            <a:noAutofit/>
          </a:bodyPr>
          <a:lstStyle/>
          <a:p>
            <a:r>
              <a:rPr lang="en-CA" sz="1300" b="1">
                <a:solidFill>
                  <a:srgbClr val="50152C"/>
                </a:solidFill>
                <a:latin typeface="Aptos Display" panose="020B0004020202020204" pitchFamily="34" charset="0"/>
              </a:rPr>
              <a:t>Pull request</a:t>
            </a:r>
          </a:p>
        </p:txBody>
      </p:sp>
      <p:sp>
        <p:nvSpPr>
          <p:cNvPr id="7" name="TextBox 6">
            <a:extLst>
              <a:ext uri="{FF2B5EF4-FFF2-40B4-BE49-F238E27FC236}">
                <a16:creationId xmlns:a16="http://schemas.microsoft.com/office/drawing/2014/main" id="{79CB9012-6B73-248A-B35D-74E6B17F228B}"/>
              </a:ext>
            </a:extLst>
          </p:cNvPr>
          <p:cNvSpPr txBox="1"/>
          <p:nvPr/>
        </p:nvSpPr>
        <p:spPr>
          <a:xfrm>
            <a:off x="2971800" y="2108200"/>
            <a:ext cx="1320800" cy="660400"/>
          </a:xfrm>
          <a:prstGeom prst="rect">
            <a:avLst/>
          </a:prstGeom>
          <a:noFill/>
        </p:spPr>
        <p:txBody>
          <a:bodyPr vert="horz" wrap="square" lIns="0" tIns="0" rIns="0" bIns="0" rtlCol="0" anchor="t">
            <a:noAutofit/>
          </a:bodyPr>
          <a:lstStyle/>
          <a:p>
            <a:r>
              <a:rPr lang="en-US" sz="1200">
                <a:solidFill>
                  <a:srgbClr val="262626"/>
                </a:solidFill>
                <a:latin typeface="Calibri" panose="020F0502020204030204" pitchFamily="34" charset="0"/>
              </a:rPr>
              <a:t>Format, validate and plan checks</a:t>
            </a:r>
            <a:endParaRPr lang="en-CA" sz="1200">
              <a:solidFill>
                <a:srgbClr val="262626"/>
              </a:solidFill>
              <a:latin typeface="Calibri" panose="020F0502020204030204" pitchFamily="34" charset="0"/>
            </a:endParaRPr>
          </a:p>
        </p:txBody>
      </p:sp>
      <p:sp>
        <p:nvSpPr>
          <p:cNvPr id="8" name="Arrow: Right 7">
            <a:extLst>
              <a:ext uri="{FF2B5EF4-FFF2-40B4-BE49-F238E27FC236}">
                <a16:creationId xmlns:a16="http://schemas.microsoft.com/office/drawing/2014/main" id="{3F20CE91-7A2A-E0CC-627F-E0E911F9A082}"/>
              </a:ext>
            </a:extLst>
          </p:cNvPr>
          <p:cNvSpPr/>
          <p:nvPr/>
        </p:nvSpPr>
        <p:spPr>
          <a:xfrm>
            <a:off x="4457700" y="2006600"/>
            <a:ext cx="177800" cy="127000"/>
          </a:xfrm>
          <a:prstGeom prst="rightArrow">
            <a:avLst/>
          </a:prstGeom>
          <a:solidFill>
            <a:srgbClr val="F68D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Rectangle: Rounded Corners 8">
            <a:extLst>
              <a:ext uri="{FF2B5EF4-FFF2-40B4-BE49-F238E27FC236}">
                <a16:creationId xmlns:a16="http://schemas.microsoft.com/office/drawing/2014/main" id="{F1E2A2BA-FED1-2B60-4655-0408EE9787D6}"/>
              </a:ext>
            </a:extLst>
          </p:cNvPr>
          <p:cNvSpPr/>
          <p:nvPr/>
        </p:nvSpPr>
        <p:spPr>
          <a:xfrm>
            <a:off x="4676775" y="1320800"/>
            <a:ext cx="1574800" cy="1498600"/>
          </a:xfrm>
          <a:prstGeom prst="roundRect">
            <a:avLst>
              <a:gd name="adj" fmla="val 8000"/>
            </a:avLst>
          </a:prstGeom>
          <a:solidFill>
            <a:srgbClr val="FCEC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Oval 9">
            <a:extLst>
              <a:ext uri="{FF2B5EF4-FFF2-40B4-BE49-F238E27FC236}">
                <a16:creationId xmlns:a16="http://schemas.microsoft.com/office/drawing/2014/main" id="{222F1F0D-1E18-A1D4-43DE-56CC46578C23}"/>
              </a:ext>
            </a:extLst>
          </p:cNvPr>
          <p:cNvSpPr/>
          <p:nvPr/>
        </p:nvSpPr>
        <p:spPr>
          <a:xfrm>
            <a:off x="4803775" y="1447800"/>
            <a:ext cx="304800" cy="304800"/>
          </a:xfrm>
          <a:prstGeom prst="ellipse">
            <a:avLst/>
          </a:prstGeom>
          <a:solidFill>
            <a:srgbClr val="FFFFFF"/>
          </a:solidFill>
          <a:ln w="19050">
            <a:solidFill>
              <a:srgbClr val="F68D2E"/>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CA" sz="1100" b="1">
                <a:solidFill>
                  <a:srgbClr val="50152C"/>
                </a:solidFill>
                <a:latin typeface="Aptos Display" panose="020B0004020202020204" pitchFamily="34" charset="0"/>
              </a:rPr>
              <a:t>2</a:t>
            </a:r>
          </a:p>
        </p:txBody>
      </p:sp>
      <p:sp>
        <p:nvSpPr>
          <p:cNvPr id="11" name="TextBox 10">
            <a:extLst>
              <a:ext uri="{FF2B5EF4-FFF2-40B4-BE49-F238E27FC236}">
                <a16:creationId xmlns:a16="http://schemas.microsoft.com/office/drawing/2014/main" id="{F755995A-A43D-41AD-B401-10907AD2C890}"/>
              </a:ext>
            </a:extLst>
          </p:cNvPr>
          <p:cNvSpPr txBox="1"/>
          <p:nvPr/>
        </p:nvSpPr>
        <p:spPr>
          <a:xfrm>
            <a:off x="4803775" y="1854200"/>
            <a:ext cx="1320800" cy="228600"/>
          </a:xfrm>
          <a:prstGeom prst="rect">
            <a:avLst/>
          </a:prstGeom>
          <a:noFill/>
        </p:spPr>
        <p:txBody>
          <a:bodyPr vert="horz" wrap="square" lIns="0" tIns="0" rIns="0" bIns="0" rtlCol="0" anchor="t">
            <a:noAutofit/>
          </a:bodyPr>
          <a:lstStyle/>
          <a:p>
            <a:r>
              <a:rPr lang="en-CA" sz="1300" b="1">
                <a:solidFill>
                  <a:srgbClr val="50152C"/>
                </a:solidFill>
                <a:latin typeface="Aptos Display" panose="020B0004020202020204" pitchFamily="34" charset="0"/>
              </a:rPr>
              <a:t>Plan</a:t>
            </a:r>
          </a:p>
        </p:txBody>
      </p:sp>
      <p:sp>
        <p:nvSpPr>
          <p:cNvPr id="12" name="TextBox 11">
            <a:extLst>
              <a:ext uri="{FF2B5EF4-FFF2-40B4-BE49-F238E27FC236}">
                <a16:creationId xmlns:a16="http://schemas.microsoft.com/office/drawing/2014/main" id="{B01AE236-7BDB-F3CE-1569-D807E567E096}"/>
              </a:ext>
            </a:extLst>
          </p:cNvPr>
          <p:cNvSpPr txBox="1"/>
          <p:nvPr/>
        </p:nvSpPr>
        <p:spPr>
          <a:xfrm>
            <a:off x="4803775" y="2108200"/>
            <a:ext cx="1320800" cy="660400"/>
          </a:xfrm>
          <a:prstGeom prst="rect">
            <a:avLst/>
          </a:prstGeom>
          <a:noFill/>
        </p:spPr>
        <p:txBody>
          <a:bodyPr vert="horz" wrap="square" lIns="0" tIns="0" rIns="0" bIns="0" rtlCol="0" anchor="t">
            <a:noAutofit/>
          </a:bodyPr>
          <a:lstStyle/>
          <a:p>
            <a:r>
              <a:rPr lang="en-US" sz="1200">
                <a:solidFill>
                  <a:srgbClr val="262626"/>
                </a:solidFill>
                <a:latin typeface="Calibri" panose="020F0502020204030204" pitchFamily="34" charset="0"/>
              </a:rPr>
              <a:t>Built with the environment’s own settings</a:t>
            </a:r>
            <a:endParaRPr lang="en-CA" sz="1200">
              <a:solidFill>
                <a:srgbClr val="262626"/>
              </a:solidFill>
              <a:latin typeface="Calibri" panose="020F0502020204030204" pitchFamily="34" charset="0"/>
            </a:endParaRPr>
          </a:p>
        </p:txBody>
      </p:sp>
      <p:sp>
        <p:nvSpPr>
          <p:cNvPr id="13" name="Arrow: Right 12">
            <a:extLst>
              <a:ext uri="{FF2B5EF4-FFF2-40B4-BE49-F238E27FC236}">
                <a16:creationId xmlns:a16="http://schemas.microsoft.com/office/drawing/2014/main" id="{1942B4E3-CDED-42BA-2E41-4C661B2DD117}"/>
              </a:ext>
            </a:extLst>
          </p:cNvPr>
          <p:cNvSpPr/>
          <p:nvPr/>
        </p:nvSpPr>
        <p:spPr>
          <a:xfrm>
            <a:off x="6289675" y="2006600"/>
            <a:ext cx="177800" cy="127000"/>
          </a:xfrm>
          <a:prstGeom prst="rightArrow">
            <a:avLst/>
          </a:prstGeom>
          <a:solidFill>
            <a:srgbClr val="F68D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Rectangle: Rounded Corners 13">
            <a:extLst>
              <a:ext uri="{FF2B5EF4-FFF2-40B4-BE49-F238E27FC236}">
                <a16:creationId xmlns:a16="http://schemas.microsoft.com/office/drawing/2014/main" id="{D9E3F304-873B-5BC2-43AB-A16D5D98F50F}"/>
              </a:ext>
            </a:extLst>
          </p:cNvPr>
          <p:cNvSpPr/>
          <p:nvPr/>
        </p:nvSpPr>
        <p:spPr>
          <a:xfrm>
            <a:off x="6508750" y="1320800"/>
            <a:ext cx="1574800" cy="1498600"/>
          </a:xfrm>
          <a:prstGeom prst="roundRect">
            <a:avLst>
              <a:gd name="adj" fmla="val 8000"/>
            </a:avLst>
          </a:prstGeom>
          <a:solidFill>
            <a:srgbClr val="FCEC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Oval 14">
            <a:extLst>
              <a:ext uri="{FF2B5EF4-FFF2-40B4-BE49-F238E27FC236}">
                <a16:creationId xmlns:a16="http://schemas.microsoft.com/office/drawing/2014/main" id="{32D50A43-6F57-A4C8-D82D-5AFC6F340483}"/>
              </a:ext>
            </a:extLst>
          </p:cNvPr>
          <p:cNvSpPr/>
          <p:nvPr/>
        </p:nvSpPr>
        <p:spPr>
          <a:xfrm>
            <a:off x="6635750" y="1447800"/>
            <a:ext cx="304800" cy="304800"/>
          </a:xfrm>
          <a:prstGeom prst="ellipse">
            <a:avLst/>
          </a:prstGeom>
          <a:solidFill>
            <a:srgbClr val="FFFFFF"/>
          </a:solidFill>
          <a:ln w="19050">
            <a:solidFill>
              <a:srgbClr val="F68D2E"/>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CA" sz="1100" b="1">
                <a:solidFill>
                  <a:srgbClr val="50152C"/>
                </a:solidFill>
                <a:latin typeface="Aptos Display" panose="020B0004020202020204" pitchFamily="34" charset="0"/>
              </a:rPr>
              <a:t>3</a:t>
            </a:r>
          </a:p>
        </p:txBody>
      </p:sp>
      <p:sp>
        <p:nvSpPr>
          <p:cNvPr id="16" name="TextBox 15">
            <a:extLst>
              <a:ext uri="{FF2B5EF4-FFF2-40B4-BE49-F238E27FC236}">
                <a16:creationId xmlns:a16="http://schemas.microsoft.com/office/drawing/2014/main" id="{CCE7E1C9-8BA8-95C4-E8BF-22B65B54A4A0}"/>
              </a:ext>
            </a:extLst>
          </p:cNvPr>
          <p:cNvSpPr txBox="1"/>
          <p:nvPr/>
        </p:nvSpPr>
        <p:spPr>
          <a:xfrm>
            <a:off x="6635750" y="1854200"/>
            <a:ext cx="1320800" cy="228600"/>
          </a:xfrm>
          <a:prstGeom prst="rect">
            <a:avLst/>
          </a:prstGeom>
          <a:noFill/>
        </p:spPr>
        <p:txBody>
          <a:bodyPr vert="horz" wrap="square" lIns="0" tIns="0" rIns="0" bIns="0" rtlCol="0" anchor="t">
            <a:noAutofit/>
          </a:bodyPr>
          <a:lstStyle/>
          <a:p>
            <a:r>
              <a:rPr lang="en-CA" sz="1300" b="1">
                <a:solidFill>
                  <a:srgbClr val="50152C"/>
                </a:solidFill>
                <a:latin typeface="Aptos Display" panose="020B0004020202020204" pitchFamily="34" charset="0"/>
              </a:rPr>
              <a:t>Approve</a:t>
            </a:r>
          </a:p>
        </p:txBody>
      </p:sp>
      <p:sp>
        <p:nvSpPr>
          <p:cNvPr id="17" name="TextBox 16">
            <a:extLst>
              <a:ext uri="{FF2B5EF4-FFF2-40B4-BE49-F238E27FC236}">
                <a16:creationId xmlns:a16="http://schemas.microsoft.com/office/drawing/2014/main" id="{2F01F947-9893-C784-3E28-A1271E0F9E1F}"/>
              </a:ext>
            </a:extLst>
          </p:cNvPr>
          <p:cNvSpPr txBox="1"/>
          <p:nvPr/>
        </p:nvSpPr>
        <p:spPr>
          <a:xfrm>
            <a:off x="6635750" y="2108200"/>
            <a:ext cx="1320800" cy="660400"/>
          </a:xfrm>
          <a:prstGeom prst="rect">
            <a:avLst/>
          </a:prstGeom>
          <a:noFill/>
        </p:spPr>
        <p:txBody>
          <a:bodyPr vert="horz" wrap="square" lIns="0" tIns="0" rIns="0" bIns="0" rtlCol="0" anchor="t">
            <a:noAutofit/>
          </a:bodyPr>
          <a:lstStyle/>
          <a:p>
            <a:r>
              <a:rPr lang="en-CA" sz="1200">
                <a:solidFill>
                  <a:srgbClr val="262626"/>
                </a:solidFill>
                <a:latin typeface="Calibri" panose="020F0502020204030204" pitchFamily="34" charset="0"/>
              </a:rPr>
              <a:t>Required reviewers sign off</a:t>
            </a:r>
          </a:p>
        </p:txBody>
      </p:sp>
      <p:sp>
        <p:nvSpPr>
          <p:cNvPr id="18" name="Arrow: Right 17">
            <a:extLst>
              <a:ext uri="{FF2B5EF4-FFF2-40B4-BE49-F238E27FC236}">
                <a16:creationId xmlns:a16="http://schemas.microsoft.com/office/drawing/2014/main" id="{E33FEC1F-A0E1-3CA7-C236-3E807C72477B}"/>
              </a:ext>
            </a:extLst>
          </p:cNvPr>
          <p:cNvSpPr/>
          <p:nvPr/>
        </p:nvSpPr>
        <p:spPr>
          <a:xfrm>
            <a:off x="8121650" y="2006600"/>
            <a:ext cx="177800" cy="127000"/>
          </a:xfrm>
          <a:prstGeom prst="rightArrow">
            <a:avLst/>
          </a:prstGeom>
          <a:solidFill>
            <a:srgbClr val="F68D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Rectangle: Rounded Corners 18">
            <a:extLst>
              <a:ext uri="{FF2B5EF4-FFF2-40B4-BE49-F238E27FC236}">
                <a16:creationId xmlns:a16="http://schemas.microsoft.com/office/drawing/2014/main" id="{5AC017F0-92EC-C963-0173-36338E35FE1B}"/>
              </a:ext>
            </a:extLst>
          </p:cNvPr>
          <p:cNvSpPr/>
          <p:nvPr/>
        </p:nvSpPr>
        <p:spPr>
          <a:xfrm>
            <a:off x="8340725" y="1320800"/>
            <a:ext cx="1574800" cy="1498600"/>
          </a:xfrm>
          <a:prstGeom prst="roundRect">
            <a:avLst>
              <a:gd name="adj" fmla="val 8000"/>
            </a:avLst>
          </a:prstGeom>
          <a:solidFill>
            <a:srgbClr val="FCEC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 name="Oval 19">
            <a:extLst>
              <a:ext uri="{FF2B5EF4-FFF2-40B4-BE49-F238E27FC236}">
                <a16:creationId xmlns:a16="http://schemas.microsoft.com/office/drawing/2014/main" id="{B7EBBBC7-F604-EEA5-33A7-D117F399633A}"/>
              </a:ext>
            </a:extLst>
          </p:cNvPr>
          <p:cNvSpPr/>
          <p:nvPr/>
        </p:nvSpPr>
        <p:spPr>
          <a:xfrm>
            <a:off x="8467725" y="1447800"/>
            <a:ext cx="304800" cy="304800"/>
          </a:xfrm>
          <a:prstGeom prst="ellipse">
            <a:avLst/>
          </a:prstGeom>
          <a:solidFill>
            <a:srgbClr val="FFFFFF"/>
          </a:solidFill>
          <a:ln w="19050">
            <a:solidFill>
              <a:srgbClr val="F68D2E"/>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CA" sz="1100" b="1">
                <a:solidFill>
                  <a:srgbClr val="50152C"/>
                </a:solidFill>
                <a:latin typeface="Aptos Display" panose="020B0004020202020204" pitchFamily="34" charset="0"/>
              </a:rPr>
              <a:t>4</a:t>
            </a:r>
          </a:p>
        </p:txBody>
      </p:sp>
      <p:sp>
        <p:nvSpPr>
          <p:cNvPr id="21" name="TextBox 20">
            <a:extLst>
              <a:ext uri="{FF2B5EF4-FFF2-40B4-BE49-F238E27FC236}">
                <a16:creationId xmlns:a16="http://schemas.microsoft.com/office/drawing/2014/main" id="{8624210F-4DAD-4BCC-86A2-38DC7AA61EB9}"/>
              </a:ext>
            </a:extLst>
          </p:cNvPr>
          <p:cNvSpPr txBox="1"/>
          <p:nvPr/>
        </p:nvSpPr>
        <p:spPr>
          <a:xfrm>
            <a:off x="8467725" y="1854200"/>
            <a:ext cx="1320800" cy="228600"/>
          </a:xfrm>
          <a:prstGeom prst="rect">
            <a:avLst/>
          </a:prstGeom>
          <a:noFill/>
        </p:spPr>
        <p:txBody>
          <a:bodyPr vert="horz" wrap="square" lIns="0" tIns="0" rIns="0" bIns="0" rtlCol="0" anchor="t">
            <a:noAutofit/>
          </a:bodyPr>
          <a:lstStyle/>
          <a:p>
            <a:r>
              <a:rPr lang="en-CA" sz="1300" b="1">
                <a:solidFill>
                  <a:srgbClr val="50152C"/>
                </a:solidFill>
                <a:latin typeface="Aptos Display" panose="020B0004020202020204" pitchFamily="34" charset="0"/>
              </a:rPr>
              <a:t>Apply</a:t>
            </a:r>
          </a:p>
        </p:txBody>
      </p:sp>
      <p:sp>
        <p:nvSpPr>
          <p:cNvPr id="22" name="TextBox 21">
            <a:extLst>
              <a:ext uri="{FF2B5EF4-FFF2-40B4-BE49-F238E27FC236}">
                <a16:creationId xmlns:a16="http://schemas.microsoft.com/office/drawing/2014/main" id="{D975E27B-7E9B-3CA5-C1AC-C2974DD70782}"/>
              </a:ext>
            </a:extLst>
          </p:cNvPr>
          <p:cNvSpPr txBox="1"/>
          <p:nvPr/>
        </p:nvSpPr>
        <p:spPr>
          <a:xfrm>
            <a:off x="8467725" y="2108200"/>
            <a:ext cx="1320800" cy="660400"/>
          </a:xfrm>
          <a:prstGeom prst="rect">
            <a:avLst/>
          </a:prstGeom>
          <a:noFill/>
        </p:spPr>
        <p:txBody>
          <a:bodyPr vert="horz" wrap="square" lIns="0" tIns="0" rIns="0" bIns="0" rtlCol="0" anchor="t">
            <a:noAutofit/>
          </a:bodyPr>
          <a:lstStyle/>
          <a:p>
            <a:r>
              <a:rPr lang="en-US" sz="1200">
                <a:solidFill>
                  <a:srgbClr val="262626"/>
                </a:solidFill>
                <a:latin typeface="Calibri" panose="020F0502020204030204" pitchFamily="34" charset="0"/>
              </a:rPr>
              <a:t>Applies exactly the approved plan</a:t>
            </a:r>
            <a:endParaRPr lang="en-CA" sz="1200">
              <a:solidFill>
                <a:srgbClr val="262626"/>
              </a:solidFill>
              <a:latin typeface="Calibri" panose="020F0502020204030204" pitchFamily="34" charset="0"/>
            </a:endParaRPr>
          </a:p>
        </p:txBody>
      </p:sp>
      <p:sp>
        <p:nvSpPr>
          <p:cNvPr id="23" name="Arrow: Right 22">
            <a:extLst>
              <a:ext uri="{FF2B5EF4-FFF2-40B4-BE49-F238E27FC236}">
                <a16:creationId xmlns:a16="http://schemas.microsoft.com/office/drawing/2014/main" id="{1D41ED1C-5294-A19A-FD5F-55819E1D7853}"/>
              </a:ext>
            </a:extLst>
          </p:cNvPr>
          <p:cNvSpPr/>
          <p:nvPr/>
        </p:nvSpPr>
        <p:spPr>
          <a:xfrm>
            <a:off x="9953625" y="2006600"/>
            <a:ext cx="177800" cy="127000"/>
          </a:xfrm>
          <a:prstGeom prst="rightArrow">
            <a:avLst/>
          </a:prstGeom>
          <a:solidFill>
            <a:srgbClr val="F68D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4" name="Rectangle: Rounded Corners 23">
            <a:extLst>
              <a:ext uri="{FF2B5EF4-FFF2-40B4-BE49-F238E27FC236}">
                <a16:creationId xmlns:a16="http://schemas.microsoft.com/office/drawing/2014/main" id="{1D8AE324-B25B-A251-3F0D-0E8AB6575316}"/>
              </a:ext>
            </a:extLst>
          </p:cNvPr>
          <p:cNvSpPr/>
          <p:nvPr/>
        </p:nvSpPr>
        <p:spPr>
          <a:xfrm>
            <a:off x="10172700" y="1320800"/>
            <a:ext cx="1574800" cy="1498600"/>
          </a:xfrm>
          <a:prstGeom prst="roundRect">
            <a:avLst>
              <a:gd name="adj" fmla="val 8000"/>
            </a:avLst>
          </a:prstGeom>
          <a:solidFill>
            <a:srgbClr val="FCEC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5" name="Oval 24">
            <a:extLst>
              <a:ext uri="{FF2B5EF4-FFF2-40B4-BE49-F238E27FC236}">
                <a16:creationId xmlns:a16="http://schemas.microsoft.com/office/drawing/2014/main" id="{96F968A6-1944-4A83-CABB-B48BE98D60B1}"/>
              </a:ext>
            </a:extLst>
          </p:cNvPr>
          <p:cNvSpPr/>
          <p:nvPr/>
        </p:nvSpPr>
        <p:spPr>
          <a:xfrm>
            <a:off x="10299700" y="1447800"/>
            <a:ext cx="304800" cy="304800"/>
          </a:xfrm>
          <a:prstGeom prst="ellipse">
            <a:avLst/>
          </a:prstGeom>
          <a:solidFill>
            <a:srgbClr val="FFFFFF"/>
          </a:solidFill>
          <a:ln w="19050">
            <a:solidFill>
              <a:srgbClr val="F68D2E"/>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CA" sz="1100" b="1">
                <a:solidFill>
                  <a:srgbClr val="50152C"/>
                </a:solidFill>
                <a:latin typeface="Aptos Display" panose="020B0004020202020204" pitchFamily="34" charset="0"/>
              </a:rPr>
              <a:t>5</a:t>
            </a:r>
          </a:p>
        </p:txBody>
      </p:sp>
      <p:sp>
        <p:nvSpPr>
          <p:cNvPr id="26" name="TextBox 25">
            <a:extLst>
              <a:ext uri="{FF2B5EF4-FFF2-40B4-BE49-F238E27FC236}">
                <a16:creationId xmlns:a16="http://schemas.microsoft.com/office/drawing/2014/main" id="{FE3B366A-BB34-DEFC-4F28-8ABE8A116C9A}"/>
              </a:ext>
            </a:extLst>
          </p:cNvPr>
          <p:cNvSpPr txBox="1"/>
          <p:nvPr/>
        </p:nvSpPr>
        <p:spPr>
          <a:xfrm>
            <a:off x="10299700" y="1854200"/>
            <a:ext cx="1320800" cy="228600"/>
          </a:xfrm>
          <a:prstGeom prst="rect">
            <a:avLst/>
          </a:prstGeom>
          <a:noFill/>
        </p:spPr>
        <p:txBody>
          <a:bodyPr vert="horz" wrap="square" lIns="0" tIns="0" rIns="0" bIns="0" rtlCol="0" anchor="t">
            <a:noAutofit/>
          </a:bodyPr>
          <a:lstStyle/>
          <a:p>
            <a:r>
              <a:rPr lang="en-CA" sz="1300" b="1">
                <a:solidFill>
                  <a:srgbClr val="50152C"/>
                </a:solidFill>
                <a:latin typeface="Aptos Display" panose="020B0004020202020204" pitchFamily="34" charset="0"/>
              </a:rPr>
              <a:t>Evidence</a:t>
            </a:r>
          </a:p>
        </p:txBody>
      </p:sp>
      <p:sp>
        <p:nvSpPr>
          <p:cNvPr id="27" name="TextBox 26">
            <a:extLst>
              <a:ext uri="{FF2B5EF4-FFF2-40B4-BE49-F238E27FC236}">
                <a16:creationId xmlns:a16="http://schemas.microsoft.com/office/drawing/2014/main" id="{A2959C61-15F9-6A90-891D-470F1E64CA46}"/>
              </a:ext>
            </a:extLst>
          </p:cNvPr>
          <p:cNvSpPr txBox="1"/>
          <p:nvPr/>
        </p:nvSpPr>
        <p:spPr>
          <a:xfrm>
            <a:off x="10299700" y="2108200"/>
            <a:ext cx="1320800" cy="660400"/>
          </a:xfrm>
          <a:prstGeom prst="rect">
            <a:avLst/>
          </a:prstGeom>
          <a:noFill/>
        </p:spPr>
        <p:txBody>
          <a:bodyPr vert="horz" wrap="square" lIns="0" tIns="0" rIns="0" bIns="0" rtlCol="0" anchor="t">
            <a:noAutofit/>
          </a:bodyPr>
          <a:lstStyle/>
          <a:p>
            <a:r>
              <a:rPr lang="en-US" sz="1200">
                <a:solidFill>
                  <a:srgbClr val="262626"/>
                </a:solidFill>
                <a:latin typeface="Calibri" panose="020F0502020204030204" pitchFamily="34" charset="0"/>
              </a:rPr>
              <a:t>Plan, logs and outputs kept for every run</a:t>
            </a:r>
            <a:endParaRPr lang="en-CA" sz="1200">
              <a:solidFill>
                <a:srgbClr val="262626"/>
              </a:solidFill>
              <a:latin typeface="Calibri" panose="020F0502020204030204" pitchFamily="34" charset="0"/>
            </a:endParaRPr>
          </a:p>
        </p:txBody>
      </p:sp>
      <p:graphicFrame>
        <p:nvGraphicFramePr>
          <p:cNvPr id="28" name="Table 27">
            <a:extLst>
              <a:ext uri="{FF2B5EF4-FFF2-40B4-BE49-F238E27FC236}">
                <a16:creationId xmlns:a16="http://schemas.microsoft.com/office/drawing/2014/main" id="{74F234D3-F4A1-F4A7-00C0-EEB568A3AA0D}"/>
              </a:ext>
            </a:extLst>
          </p:cNvPr>
          <p:cNvGraphicFramePr>
            <a:graphicFrameLocks noGrp="1"/>
          </p:cNvGraphicFramePr>
          <p:nvPr>
            <p:extLst>
              <p:ext uri="{D42A27DB-BD31-4B8C-83A1-F6EECF244321}">
                <p14:modId xmlns:p14="http://schemas.microsoft.com/office/powerpoint/2010/main" val="221699243"/>
              </p:ext>
            </p:extLst>
          </p:nvPr>
        </p:nvGraphicFramePr>
        <p:xfrm>
          <a:off x="2844800" y="3048000"/>
          <a:ext cx="8902700" cy="1828800"/>
        </p:xfrm>
        <a:graphic>
          <a:graphicData uri="http://schemas.openxmlformats.org/drawingml/2006/table">
            <a:tbl>
              <a:tblPr firstRow="1" bandRow="1">
                <a:tableStyleId>{5940675A-B579-460E-94D1-54222C63F5DA}</a:tableStyleId>
              </a:tblPr>
              <a:tblGrid>
                <a:gridCol w="2133600">
                  <a:extLst>
                    <a:ext uri="{9D8B030D-6E8A-4147-A177-3AD203B41FA5}">
                      <a16:colId xmlns:a16="http://schemas.microsoft.com/office/drawing/2014/main" val="3923019114"/>
                    </a:ext>
                  </a:extLst>
                </a:gridCol>
                <a:gridCol w="1498600">
                  <a:extLst>
                    <a:ext uri="{9D8B030D-6E8A-4147-A177-3AD203B41FA5}">
                      <a16:colId xmlns:a16="http://schemas.microsoft.com/office/drawing/2014/main" val="3579228733"/>
                    </a:ext>
                  </a:extLst>
                </a:gridCol>
                <a:gridCol w="5270500">
                  <a:extLst>
                    <a:ext uri="{9D8B030D-6E8A-4147-A177-3AD203B41FA5}">
                      <a16:colId xmlns:a16="http://schemas.microsoft.com/office/drawing/2014/main" val="3490999647"/>
                    </a:ext>
                  </a:extLst>
                </a:gridCol>
              </a:tblGrid>
              <a:tr h="304800">
                <a:tc>
                  <a:txBody>
                    <a:bodyPr/>
                    <a:lstStyle/>
                    <a:p>
                      <a:pPr algn="l"/>
                      <a:r>
                        <a:rPr lang="en-CA" sz="1200" b="1">
                          <a:solidFill>
                            <a:srgbClr val="FFFFFF"/>
                          </a:solidFill>
                          <a:latin typeface="Calibri" panose="020F0502020204030204" pitchFamily="34" charset="0"/>
                        </a:rPr>
                        <a:t>Workflow</a:t>
                      </a:r>
                    </a:p>
                  </a:txBody>
                  <a:tcPr marL="76200" marR="76200" marT="38100" marB="38100" anchor="ctr">
                    <a:lnL w="9525" cmpd="sng">
                      <a:solidFill>
                        <a:srgbClr val="ED7D31"/>
                      </a:solidFill>
                    </a:lnL>
                    <a:lnR w="9525" cmpd="sng">
                      <a:solidFill>
                        <a:srgbClr val="ED7D31"/>
                      </a:solidFill>
                    </a:lnR>
                    <a:lnT w="9525" cmpd="sng">
                      <a:solidFill>
                        <a:srgbClr val="ED7D31"/>
                      </a:solidFill>
                    </a:lnT>
                    <a:lnB w="9525" cmpd="sng">
                      <a:solidFill>
                        <a:srgbClr val="ED7D31"/>
                      </a:solidFill>
                    </a:lnB>
                    <a:solidFill>
                      <a:srgbClr val="ED7D31"/>
                    </a:solidFill>
                  </a:tcPr>
                </a:tc>
                <a:tc>
                  <a:txBody>
                    <a:bodyPr/>
                    <a:lstStyle/>
                    <a:p>
                      <a:pPr algn="l"/>
                      <a:r>
                        <a:rPr lang="en-CA" sz="1200" b="1">
                          <a:solidFill>
                            <a:srgbClr val="FFFFFF"/>
                          </a:solidFill>
                          <a:latin typeface="Calibri" panose="020F0502020204030204" pitchFamily="34" charset="0"/>
                        </a:rPr>
                        <a:t>Runs</a:t>
                      </a:r>
                    </a:p>
                  </a:txBody>
                  <a:tcPr marL="76200" marR="76200" marT="38100" marB="38100" anchor="ctr">
                    <a:lnL w="9525" cmpd="sng">
                      <a:solidFill>
                        <a:srgbClr val="ED7D31"/>
                      </a:solidFill>
                    </a:lnL>
                    <a:lnR w="9525" cmpd="sng">
                      <a:solidFill>
                        <a:srgbClr val="ED7D31"/>
                      </a:solidFill>
                    </a:lnR>
                    <a:lnT w="9525" cmpd="sng">
                      <a:solidFill>
                        <a:srgbClr val="ED7D31"/>
                      </a:solidFill>
                    </a:lnT>
                    <a:lnB w="9525" cmpd="sng">
                      <a:solidFill>
                        <a:srgbClr val="ED7D31"/>
                      </a:solidFill>
                    </a:lnB>
                    <a:solidFill>
                      <a:srgbClr val="ED7D31"/>
                    </a:solidFill>
                  </a:tcPr>
                </a:tc>
                <a:tc>
                  <a:txBody>
                    <a:bodyPr/>
                    <a:lstStyle/>
                    <a:p>
                      <a:pPr algn="l"/>
                      <a:r>
                        <a:rPr lang="en-CA" sz="1200" b="1">
                          <a:solidFill>
                            <a:srgbClr val="FFFFFF"/>
                          </a:solidFill>
                          <a:latin typeface="Calibri" panose="020F0502020204030204" pitchFamily="34" charset="0"/>
                        </a:rPr>
                        <a:t>Purpose</a:t>
                      </a:r>
                    </a:p>
                  </a:txBody>
                  <a:tcPr marL="76200" marR="76200" marT="38100" marB="38100" anchor="ctr">
                    <a:lnL w="9525" cmpd="sng">
                      <a:solidFill>
                        <a:srgbClr val="ED7D31"/>
                      </a:solidFill>
                    </a:lnL>
                    <a:lnR w="9525" cmpd="sng">
                      <a:solidFill>
                        <a:srgbClr val="ED7D31"/>
                      </a:solidFill>
                    </a:lnR>
                    <a:lnT w="9525" cmpd="sng">
                      <a:solidFill>
                        <a:srgbClr val="ED7D31"/>
                      </a:solidFill>
                    </a:lnT>
                    <a:lnB w="9525" cmpd="sng">
                      <a:solidFill>
                        <a:srgbClr val="ED7D31"/>
                      </a:solidFill>
                    </a:lnB>
                    <a:solidFill>
                      <a:srgbClr val="ED7D31"/>
                    </a:solidFill>
                  </a:tcPr>
                </a:tc>
                <a:extLst>
                  <a:ext uri="{0D108BD9-81ED-4DB2-BD59-A6C34878D82A}">
                    <a16:rowId xmlns:a16="http://schemas.microsoft.com/office/drawing/2014/main" val="2435382598"/>
                  </a:ext>
                </a:extLst>
              </a:tr>
              <a:tr h="304800">
                <a:tc>
                  <a:txBody>
                    <a:bodyPr/>
                    <a:lstStyle/>
                    <a:p>
                      <a:pPr algn="l"/>
                      <a:r>
                        <a:rPr lang="en-CA" sz="1200" b="1">
                          <a:solidFill>
                            <a:srgbClr val="262626"/>
                          </a:solidFill>
                          <a:latin typeface="Calibri" panose="020F0502020204030204" pitchFamily="34" charset="0"/>
                        </a:rPr>
                        <a:t>Pull Request Checks</a:t>
                      </a:r>
                    </a:p>
                  </a:txBody>
                  <a:tcPr marL="76200" marR="76200" marT="38100" marB="38100" anchor="ctr">
                    <a:lnL w="9525" cmpd="sng">
                      <a:solidFill>
                        <a:srgbClr val="ED7D31"/>
                      </a:solidFill>
                    </a:lnL>
                    <a:lnR w="9525" cmpd="sng">
                      <a:solidFill>
                        <a:srgbClr val="ED7D31"/>
                      </a:solidFill>
                    </a:lnR>
                    <a:lnT w="9525" cmpd="sng">
                      <a:solidFill>
                        <a:srgbClr val="ED7D31"/>
                      </a:solidFill>
                    </a:lnT>
                    <a:lnB w="9525" cmpd="sng">
                      <a:solidFill>
                        <a:srgbClr val="ED7D31"/>
                      </a:solidFill>
                    </a:lnB>
                    <a:solidFill>
                      <a:srgbClr val="FCECE8"/>
                    </a:solidFill>
                  </a:tcPr>
                </a:tc>
                <a:tc>
                  <a:txBody>
                    <a:bodyPr/>
                    <a:lstStyle/>
                    <a:p>
                      <a:pPr algn="l"/>
                      <a:r>
                        <a:rPr lang="en-CA" sz="1200" b="0">
                          <a:solidFill>
                            <a:srgbClr val="262626"/>
                          </a:solidFill>
                          <a:latin typeface="Calibri" panose="020F0502020204030204" pitchFamily="34" charset="0"/>
                        </a:rPr>
                        <a:t>Every pull request</a:t>
                      </a:r>
                    </a:p>
                  </a:txBody>
                  <a:tcPr marL="76200" marR="76200" marT="38100" marB="38100" anchor="ctr">
                    <a:lnL w="9525" cmpd="sng">
                      <a:solidFill>
                        <a:srgbClr val="ED7D31"/>
                      </a:solidFill>
                    </a:lnL>
                    <a:lnR w="9525" cmpd="sng">
                      <a:solidFill>
                        <a:srgbClr val="ED7D31"/>
                      </a:solidFill>
                    </a:lnR>
                    <a:lnT w="9525" cmpd="sng">
                      <a:solidFill>
                        <a:srgbClr val="ED7D31"/>
                      </a:solidFill>
                    </a:lnT>
                    <a:lnB w="9525" cmpd="sng">
                      <a:solidFill>
                        <a:srgbClr val="ED7D31"/>
                      </a:solidFill>
                    </a:lnB>
                    <a:solidFill>
                      <a:srgbClr val="FCECE8"/>
                    </a:solidFill>
                  </a:tcPr>
                </a:tc>
                <a:tc>
                  <a:txBody>
                    <a:bodyPr/>
                    <a:lstStyle/>
                    <a:p>
                      <a:pPr algn="l"/>
                      <a:r>
                        <a:rPr lang="en-US" sz="1200" b="0">
                          <a:solidFill>
                            <a:srgbClr val="262626"/>
                          </a:solidFill>
                          <a:latin typeface="Calibri" panose="020F0502020204030204" pitchFamily="34" charset="0"/>
                        </a:rPr>
                        <a:t>Formats, validates and plans the environments a change affects</a:t>
                      </a:r>
                      <a:endParaRPr lang="en-CA" sz="1200" b="0">
                        <a:solidFill>
                          <a:srgbClr val="262626"/>
                        </a:solidFill>
                        <a:latin typeface="Calibri" panose="020F0502020204030204" pitchFamily="34" charset="0"/>
                      </a:endParaRPr>
                    </a:p>
                  </a:txBody>
                  <a:tcPr marL="76200" marR="76200" marT="38100" marB="38100" anchor="ctr">
                    <a:lnL w="9525" cmpd="sng">
                      <a:solidFill>
                        <a:srgbClr val="ED7D31"/>
                      </a:solidFill>
                    </a:lnL>
                    <a:lnR w="9525" cmpd="sng">
                      <a:solidFill>
                        <a:srgbClr val="ED7D31"/>
                      </a:solidFill>
                    </a:lnR>
                    <a:lnT w="9525" cmpd="sng">
                      <a:solidFill>
                        <a:srgbClr val="ED7D31"/>
                      </a:solidFill>
                    </a:lnT>
                    <a:lnB w="9525" cmpd="sng">
                      <a:solidFill>
                        <a:srgbClr val="ED7D31"/>
                      </a:solidFill>
                    </a:lnB>
                    <a:solidFill>
                      <a:srgbClr val="FCECE8"/>
                    </a:solidFill>
                  </a:tcPr>
                </a:tc>
                <a:extLst>
                  <a:ext uri="{0D108BD9-81ED-4DB2-BD59-A6C34878D82A}">
                    <a16:rowId xmlns:a16="http://schemas.microsoft.com/office/drawing/2014/main" val="2501400413"/>
                  </a:ext>
                </a:extLst>
              </a:tr>
              <a:tr h="304800">
                <a:tc>
                  <a:txBody>
                    <a:bodyPr/>
                    <a:lstStyle/>
                    <a:p>
                      <a:pPr algn="l"/>
                      <a:r>
                        <a:rPr lang="en-CA" sz="1200" b="1">
                          <a:solidFill>
                            <a:srgbClr val="262626"/>
                          </a:solidFill>
                          <a:latin typeface="Calibri" panose="020F0502020204030204" pitchFamily="34" charset="0"/>
                        </a:rPr>
                        <a:t>Bootstrap State Backend</a:t>
                      </a:r>
                    </a:p>
                  </a:txBody>
                  <a:tcPr marL="76200" marR="76200" marT="38100" marB="38100" anchor="ctr">
                    <a:lnL w="9525" cmpd="sng">
                      <a:solidFill>
                        <a:srgbClr val="ED7D31"/>
                      </a:solidFill>
                    </a:lnL>
                    <a:lnR w="9525" cmpd="sng">
                      <a:solidFill>
                        <a:srgbClr val="ED7D31"/>
                      </a:solidFill>
                    </a:lnR>
                    <a:lnT w="9525" cmpd="sng">
                      <a:solidFill>
                        <a:srgbClr val="ED7D31"/>
                      </a:solidFill>
                    </a:lnT>
                    <a:lnB w="9525" cmpd="sng">
                      <a:solidFill>
                        <a:srgbClr val="ED7D31"/>
                      </a:solidFill>
                    </a:lnB>
                    <a:solidFill>
                      <a:srgbClr val="FFFFFF"/>
                    </a:solidFill>
                  </a:tcPr>
                </a:tc>
                <a:tc>
                  <a:txBody>
                    <a:bodyPr/>
                    <a:lstStyle/>
                    <a:p>
                      <a:pPr algn="l"/>
                      <a:r>
                        <a:rPr lang="en-CA" sz="1200" b="0">
                          <a:solidFill>
                            <a:srgbClr val="262626"/>
                          </a:solidFill>
                          <a:latin typeface="Calibri" panose="020F0502020204030204" pitchFamily="34" charset="0"/>
                        </a:rPr>
                        <a:t>Manual</a:t>
                      </a:r>
                    </a:p>
                  </a:txBody>
                  <a:tcPr marL="76200" marR="76200" marT="38100" marB="38100" anchor="ctr">
                    <a:lnL w="9525" cmpd="sng">
                      <a:solidFill>
                        <a:srgbClr val="ED7D31"/>
                      </a:solidFill>
                    </a:lnL>
                    <a:lnR w="9525" cmpd="sng">
                      <a:solidFill>
                        <a:srgbClr val="ED7D31"/>
                      </a:solidFill>
                    </a:lnR>
                    <a:lnT w="9525" cmpd="sng">
                      <a:solidFill>
                        <a:srgbClr val="ED7D31"/>
                      </a:solidFill>
                    </a:lnT>
                    <a:lnB w="9525" cmpd="sng">
                      <a:solidFill>
                        <a:srgbClr val="ED7D31"/>
                      </a:solidFill>
                    </a:lnB>
                    <a:solidFill>
                      <a:srgbClr val="FFFFFF"/>
                    </a:solidFill>
                  </a:tcPr>
                </a:tc>
                <a:tc>
                  <a:txBody>
                    <a:bodyPr/>
                    <a:lstStyle/>
                    <a:p>
                      <a:pPr algn="l"/>
                      <a:r>
                        <a:rPr lang="en-US" sz="1200" b="0">
                          <a:solidFill>
                            <a:srgbClr val="262626"/>
                          </a:solidFill>
                          <a:latin typeface="Calibri" panose="020F0502020204030204" pitchFamily="34" charset="0"/>
                        </a:rPr>
                        <a:t>Creates an environment’s Terraform state storage; safe to re-run</a:t>
                      </a:r>
                      <a:endParaRPr lang="en-CA" sz="1200" b="0">
                        <a:solidFill>
                          <a:srgbClr val="262626"/>
                        </a:solidFill>
                        <a:latin typeface="Calibri" panose="020F0502020204030204" pitchFamily="34" charset="0"/>
                      </a:endParaRPr>
                    </a:p>
                  </a:txBody>
                  <a:tcPr marL="76200" marR="76200" marT="38100" marB="38100" anchor="ctr">
                    <a:lnL w="9525" cmpd="sng">
                      <a:solidFill>
                        <a:srgbClr val="ED7D31"/>
                      </a:solidFill>
                    </a:lnL>
                    <a:lnR w="9525" cmpd="sng">
                      <a:solidFill>
                        <a:srgbClr val="ED7D31"/>
                      </a:solidFill>
                    </a:lnR>
                    <a:lnT w="9525" cmpd="sng">
                      <a:solidFill>
                        <a:srgbClr val="ED7D31"/>
                      </a:solidFill>
                    </a:lnT>
                    <a:lnB w="9525" cmpd="sng">
                      <a:solidFill>
                        <a:srgbClr val="ED7D31"/>
                      </a:solidFill>
                    </a:lnB>
                    <a:solidFill>
                      <a:srgbClr val="FFFFFF"/>
                    </a:solidFill>
                  </a:tcPr>
                </a:tc>
                <a:extLst>
                  <a:ext uri="{0D108BD9-81ED-4DB2-BD59-A6C34878D82A}">
                    <a16:rowId xmlns:a16="http://schemas.microsoft.com/office/drawing/2014/main" val="1434107291"/>
                  </a:ext>
                </a:extLst>
              </a:tr>
              <a:tr h="304800">
                <a:tc>
                  <a:txBody>
                    <a:bodyPr/>
                    <a:lstStyle/>
                    <a:p>
                      <a:pPr algn="l"/>
                      <a:r>
                        <a:rPr lang="en-CA" sz="1200" b="1">
                          <a:solidFill>
                            <a:srgbClr val="262626"/>
                          </a:solidFill>
                          <a:latin typeface="Calibri" panose="020F0502020204030204" pitchFamily="34" charset="0"/>
                        </a:rPr>
                        <a:t>Deploy Platform</a:t>
                      </a:r>
                    </a:p>
                  </a:txBody>
                  <a:tcPr marL="76200" marR="76200" marT="38100" marB="38100" anchor="ctr">
                    <a:lnL w="9525" cmpd="sng">
                      <a:solidFill>
                        <a:srgbClr val="ED7D31"/>
                      </a:solidFill>
                    </a:lnL>
                    <a:lnR w="9525" cmpd="sng">
                      <a:solidFill>
                        <a:srgbClr val="ED7D31"/>
                      </a:solidFill>
                    </a:lnR>
                    <a:lnT w="9525" cmpd="sng">
                      <a:solidFill>
                        <a:srgbClr val="ED7D31"/>
                      </a:solidFill>
                    </a:lnT>
                    <a:lnB w="9525" cmpd="sng">
                      <a:solidFill>
                        <a:srgbClr val="ED7D31"/>
                      </a:solidFill>
                    </a:lnB>
                    <a:solidFill>
                      <a:srgbClr val="FCECE8"/>
                    </a:solidFill>
                  </a:tcPr>
                </a:tc>
                <a:tc>
                  <a:txBody>
                    <a:bodyPr/>
                    <a:lstStyle/>
                    <a:p>
                      <a:pPr algn="l"/>
                      <a:r>
                        <a:rPr lang="en-CA" sz="1200" b="0">
                          <a:solidFill>
                            <a:srgbClr val="262626"/>
                          </a:solidFill>
                          <a:latin typeface="Calibri" panose="020F0502020204030204" pitchFamily="34" charset="0"/>
                        </a:rPr>
                        <a:t>Manual</a:t>
                      </a:r>
                    </a:p>
                  </a:txBody>
                  <a:tcPr marL="76200" marR="76200" marT="38100" marB="38100" anchor="ctr">
                    <a:lnL w="9525" cmpd="sng">
                      <a:solidFill>
                        <a:srgbClr val="ED7D31"/>
                      </a:solidFill>
                    </a:lnL>
                    <a:lnR w="9525" cmpd="sng">
                      <a:solidFill>
                        <a:srgbClr val="ED7D31"/>
                      </a:solidFill>
                    </a:lnR>
                    <a:lnT w="9525" cmpd="sng">
                      <a:solidFill>
                        <a:srgbClr val="ED7D31"/>
                      </a:solidFill>
                    </a:lnT>
                    <a:lnB w="9525" cmpd="sng">
                      <a:solidFill>
                        <a:srgbClr val="ED7D31"/>
                      </a:solidFill>
                    </a:lnB>
                    <a:solidFill>
                      <a:srgbClr val="FCECE8"/>
                    </a:solidFill>
                  </a:tcPr>
                </a:tc>
                <a:tc>
                  <a:txBody>
                    <a:bodyPr/>
                    <a:lstStyle/>
                    <a:p>
                      <a:pPr algn="l"/>
                      <a:r>
                        <a:rPr lang="en-US" sz="1200" b="0">
                          <a:solidFill>
                            <a:srgbClr val="262626"/>
                          </a:solidFill>
                          <a:latin typeface="Calibri" panose="020F0502020204030204" pitchFamily="34" charset="0"/>
                        </a:rPr>
                        <a:t>Builds or updates environments in dev → test → prod order</a:t>
                      </a:r>
                      <a:endParaRPr lang="en-CA" sz="1200" b="0">
                        <a:solidFill>
                          <a:srgbClr val="262626"/>
                        </a:solidFill>
                        <a:latin typeface="Calibri" panose="020F0502020204030204" pitchFamily="34" charset="0"/>
                      </a:endParaRPr>
                    </a:p>
                  </a:txBody>
                  <a:tcPr marL="76200" marR="76200" marT="38100" marB="38100" anchor="ctr">
                    <a:lnL w="9525" cmpd="sng">
                      <a:solidFill>
                        <a:srgbClr val="ED7D31"/>
                      </a:solidFill>
                    </a:lnL>
                    <a:lnR w="9525" cmpd="sng">
                      <a:solidFill>
                        <a:srgbClr val="ED7D31"/>
                      </a:solidFill>
                    </a:lnR>
                    <a:lnT w="9525" cmpd="sng">
                      <a:solidFill>
                        <a:srgbClr val="ED7D31"/>
                      </a:solidFill>
                    </a:lnT>
                    <a:lnB w="9525" cmpd="sng">
                      <a:solidFill>
                        <a:srgbClr val="ED7D31"/>
                      </a:solidFill>
                    </a:lnB>
                    <a:solidFill>
                      <a:srgbClr val="FCECE8"/>
                    </a:solidFill>
                  </a:tcPr>
                </a:tc>
                <a:extLst>
                  <a:ext uri="{0D108BD9-81ED-4DB2-BD59-A6C34878D82A}">
                    <a16:rowId xmlns:a16="http://schemas.microsoft.com/office/drawing/2014/main" val="2910042459"/>
                  </a:ext>
                </a:extLst>
              </a:tr>
              <a:tr h="304800">
                <a:tc>
                  <a:txBody>
                    <a:bodyPr/>
                    <a:lstStyle/>
                    <a:p>
                      <a:pPr algn="l"/>
                      <a:r>
                        <a:rPr lang="en-CA" sz="1200" b="1">
                          <a:solidFill>
                            <a:srgbClr val="262626"/>
                          </a:solidFill>
                          <a:latin typeface="Calibri" panose="020F0502020204030204" pitchFamily="34" charset="0"/>
                        </a:rPr>
                        <a:t>Destroy Platform</a:t>
                      </a:r>
                    </a:p>
                  </a:txBody>
                  <a:tcPr marL="76200" marR="76200" marT="38100" marB="38100" anchor="ctr">
                    <a:lnL w="9525" cmpd="sng">
                      <a:solidFill>
                        <a:srgbClr val="ED7D31"/>
                      </a:solidFill>
                    </a:lnL>
                    <a:lnR w="9525" cmpd="sng">
                      <a:solidFill>
                        <a:srgbClr val="ED7D31"/>
                      </a:solidFill>
                    </a:lnR>
                    <a:lnT w="9525" cmpd="sng">
                      <a:solidFill>
                        <a:srgbClr val="ED7D31"/>
                      </a:solidFill>
                    </a:lnT>
                    <a:lnB w="9525" cmpd="sng">
                      <a:solidFill>
                        <a:srgbClr val="ED7D31"/>
                      </a:solidFill>
                    </a:lnB>
                    <a:solidFill>
                      <a:srgbClr val="FFFFFF"/>
                    </a:solidFill>
                  </a:tcPr>
                </a:tc>
                <a:tc>
                  <a:txBody>
                    <a:bodyPr/>
                    <a:lstStyle/>
                    <a:p>
                      <a:pPr algn="l"/>
                      <a:r>
                        <a:rPr lang="en-CA" sz="1200" b="0">
                          <a:solidFill>
                            <a:srgbClr val="262626"/>
                          </a:solidFill>
                          <a:latin typeface="Calibri" panose="020F0502020204030204" pitchFamily="34" charset="0"/>
                        </a:rPr>
                        <a:t>Manual, main only</a:t>
                      </a:r>
                    </a:p>
                  </a:txBody>
                  <a:tcPr marL="76200" marR="76200" marT="38100" marB="38100" anchor="ctr">
                    <a:lnL w="9525" cmpd="sng">
                      <a:solidFill>
                        <a:srgbClr val="ED7D31"/>
                      </a:solidFill>
                    </a:lnL>
                    <a:lnR w="9525" cmpd="sng">
                      <a:solidFill>
                        <a:srgbClr val="ED7D31"/>
                      </a:solidFill>
                    </a:lnR>
                    <a:lnT w="9525" cmpd="sng">
                      <a:solidFill>
                        <a:srgbClr val="ED7D31"/>
                      </a:solidFill>
                    </a:lnT>
                    <a:lnB w="9525" cmpd="sng">
                      <a:solidFill>
                        <a:srgbClr val="ED7D31"/>
                      </a:solidFill>
                    </a:lnB>
                    <a:solidFill>
                      <a:srgbClr val="FFFFFF"/>
                    </a:solidFill>
                  </a:tcPr>
                </a:tc>
                <a:tc>
                  <a:txBody>
                    <a:bodyPr/>
                    <a:lstStyle/>
                    <a:p>
                      <a:pPr algn="l"/>
                      <a:r>
                        <a:rPr lang="en-US" sz="1200" b="0">
                          <a:solidFill>
                            <a:srgbClr val="262626"/>
                          </a:solidFill>
                          <a:latin typeface="Calibri" panose="020F0502020204030204" pitchFamily="34" charset="0"/>
                        </a:rPr>
                        <a:t>Tears down an environment after its name is retyped; keeps state</a:t>
                      </a:r>
                      <a:endParaRPr lang="en-CA" sz="1200" b="0">
                        <a:solidFill>
                          <a:srgbClr val="262626"/>
                        </a:solidFill>
                        <a:latin typeface="Calibri" panose="020F0502020204030204" pitchFamily="34" charset="0"/>
                      </a:endParaRPr>
                    </a:p>
                  </a:txBody>
                  <a:tcPr marL="76200" marR="76200" marT="38100" marB="38100" anchor="ctr">
                    <a:lnL w="9525" cmpd="sng">
                      <a:solidFill>
                        <a:srgbClr val="ED7D31"/>
                      </a:solidFill>
                    </a:lnL>
                    <a:lnR w="9525" cmpd="sng">
                      <a:solidFill>
                        <a:srgbClr val="ED7D31"/>
                      </a:solidFill>
                    </a:lnR>
                    <a:lnT w="9525" cmpd="sng">
                      <a:solidFill>
                        <a:srgbClr val="ED7D31"/>
                      </a:solidFill>
                    </a:lnT>
                    <a:lnB w="9525" cmpd="sng">
                      <a:solidFill>
                        <a:srgbClr val="ED7D31"/>
                      </a:solidFill>
                    </a:lnB>
                    <a:solidFill>
                      <a:srgbClr val="FFFFFF"/>
                    </a:solidFill>
                  </a:tcPr>
                </a:tc>
                <a:extLst>
                  <a:ext uri="{0D108BD9-81ED-4DB2-BD59-A6C34878D82A}">
                    <a16:rowId xmlns:a16="http://schemas.microsoft.com/office/drawing/2014/main" val="1998369248"/>
                  </a:ext>
                </a:extLst>
              </a:tr>
              <a:tr h="304800">
                <a:tc>
                  <a:txBody>
                    <a:bodyPr/>
                    <a:lstStyle/>
                    <a:p>
                      <a:pPr algn="l"/>
                      <a:r>
                        <a:rPr lang="en-CA" sz="1200" b="1">
                          <a:solidFill>
                            <a:srgbClr val="262626"/>
                          </a:solidFill>
                          <a:latin typeface="Calibri" panose="020F0502020204030204" pitchFamily="34" charset="0"/>
                        </a:rPr>
                        <a:t>Unlock State</a:t>
                      </a:r>
                    </a:p>
                  </a:txBody>
                  <a:tcPr marL="76200" marR="76200" marT="38100" marB="38100" anchor="ctr">
                    <a:lnL w="9525" cmpd="sng">
                      <a:solidFill>
                        <a:srgbClr val="ED7D31"/>
                      </a:solidFill>
                    </a:lnL>
                    <a:lnR w="9525" cmpd="sng">
                      <a:solidFill>
                        <a:srgbClr val="ED7D31"/>
                      </a:solidFill>
                    </a:lnR>
                    <a:lnT w="9525" cmpd="sng">
                      <a:solidFill>
                        <a:srgbClr val="ED7D31"/>
                      </a:solidFill>
                    </a:lnT>
                    <a:lnB w="9525" cmpd="sng">
                      <a:solidFill>
                        <a:srgbClr val="ED7D31"/>
                      </a:solidFill>
                    </a:lnB>
                    <a:solidFill>
                      <a:srgbClr val="FCECE8"/>
                    </a:solidFill>
                  </a:tcPr>
                </a:tc>
                <a:tc>
                  <a:txBody>
                    <a:bodyPr/>
                    <a:lstStyle/>
                    <a:p>
                      <a:pPr algn="l"/>
                      <a:r>
                        <a:rPr lang="en-CA" sz="1200" b="0">
                          <a:solidFill>
                            <a:srgbClr val="262626"/>
                          </a:solidFill>
                          <a:latin typeface="Calibri" panose="020F0502020204030204" pitchFamily="34" charset="0"/>
                        </a:rPr>
                        <a:t>Manual, main only</a:t>
                      </a:r>
                    </a:p>
                  </a:txBody>
                  <a:tcPr marL="76200" marR="76200" marT="38100" marB="38100" anchor="ctr">
                    <a:lnL w="9525" cmpd="sng">
                      <a:solidFill>
                        <a:srgbClr val="ED7D31"/>
                      </a:solidFill>
                    </a:lnL>
                    <a:lnR w="9525" cmpd="sng">
                      <a:solidFill>
                        <a:srgbClr val="ED7D31"/>
                      </a:solidFill>
                    </a:lnR>
                    <a:lnT w="9525" cmpd="sng">
                      <a:solidFill>
                        <a:srgbClr val="ED7D31"/>
                      </a:solidFill>
                    </a:lnT>
                    <a:lnB w="9525" cmpd="sng">
                      <a:solidFill>
                        <a:srgbClr val="ED7D31"/>
                      </a:solidFill>
                    </a:lnB>
                    <a:solidFill>
                      <a:srgbClr val="FCECE8"/>
                    </a:solidFill>
                  </a:tcPr>
                </a:tc>
                <a:tc>
                  <a:txBody>
                    <a:bodyPr/>
                    <a:lstStyle/>
                    <a:p>
                      <a:pPr algn="l"/>
                      <a:r>
                        <a:rPr lang="en-US" sz="1200" b="0">
                          <a:solidFill>
                            <a:srgbClr val="262626"/>
                          </a:solidFill>
                          <a:latin typeface="Calibri" panose="020F0502020204030204" pitchFamily="34" charset="0"/>
                        </a:rPr>
                        <a:t>Releases a state lock left by a cancelled run</a:t>
                      </a:r>
                      <a:endParaRPr lang="en-CA" sz="1200" b="0">
                        <a:solidFill>
                          <a:srgbClr val="262626"/>
                        </a:solidFill>
                        <a:latin typeface="Calibri" panose="020F0502020204030204" pitchFamily="34" charset="0"/>
                      </a:endParaRPr>
                    </a:p>
                  </a:txBody>
                  <a:tcPr marL="76200" marR="76200" marT="38100" marB="38100" anchor="ctr">
                    <a:lnL w="9525" cmpd="sng">
                      <a:solidFill>
                        <a:srgbClr val="ED7D31"/>
                      </a:solidFill>
                    </a:lnL>
                    <a:lnR w="9525" cmpd="sng">
                      <a:solidFill>
                        <a:srgbClr val="ED7D31"/>
                      </a:solidFill>
                    </a:lnR>
                    <a:lnT w="9525" cmpd="sng">
                      <a:solidFill>
                        <a:srgbClr val="ED7D31"/>
                      </a:solidFill>
                    </a:lnT>
                    <a:lnB w="9525" cmpd="sng">
                      <a:solidFill>
                        <a:srgbClr val="ED7D31"/>
                      </a:solidFill>
                    </a:lnB>
                    <a:solidFill>
                      <a:srgbClr val="FCECE8"/>
                    </a:solidFill>
                  </a:tcPr>
                </a:tc>
                <a:extLst>
                  <a:ext uri="{0D108BD9-81ED-4DB2-BD59-A6C34878D82A}">
                    <a16:rowId xmlns:a16="http://schemas.microsoft.com/office/drawing/2014/main" val="2700549334"/>
                  </a:ext>
                </a:extLst>
              </a:tr>
            </a:tbl>
          </a:graphicData>
        </a:graphic>
      </p:graphicFrame>
    </p:spTree>
    <p:extLst>
      <p:ext uri="{BB962C8B-B14F-4D97-AF65-F5344CB8AC3E}">
        <p14:creationId xmlns:p14="http://schemas.microsoft.com/office/powerpoint/2010/main" val="7843857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96F6B-7993-CDCA-8BE5-6F2ED5C7336E}"/>
              </a:ext>
            </a:extLst>
          </p:cNvPr>
          <p:cNvSpPr>
            <a:spLocks noGrp="1"/>
          </p:cNvSpPr>
          <p:nvPr>
            <p:ph type="title"/>
          </p:nvPr>
        </p:nvSpPr>
        <p:spPr/>
        <p:txBody>
          <a:bodyPr>
            <a:normAutofit/>
          </a:bodyPr>
          <a:lstStyle/>
          <a:p>
            <a:r>
              <a:rPr lang="en-US" b="1">
                <a:latin typeface="Aptos Display" panose="020B0004020202020204" pitchFamily="34" charset="0"/>
              </a:rPr>
              <a:t>Running the Platform Day to Day</a:t>
            </a:r>
            <a:endParaRPr lang="en-CA" b="1">
              <a:latin typeface="Aptos Display" panose="020B0004020202020204" pitchFamily="34" charset="0"/>
            </a:endParaRPr>
          </a:p>
        </p:txBody>
      </p:sp>
      <p:sp>
        <p:nvSpPr>
          <p:cNvPr id="4" name="Rectangle: Rounded Corners 3">
            <a:extLst>
              <a:ext uri="{FF2B5EF4-FFF2-40B4-BE49-F238E27FC236}">
                <a16:creationId xmlns:a16="http://schemas.microsoft.com/office/drawing/2014/main" id="{330F1E7C-07CA-3917-3344-3F4E6F9577FE}"/>
              </a:ext>
            </a:extLst>
          </p:cNvPr>
          <p:cNvSpPr/>
          <p:nvPr/>
        </p:nvSpPr>
        <p:spPr>
          <a:xfrm>
            <a:off x="2844800" y="1320800"/>
            <a:ext cx="4191000" cy="4876800"/>
          </a:xfrm>
          <a:prstGeom prst="roundRect">
            <a:avLst>
              <a:gd name="adj" fmla="val 4000"/>
            </a:avLst>
          </a:prstGeom>
          <a:solidFill>
            <a:srgbClr val="FCEC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TextBox 4">
            <a:extLst>
              <a:ext uri="{FF2B5EF4-FFF2-40B4-BE49-F238E27FC236}">
                <a16:creationId xmlns:a16="http://schemas.microsoft.com/office/drawing/2014/main" id="{A5DF9E4C-6D72-3D7E-3D27-EAE49C90B085}"/>
              </a:ext>
            </a:extLst>
          </p:cNvPr>
          <p:cNvSpPr txBox="1"/>
          <p:nvPr/>
        </p:nvSpPr>
        <p:spPr>
          <a:xfrm>
            <a:off x="3048000" y="1498600"/>
            <a:ext cx="3784600" cy="279400"/>
          </a:xfrm>
          <a:prstGeom prst="rect">
            <a:avLst/>
          </a:prstGeom>
          <a:noFill/>
        </p:spPr>
        <p:txBody>
          <a:bodyPr vert="horz" wrap="square" lIns="0" tIns="0" rIns="0" bIns="0" rtlCol="0" anchor="t">
            <a:noAutofit/>
          </a:bodyPr>
          <a:lstStyle/>
          <a:p>
            <a:r>
              <a:rPr lang="en-CA" sz="1500" b="1">
                <a:solidFill>
                  <a:srgbClr val="50152C"/>
                </a:solidFill>
                <a:latin typeface="Aptos Display" panose="020B0004020202020204" pitchFamily="34" charset="0"/>
              </a:rPr>
              <a:t>HAProxy Patching</a:t>
            </a:r>
          </a:p>
        </p:txBody>
      </p:sp>
      <p:sp>
        <p:nvSpPr>
          <p:cNvPr id="6" name="TextBox 5">
            <a:extLst>
              <a:ext uri="{FF2B5EF4-FFF2-40B4-BE49-F238E27FC236}">
                <a16:creationId xmlns:a16="http://schemas.microsoft.com/office/drawing/2014/main" id="{E5CF5049-6EF0-9832-9392-EE3FE143FDA6}"/>
              </a:ext>
            </a:extLst>
          </p:cNvPr>
          <p:cNvSpPr txBox="1"/>
          <p:nvPr/>
        </p:nvSpPr>
        <p:spPr>
          <a:xfrm>
            <a:off x="3048000" y="1828800"/>
            <a:ext cx="3784600" cy="812800"/>
          </a:xfrm>
          <a:prstGeom prst="rect">
            <a:avLst/>
          </a:prstGeom>
          <a:noFill/>
        </p:spPr>
        <p:txBody>
          <a:bodyPr vert="horz" wrap="square" lIns="0" tIns="0" rIns="0" bIns="0" rtlCol="0" anchor="t">
            <a:noAutofit/>
          </a:bodyPr>
          <a:lstStyle/>
          <a:p>
            <a:r>
              <a:rPr lang="en-US" sz="1300">
                <a:solidFill>
                  <a:srgbClr val="262626"/>
                </a:solidFill>
                <a:latin typeface="Calibri" panose="020F0502020204030204" pitchFamily="34" charset="0"/>
              </a:rPr>
              <a:t>Azure Update Manager installs critical and security updates every Sunday, one VM at a time. A VM restarts only when an update needs it.</a:t>
            </a:r>
            <a:endParaRPr lang="en-CA" sz="1300">
              <a:solidFill>
                <a:srgbClr val="262626"/>
              </a:solidFill>
              <a:latin typeface="Calibri" panose="020F0502020204030204" pitchFamily="34" charset="0"/>
            </a:endParaRPr>
          </a:p>
        </p:txBody>
      </p:sp>
      <p:sp>
        <p:nvSpPr>
          <p:cNvPr id="7" name="TextBox 6">
            <a:extLst>
              <a:ext uri="{FF2B5EF4-FFF2-40B4-BE49-F238E27FC236}">
                <a16:creationId xmlns:a16="http://schemas.microsoft.com/office/drawing/2014/main" id="{6254375E-4E1E-29AF-21D8-DA7E6B595152}"/>
              </a:ext>
            </a:extLst>
          </p:cNvPr>
          <p:cNvSpPr txBox="1"/>
          <p:nvPr/>
        </p:nvSpPr>
        <p:spPr>
          <a:xfrm>
            <a:off x="3200400" y="2717800"/>
            <a:ext cx="1016000" cy="203200"/>
          </a:xfrm>
          <a:prstGeom prst="rect">
            <a:avLst/>
          </a:prstGeom>
          <a:noFill/>
        </p:spPr>
        <p:txBody>
          <a:bodyPr vert="horz" wrap="square" lIns="0" tIns="0" rIns="0" bIns="0" rtlCol="0" anchor="t">
            <a:noAutofit/>
          </a:bodyPr>
          <a:lstStyle/>
          <a:p>
            <a:r>
              <a:rPr lang="en-CA" sz="1200" b="1">
                <a:solidFill>
                  <a:srgbClr val="50152C"/>
                </a:solidFill>
                <a:latin typeface="Calibri" panose="020F0502020204030204" pitchFamily="34" charset="0"/>
              </a:rPr>
              <a:t>Sunday</a:t>
            </a:r>
          </a:p>
        </p:txBody>
      </p:sp>
      <p:cxnSp>
        <p:nvCxnSpPr>
          <p:cNvPr id="8" name="Straight Connector 7">
            <a:extLst>
              <a:ext uri="{FF2B5EF4-FFF2-40B4-BE49-F238E27FC236}">
                <a16:creationId xmlns:a16="http://schemas.microsoft.com/office/drawing/2014/main" id="{1060B99D-07A5-33B9-9B49-947101353A0E}"/>
              </a:ext>
            </a:extLst>
          </p:cNvPr>
          <p:cNvCxnSpPr/>
          <p:nvPr/>
        </p:nvCxnSpPr>
        <p:spPr>
          <a:xfrm>
            <a:off x="3200400" y="3403600"/>
            <a:ext cx="3530600" cy="0"/>
          </a:xfrm>
          <a:prstGeom prst="line">
            <a:avLst/>
          </a:prstGeom>
          <a:ln w="12700">
            <a:solidFill>
              <a:srgbClr val="595959"/>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05C9E0C-F40B-5B57-837F-B91F97F75E99}"/>
              </a:ext>
            </a:extLst>
          </p:cNvPr>
          <p:cNvCxnSpPr/>
          <p:nvPr/>
        </p:nvCxnSpPr>
        <p:spPr>
          <a:xfrm>
            <a:off x="3200400" y="3352800"/>
            <a:ext cx="0" cy="101600"/>
          </a:xfrm>
          <a:prstGeom prst="line">
            <a:avLst/>
          </a:prstGeom>
          <a:ln w="12700">
            <a:solidFill>
              <a:srgbClr val="595959"/>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42CC7491-22D2-6DF8-2554-B48B5E6915E7}"/>
              </a:ext>
            </a:extLst>
          </p:cNvPr>
          <p:cNvSpPr txBox="1"/>
          <p:nvPr/>
        </p:nvSpPr>
        <p:spPr>
          <a:xfrm>
            <a:off x="2946400" y="3492500"/>
            <a:ext cx="508000" cy="165100"/>
          </a:xfrm>
          <a:prstGeom prst="rect">
            <a:avLst/>
          </a:prstGeom>
          <a:noFill/>
        </p:spPr>
        <p:txBody>
          <a:bodyPr vert="horz" wrap="square" lIns="0" tIns="0" rIns="0" bIns="0" rtlCol="0" anchor="t">
            <a:noAutofit/>
          </a:bodyPr>
          <a:lstStyle/>
          <a:p>
            <a:pPr algn="ctr"/>
            <a:r>
              <a:rPr lang="en-CA" sz="1000">
                <a:solidFill>
                  <a:srgbClr val="595959"/>
                </a:solidFill>
                <a:latin typeface="Calibri" panose="020F0502020204030204" pitchFamily="34" charset="0"/>
              </a:rPr>
              <a:t>12:00</a:t>
            </a:r>
          </a:p>
        </p:txBody>
      </p:sp>
      <p:cxnSp>
        <p:nvCxnSpPr>
          <p:cNvPr id="11" name="Straight Connector 10">
            <a:extLst>
              <a:ext uri="{FF2B5EF4-FFF2-40B4-BE49-F238E27FC236}">
                <a16:creationId xmlns:a16="http://schemas.microsoft.com/office/drawing/2014/main" id="{2AFEBA02-D6FC-73D4-5A57-B08B4EE83505}"/>
              </a:ext>
            </a:extLst>
          </p:cNvPr>
          <p:cNvCxnSpPr/>
          <p:nvPr/>
        </p:nvCxnSpPr>
        <p:spPr>
          <a:xfrm>
            <a:off x="3906520" y="3352800"/>
            <a:ext cx="0" cy="101600"/>
          </a:xfrm>
          <a:prstGeom prst="line">
            <a:avLst/>
          </a:prstGeom>
          <a:ln w="12700">
            <a:solidFill>
              <a:srgbClr val="595959"/>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62522017-4E26-7C7C-D40F-690EC005EF89}"/>
              </a:ext>
            </a:extLst>
          </p:cNvPr>
          <p:cNvSpPr txBox="1"/>
          <p:nvPr/>
        </p:nvSpPr>
        <p:spPr>
          <a:xfrm>
            <a:off x="3652520" y="3492500"/>
            <a:ext cx="508000" cy="165100"/>
          </a:xfrm>
          <a:prstGeom prst="rect">
            <a:avLst/>
          </a:prstGeom>
          <a:noFill/>
        </p:spPr>
        <p:txBody>
          <a:bodyPr vert="horz" wrap="square" lIns="0" tIns="0" rIns="0" bIns="0" rtlCol="0" anchor="t">
            <a:noAutofit/>
          </a:bodyPr>
          <a:lstStyle/>
          <a:p>
            <a:pPr algn="ctr"/>
            <a:r>
              <a:rPr lang="en-CA" sz="1000">
                <a:solidFill>
                  <a:srgbClr val="595959"/>
                </a:solidFill>
                <a:latin typeface="Calibri" panose="020F0502020204030204" pitchFamily="34" charset="0"/>
              </a:rPr>
              <a:t>14:00</a:t>
            </a:r>
          </a:p>
        </p:txBody>
      </p:sp>
      <p:cxnSp>
        <p:nvCxnSpPr>
          <p:cNvPr id="13" name="Straight Connector 12">
            <a:extLst>
              <a:ext uri="{FF2B5EF4-FFF2-40B4-BE49-F238E27FC236}">
                <a16:creationId xmlns:a16="http://schemas.microsoft.com/office/drawing/2014/main" id="{67207055-884B-1150-355D-E9F2CA6EFC2E}"/>
              </a:ext>
            </a:extLst>
          </p:cNvPr>
          <p:cNvCxnSpPr/>
          <p:nvPr/>
        </p:nvCxnSpPr>
        <p:spPr>
          <a:xfrm>
            <a:off x="4612640" y="3352800"/>
            <a:ext cx="0" cy="101600"/>
          </a:xfrm>
          <a:prstGeom prst="line">
            <a:avLst/>
          </a:prstGeom>
          <a:ln w="12700">
            <a:solidFill>
              <a:srgbClr val="595959"/>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E5EF5D0C-99FB-03D5-0F33-CB1B274B95D1}"/>
              </a:ext>
            </a:extLst>
          </p:cNvPr>
          <p:cNvSpPr txBox="1"/>
          <p:nvPr/>
        </p:nvSpPr>
        <p:spPr>
          <a:xfrm>
            <a:off x="4358640" y="3492500"/>
            <a:ext cx="508000" cy="165100"/>
          </a:xfrm>
          <a:prstGeom prst="rect">
            <a:avLst/>
          </a:prstGeom>
          <a:noFill/>
        </p:spPr>
        <p:txBody>
          <a:bodyPr vert="horz" wrap="square" lIns="0" tIns="0" rIns="0" bIns="0" rtlCol="0" anchor="t">
            <a:noAutofit/>
          </a:bodyPr>
          <a:lstStyle/>
          <a:p>
            <a:pPr algn="ctr"/>
            <a:r>
              <a:rPr lang="en-CA" sz="1000">
                <a:solidFill>
                  <a:srgbClr val="595959"/>
                </a:solidFill>
                <a:latin typeface="Calibri" panose="020F0502020204030204" pitchFamily="34" charset="0"/>
              </a:rPr>
              <a:t>16:00</a:t>
            </a:r>
          </a:p>
        </p:txBody>
      </p:sp>
      <p:cxnSp>
        <p:nvCxnSpPr>
          <p:cNvPr id="15" name="Straight Connector 14">
            <a:extLst>
              <a:ext uri="{FF2B5EF4-FFF2-40B4-BE49-F238E27FC236}">
                <a16:creationId xmlns:a16="http://schemas.microsoft.com/office/drawing/2014/main" id="{694A0479-175E-EFA3-FDE6-2E4486525CA8}"/>
              </a:ext>
            </a:extLst>
          </p:cNvPr>
          <p:cNvCxnSpPr/>
          <p:nvPr/>
        </p:nvCxnSpPr>
        <p:spPr>
          <a:xfrm>
            <a:off x="5318760" y="3352800"/>
            <a:ext cx="0" cy="101600"/>
          </a:xfrm>
          <a:prstGeom prst="line">
            <a:avLst/>
          </a:prstGeom>
          <a:ln w="12700">
            <a:solidFill>
              <a:srgbClr val="595959"/>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792977AE-E775-1C66-7A37-4FD21B52EF73}"/>
              </a:ext>
            </a:extLst>
          </p:cNvPr>
          <p:cNvSpPr txBox="1"/>
          <p:nvPr/>
        </p:nvSpPr>
        <p:spPr>
          <a:xfrm>
            <a:off x="5064760" y="3492500"/>
            <a:ext cx="508000" cy="165100"/>
          </a:xfrm>
          <a:prstGeom prst="rect">
            <a:avLst/>
          </a:prstGeom>
          <a:noFill/>
        </p:spPr>
        <p:txBody>
          <a:bodyPr vert="horz" wrap="square" lIns="0" tIns="0" rIns="0" bIns="0" rtlCol="0" anchor="t">
            <a:noAutofit/>
          </a:bodyPr>
          <a:lstStyle/>
          <a:p>
            <a:pPr algn="ctr"/>
            <a:r>
              <a:rPr lang="en-CA" sz="1000">
                <a:solidFill>
                  <a:srgbClr val="595959"/>
                </a:solidFill>
                <a:latin typeface="Calibri" panose="020F0502020204030204" pitchFamily="34" charset="0"/>
              </a:rPr>
              <a:t>18:00</a:t>
            </a:r>
          </a:p>
        </p:txBody>
      </p:sp>
      <p:cxnSp>
        <p:nvCxnSpPr>
          <p:cNvPr id="17" name="Straight Connector 16">
            <a:extLst>
              <a:ext uri="{FF2B5EF4-FFF2-40B4-BE49-F238E27FC236}">
                <a16:creationId xmlns:a16="http://schemas.microsoft.com/office/drawing/2014/main" id="{D75DE2CF-ADFC-AD19-FF20-0328BA9A982F}"/>
              </a:ext>
            </a:extLst>
          </p:cNvPr>
          <p:cNvCxnSpPr/>
          <p:nvPr/>
        </p:nvCxnSpPr>
        <p:spPr>
          <a:xfrm>
            <a:off x="6024880" y="3352800"/>
            <a:ext cx="0" cy="101600"/>
          </a:xfrm>
          <a:prstGeom prst="line">
            <a:avLst/>
          </a:prstGeom>
          <a:ln w="12700">
            <a:solidFill>
              <a:srgbClr val="595959"/>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A65F23E9-E89D-1465-9CDA-EADE016356E9}"/>
              </a:ext>
            </a:extLst>
          </p:cNvPr>
          <p:cNvSpPr txBox="1"/>
          <p:nvPr/>
        </p:nvSpPr>
        <p:spPr>
          <a:xfrm>
            <a:off x="5770880" y="3492500"/>
            <a:ext cx="508000" cy="165100"/>
          </a:xfrm>
          <a:prstGeom prst="rect">
            <a:avLst/>
          </a:prstGeom>
          <a:noFill/>
        </p:spPr>
        <p:txBody>
          <a:bodyPr vert="horz" wrap="square" lIns="0" tIns="0" rIns="0" bIns="0" rtlCol="0" anchor="t">
            <a:noAutofit/>
          </a:bodyPr>
          <a:lstStyle/>
          <a:p>
            <a:pPr algn="ctr"/>
            <a:r>
              <a:rPr lang="en-CA" sz="1000">
                <a:solidFill>
                  <a:srgbClr val="595959"/>
                </a:solidFill>
                <a:latin typeface="Calibri" panose="020F0502020204030204" pitchFamily="34" charset="0"/>
              </a:rPr>
              <a:t>20:00</a:t>
            </a:r>
          </a:p>
        </p:txBody>
      </p:sp>
      <p:cxnSp>
        <p:nvCxnSpPr>
          <p:cNvPr id="19" name="Straight Connector 18">
            <a:extLst>
              <a:ext uri="{FF2B5EF4-FFF2-40B4-BE49-F238E27FC236}">
                <a16:creationId xmlns:a16="http://schemas.microsoft.com/office/drawing/2014/main" id="{B42ECF34-2685-56A5-60F3-7335221F3B37}"/>
              </a:ext>
            </a:extLst>
          </p:cNvPr>
          <p:cNvCxnSpPr/>
          <p:nvPr/>
        </p:nvCxnSpPr>
        <p:spPr>
          <a:xfrm>
            <a:off x="6731000" y="3352800"/>
            <a:ext cx="0" cy="101600"/>
          </a:xfrm>
          <a:prstGeom prst="line">
            <a:avLst/>
          </a:prstGeom>
          <a:ln w="12700">
            <a:solidFill>
              <a:srgbClr val="595959"/>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F818FFFC-3953-523B-047D-89CD8ECDD333}"/>
              </a:ext>
            </a:extLst>
          </p:cNvPr>
          <p:cNvSpPr txBox="1"/>
          <p:nvPr/>
        </p:nvSpPr>
        <p:spPr>
          <a:xfrm>
            <a:off x="6477000" y="3492500"/>
            <a:ext cx="508000" cy="165100"/>
          </a:xfrm>
          <a:prstGeom prst="rect">
            <a:avLst/>
          </a:prstGeom>
          <a:noFill/>
        </p:spPr>
        <p:txBody>
          <a:bodyPr vert="horz" wrap="square" lIns="0" tIns="0" rIns="0" bIns="0" rtlCol="0" anchor="t">
            <a:noAutofit/>
          </a:bodyPr>
          <a:lstStyle/>
          <a:p>
            <a:pPr algn="ctr"/>
            <a:r>
              <a:rPr lang="en-CA" sz="1000">
                <a:solidFill>
                  <a:srgbClr val="595959"/>
                </a:solidFill>
                <a:latin typeface="Calibri" panose="020F0502020204030204" pitchFamily="34" charset="0"/>
              </a:rPr>
              <a:t>22:00</a:t>
            </a:r>
          </a:p>
        </p:txBody>
      </p:sp>
      <p:sp>
        <p:nvSpPr>
          <p:cNvPr id="21" name="Rectangle 20">
            <a:extLst>
              <a:ext uri="{FF2B5EF4-FFF2-40B4-BE49-F238E27FC236}">
                <a16:creationId xmlns:a16="http://schemas.microsoft.com/office/drawing/2014/main" id="{F0489D3D-AADA-6B42-64E1-FD63890A77FD}"/>
              </a:ext>
            </a:extLst>
          </p:cNvPr>
          <p:cNvSpPr/>
          <p:nvPr/>
        </p:nvSpPr>
        <p:spPr>
          <a:xfrm>
            <a:off x="3906520" y="2997200"/>
            <a:ext cx="706120" cy="330200"/>
          </a:xfrm>
          <a:prstGeom prst="rect">
            <a:avLst/>
          </a:prstGeom>
          <a:solidFill>
            <a:srgbClr val="F68D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38100" tIns="0" rIns="38100" bIns="0" rtlCol="0" anchor="ctr"/>
          <a:lstStyle/>
          <a:p>
            <a:pPr algn="ctr"/>
            <a:r>
              <a:rPr lang="en-CA" sz="1100" b="1">
                <a:solidFill>
                  <a:srgbClr val="50152C"/>
                </a:solidFill>
                <a:latin typeface="Calibri" panose="020F0502020204030204" pitchFamily="34" charset="0"/>
              </a:rPr>
              <a:t>Zone 1</a:t>
            </a:r>
          </a:p>
        </p:txBody>
      </p:sp>
      <p:sp>
        <p:nvSpPr>
          <p:cNvPr id="22" name="Rectangle 21">
            <a:extLst>
              <a:ext uri="{FF2B5EF4-FFF2-40B4-BE49-F238E27FC236}">
                <a16:creationId xmlns:a16="http://schemas.microsoft.com/office/drawing/2014/main" id="{825E485E-BA45-0596-E7EC-E10A85E19755}"/>
              </a:ext>
            </a:extLst>
          </p:cNvPr>
          <p:cNvSpPr/>
          <p:nvPr/>
        </p:nvSpPr>
        <p:spPr>
          <a:xfrm>
            <a:off x="5318760" y="2997200"/>
            <a:ext cx="706120" cy="330200"/>
          </a:xfrm>
          <a:prstGeom prst="rect">
            <a:avLst/>
          </a:prstGeom>
          <a:solidFill>
            <a:srgbClr val="50152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38100" tIns="0" rIns="38100" bIns="0" rtlCol="0" anchor="ctr"/>
          <a:lstStyle/>
          <a:p>
            <a:pPr algn="ctr"/>
            <a:r>
              <a:rPr lang="en-CA" sz="1100" b="1">
                <a:solidFill>
                  <a:srgbClr val="FFFFFF"/>
                </a:solidFill>
                <a:latin typeface="Calibri" panose="020F0502020204030204" pitchFamily="34" charset="0"/>
              </a:rPr>
              <a:t>Zone 2</a:t>
            </a:r>
          </a:p>
        </p:txBody>
      </p:sp>
      <p:sp>
        <p:nvSpPr>
          <p:cNvPr id="23" name="TextBox 22">
            <a:extLst>
              <a:ext uri="{FF2B5EF4-FFF2-40B4-BE49-F238E27FC236}">
                <a16:creationId xmlns:a16="http://schemas.microsoft.com/office/drawing/2014/main" id="{7662E6C0-F5A1-7323-7B1D-2547DE20EF1D}"/>
              </a:ext>
            </a:extLst>
          </p:cNvPr>
          <p:cNvSpPr txBox="1"/>
          <p:nvPr/>
        </p:nvSpPr>
        <p:spPr>
          <a:xfrm>
            <a:off x="3048000" y="3835400"/>
            <a:ext cx="3784600" cy="457200"/>
          </a:xfrm>
          <a:prstGeom prst="rect">
            <a:avLst/>
          </a:prstGeom>
          <a:noFill/>
        </p:spPr>
        <p:txBody>
          <a:bodyPr vert="horz" wrap="square" lIns="0" tIns="0" rIns="0" bIns="0" rtlCol="0" anchor="t">
            <a:noAutofit/>
          </a:bodyPr>
          <a:lstStyle/>
          <a:p>
            <a:r>
              <a:rPr lang="en-CA" sz="1300" b="1">
                <a:solidFill>
                  <a:srgbClr val="50152C"/>
                </a:solidFill>
                <a:latin typeface="Calibri" panose="020F0502020204030204" pitchFamily="34" charset="0"/>
              </a:rPr>
              <a:t>Zone 1 VM: 14:00–16:00</a:t>
            </a:r>
          </a:p>
          <a:p>
            <a:r>
              <a:rPr lang="en-CA" sz="1300" b="1">
                <a:solidFill>
                  <a:srgbClr val="50152C"/>
                </a:solidFill>
                <a:latin typeface="Calibri" panose="020F0502020204030204" pitchFamily="34" charset="0"/>
              </a:rPr>
              <a:t>Zone 2 VM: 18:00–20:00</a:t>
            </a:r>
          </a:p>
        </p:txBody>
      </p:sp>
      <p:sp>
        <p:nvSpPr>
          <p:cNvPr id="24" name="TextBox 23">
            <a:extLst>
              <a:ext uri="{FF2B5EF4-FFF2-40B4-BE49-F238E27FC236}">
                <a16:creationId xmlns:a16="http://schemas.microsoft.com/office/drawing/2014/main" id="{23ABD2DE-3EE6-159B-2F6A-211A92E41F75}"/>
              </a:ext>
            </a:extLst>
          </p:cNvPr>
          <p:cNvSpPr txBox="1"/>
          <p:nvPr/>
        </p:nvSpPr>
        <p:spPr>
          <a:xfrm>
            <a:off x="3048000" y="4419600"/>
            <a:ext cx="3784600" cy="1016000"/>
          </a:xfrm>
          <a:prstGeom prst="rect">
            <a:avLst/>
          </a:prstGeom>
          <a:noFill/>
        </p:spPr>
        <p:txBody>
          <a:bodyPr vert="horz" wrap="square" lIns="0" tIns="0" rIns="0" bIns="0" rtlCol="0" anchor="t">
            <a:noAutofit/>
          </a:bodyPr>
          <a:lstStyle/>
          <a:p>
            <a:r>
              <a:rPr lang="en-US" sz="1300">
                <a:solidFill>
                  <a:srgbClr val="262626"/>
                </a:solidFill>
                <a:latin typeface="Calibri" panose="020F0502020204030204" pitchFamily="34" charset="0"/>
              </a:rPr>
              <a:t>The windows are two hours apart, so both VMs are never down together. A zone 1 VM that hasn’t come back raises an alert before zone 2 starts.</a:t>
            </a:r>
            <a:endParaRPr lang="en-CA" sz="1300">
              <a:solidFill>
                <a:srgbClr val="262626"/>
              </a:solidFill>
              <a:latin typeface="Calibri" panose="020F0502020204030204" pitchFamily="34" charset="0"/>
            </a:endParaRPr>
          </a:p>
        </p:txBody>
      </p:sp>
      <p:sp>
        <p:nvSpPr>
          <p:cNvPr id="25" name="Oval 24">
            <a:extLst>
              <a:ext uri="{FF2B5EF4-FFF2-40B4-BE49-F238E27FC236}">
                <a16:creationId xmlns:a16="http://schemas.microsoft.com/office/drawing/2014/main" id="{BA99B84A-555A-9017-8C69-F35D63F34AC9}"/>
              </a:ext>
            </a:extLst>
          </p:cNvPr>
          <p:cNvSpPr/>
          <p:nvPr/>
        </p:nvSpPr>
        <p:spPr>
          <a:xfrm>
            <a:off x="7264400" y="1346200"/>
            <a:ext cx="330200" cy="330200"/>
          </a:xfrm>
          <a:prstGeom prst="ellipse">
            <a:avLst/>
          </a:prstGeom>
          <a:solidFill>
            <a:srgbClr val="FFFFFF"/>
          </a:solidFill>
          <a:ln w="19050">
            <a:solidFill>
              <a:srgbClr val="F68D2E"/>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CA" sz="1200" b="1">
                <a:solidFill>
                  <a:srgbClr val="50152C"/>
                </a:solidFill>
                <a:latin typeface="Aptos Display" panose="020B0004020202020204" pitchFamily="34" charset="0"/>
              </a:rPr>
              <a:t>1</a:t>
            </a:r>
          </a:p>
        </p:txBody>
      </p:sp>
      <p:sp>
        <p:nvSpPr>
          <p:cNvPr id="26" name="TextBox 25">
            <a:extLst>
              <a:ext uri="{FF2B5EF4-FFF2-40B4-BE49-F238E27FC236}">
                <a16:creationId xmlns:a16="http://schemas.microsoft.com/office/drawing/2014/main" id="{7DA53366-2745-FA40-49F5-6D374013E497}"/>
              </a:ext>
            </a:extLst>
          </p:cNvPr>
          <p:cNvSpPr txBox="1"/>
          <p:nvPr/>
        </p:nvSpPr>
        <p:spPr>
          <a:xfrm>
            <a:off x="7721600" y="1384300"/>
            <a:ext cx="4025900" cy="254000"/>
          </a:xfrm>
          <a:prstGeom prst="rect">
            <a:avLst/>
          </a:prstGeom>
          <a:noFill/>
        </p:spPr>
        <p:txBody>
          <a:bodyPr vert="horz" wrap="square" lIns="0" tIns="0" rIns="0" bIns="0" rtlCol="0" anchor="t">
            <a:noAutofit/>
          </a:bodyPr>
          <a:lstStyle/>
          <a:p>
            <a:r>
              <a:rPr lang="en-CA" sz="1400" b="1">
                <a:solidFill>
                  <a:srgbClr val="50152C"/>
                </a:solidFill>
                <a:latin typeface="Aptos Display" panose="020B0004020202020204" pitchFamily="34" charset="0"/>
              </a:rPr>
              <a:t>Resilience</a:t>
            </a:r>
          </a:p>
        </p:txBody>
      </p:sp>
      <p:sp>
        <p:nvSpPr>
          <p:cNvPr id="27" name="TextBox 26">
            <a:extLst>
              <a:ext uri="{FF2B5EF4-FFF2-40B4-BE49-F238E27FC236}">
                <a16:creationId xmlns:a16="http://schemas.microsoft.com/office/drawing/2014/main" id="{CF539081-2DC4-CD9D-C36C-E991D3766BC5}"/>
              </a:ext>
            </a:extLst>
          </p:cNvPr>
          <p:cNvSpPr txBox="1"/>
          <p:nvPr/>
        </p:nvSpPr>
        <p:spPr>
          <a:xfrm>
            <a:off x="7721600" y="1676400"/>
            <a:ext cx="4025900" cy="787400"/>
          </a:xfrm>
          <a:prstGeom prst="rect">
            <a:avLst/>
          </a:prstGeom>
          <a:noFill/>
        </p:spPr>
        <p:txBody>
          <a:bodyPr vert="horz" wrap="square" lIns="0" tIns="0" rIns="0" bIns="0" rtlCol="0" anchor="t">
            <a:noAutofit/>
          </a:bodyPr>
          <a:lstStyle/>
          <a:p>
            <a:r>
              <a:rPr lang="en-US" sz="1300">
                <a:solidFill>
                  <a:srgbClr val="262626"/>
                </a:solidFill>
                <a:latin typeface="Calibri" panose="020F0502020204030204" pitchFamily="34" charset="0"/>
              </a:rPr>
              <a:t>The load balancer checks each HAProxy VM every five seconds. If a VM or zone fails, the other VM carries all traffic.</a:t>
            </a:r>
            <a:endParaRPr lang="en-CA" sz="1300">
              <a:solidFill>
                <a:srgbClr val="262626"/>
              </a:solidFill>
              <a:latin typeface="Calibri" panose="020F0502020204030204" pitchFamily="34" charset="0"/>
            </a:endParaRPr>
          </a:p>
        </p:txBody>
      </p:sp>
      <p:sp>
        <p:nvSpPr>
          <p:cNvPr id="28" name="Oval 27">
            <a:extLst>
              <a:ext uri="{FF2B5EF4-FFF2-40B4-BE49-F238E27FC236}">
                <a16:creationId xmlns:a16="http://schemas.microsoft.com/office/drawing/2014/main" id="{29B5570C-32E1-AD6B-54A9-49B55E95C25B}"/>
              </a:ext>
            </a:extLst>
          </p:cNvPr>
          <p:cNvSpPr/>
          <p:nvPr/>
        </p:nvSpPr>
        <p:spPr>
          <a:xfrm>
            <a:off x="7264400" y="2540000"/>
            <a:ext cx="330200" cy="330200"/>
          </a:xfrm>
          <a:prstGeom prst="ellipse">
            <a:avLst/>
          </a:prstGeom>
          <a:solidFill>
            <a:srgbClr val="FFFFFF"/>
          </a:solidFill>
          <a:ln w="19050">
            <a:solidFill>
              <a:srgbClr val="F68D2E"/>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CA" sz="1200" b="1">
                <a:solidFill>
                  <a:srgbClr val="50152C"/>
                </a:solidFill>
                <a:latin typeface="Aptos Display" panose="020B0004020202020204" pitchFamily="34" charset="0"/>
              </a:rPr>
              <a:t>2</a:t>
            </a:r>
          </a:p>
        </p:txBody>
      </p:sp>
      <p:sp>
        <p:nvSpPr>
          <p:cNvPr id="29" name="TextBox 28">
            <a:extLst>
              <a:ext uri="{FF2B5EF4-FFF2-40B4-BE49-F238E27FC236}">
                <a16:creationId xmlns:a16="http://schemas.microsoft.com/office/drawing/2014/main" id="{E4B50624-5783-8509-4D59-1FE2B3720BCC}"/>
              </a:ext>
            </a:extLst>
          </p:cNvPr>
          <p:cNvSpPr txBox="1"/>
          <p:nvPr/>
        </p:nvSpPr>
        <p:spPr>
          <a:xfrm>
            <a:off x="7721600" y="2578100"/>
            <a:ext cx="4025900" cy="254000"/>
          </a:xfrm>
          <a:prstGeom prst="rect">
            <a:avLst/>
          </a:prstGeom>
          <a:noFill/>
        </p:spPr>
        <p:txBody>
          <a:bodyPr vert="horz" wrap="square" lIns="0" tIns="0" rIns="0" bIns="0" rtlCol="0" anchor="t">
            <a:noAutofit/>
          </a:bodyPr>
          <a:lstStyle/>
          <a:p>
            <a:r>
              <a:rPr lang="en-CA" sz="1400" b="1">
                <a:solidFill>
                  <a:srgbClr val="50152C"/>
                </a:solidFill>
                <a:latin typeface="Aptos Display" panose="020B0004020202020204" pitchFamily="34" charset="0"/>
              </a:rPr>
              <a:t>Changes without rebuilds</a:t>
            </a:r>
          </a:p>
        </p:txBody>
      </p:sp>
      <p:sp>
        <p:nvSpPr>
          <p:cNvPr id="30" name="TextBox 29">
            <a:extLst>
              <a:ext uri="{FF2B5EF4-FFF2-40B4-BE49-F238E27FC236}">
                <a16:creationId xmlns:a16="http://schemas.microsoft.com/office/drawing/2014/main" id="{F0C3CB5E-7A69-DD35-6EF5-53CB0440B358}"/>
              </a:ext>
            </a:extLst>
          </p:cNvPr>
          <p:cNvSpPr txBox="1"/>
          <p:nvPr/>
        </p:nvSpPr>
        <p:spPr>
          <a:xfrm>
            <a:off x="7721600" y="2870200"/>
            <a:ext cx="4025900" cy="787400"/>
          </a:xfrm>
          <a:prstGeom prst="rect">
            <a:avLst/>
          </a:prstGeom>
          <a:noFill/>
        </p:spPr>
        <p:txBody>
          <a:bodyPr vert="horz" wrap="square" lIns="0" tIns="0" rIns="0" bIns="0" rtlCol="0" anchor="t">
            <a:noAutofit/>
          </a:bodyPr>
          <a:lstStyle/>
          <a:p>
            <a:r>
              <a:rPr lang="en-US" sz="1300">
                <a:solidFill>
                  <a:srgbClr val="262626"/>
                </a:solidFill>
                <a:latin typeface="Calibri" panose="020F0502020204030204" pitchFamily="34" charset="0"/>
              </a:rPr>
              <a:t>Adding or changing a database updates both VMs in place, with a validated configuration and a graceful reload.</a:t>
            </a:r>
            <a:endParaRPr lang="en-CA" sz="1300">
              <a:solidFill>
                <a:srgbClr val="262626"/>
              </a:solidFill>
              <a:latin typeface="Calibri" panose="020F0502020204030204" pitchFamily="34" charset="0"/>
            </a:endParaRPr>
          </a:p>
        </p:txBody>
      </p:sp>
      <p:sp>
        <p:nvSpPr>
          <p:cNvPr id="31" name="Oval 30">
            <a:extLst>
              <a:ext uri="{FF2B5EF4-FFF2-40B4-BE49-F238E27FC236}">
                <a16:creationId xmlns:a16="http://schemas.microsoft.com/office/drawing/2014/main" id="{F479700E-05DB-4B76-3134-78A86EBFFBA8}"/>
              </a:ext>
            </a:extLst>
          </p:cNvPr>
          <p:cNvSpPr/>
          <p:nvPr/>
        </p:nvSpPr>
        <p:spPr>
          <a:xfrm>
            <a:off x="7264400" y="3733800"/>
            <a:ext cx="330200" cy="330200"/>
          </a:xfrm>
          <a:prstGeom prst="ellipse">
            <a:avLst/>
          </a:prstGeom>
          <a:solidFill>
            <a:srgbClr val="FFFFFF"/>
          </a:solidFill>
          <a:ln w="19050">
            <a:solidFill>
              <a:srgbClr val="F68D2E"/>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CA" sz="1200" b="1">
                <a:solidFill>
                  <a:srgbClr val="50152C"/>
                </a:solidFill>
                <a:latin typeface="Aptos Display" panose="020B0004020202020204" pitchFamily="34" charset="0"/>
              </a:rPr>
              <a:t>3</a:t>
            </a:r>
          </a:p>
        </p:txBody>
      </p:sp>
      <p:sp>
        <p:nvSpPr>
          <p:cNvPr id="32" name="TextBox 31">
            <a:extLst>
              <a:ext uri="{FF2B5EF4-FFF2-40B4-BE49-F238E27FC236}">
                <a16:creationId xmlns:a16="http://schemas.microsoft.com/office/drawing/2014/main" id="{4BA03249-9BF3-DAFB-F727-D2B20120DECA}"/>
              </a:ext>
            </a:extLst>
          </p:cNvPr>
          <p:cNvSpPr txBox="1"/>
          <p:nvPr/>
        </p:nvSpPr>
        <p:spPr>
          <a:xfrm>
            <a:off x="7721600" y="3771900"/>
            <a:ext cx="4025900" cy="254000"/>
          </a:xfrm>
          <a:prstGeom prst="rect">
            <a:avLst/>
          </a:prstGeom>
          <a:noFill/>
        </p:spPr>
        <p:txBody>
          <a:bodyPr vert="horz" wrap="square" lIns="0" tIns="0" rIns="0" bIns="0" rtlCol="0" anchor="t">
            <a:noAutofit/>
          </a:bodyPr>
          <a:lstStyle/>
          <a:p>
            <a:r>
              <a:rPr lang="en-CA" sz="1400" b="1">
                <a:solidFill>
                  <a:srgbClr val="50152C"/>
                </a:solidFill>
                <a:latin typeface="Aptos Display" panose="020B0004020202020204" pitchFamily="34" charset="0"/>
              </a:rPr>
              <a:t>Monitoring</a:t>
            </a:r>
          </a:p>
        </p:txBody>
      </p:sp>
      <p:sp>
        <p:nvSpPr>
          <p:cNvPr id="33" name="TextBox 32">
            <a:extLst>
              <a:ext uri="{FF2B5EF4-FFF2-40B4-BE49-F238E27FC236}">
                <a16:creationId xmlns:a16="http://schemas.microsoft.com/office/drawing/2014/main" id="{FB4822F8-6E92-562B-5311-1851909B226E}"/>
              </a:ext>
            </a:extLst>
          </p:cNvPr>
          <p:cNvSpPr txBox="1"/>
          <p:nvPr/>
        </p:nvSpPr>
        <p:spPr>
          <a:xfrm>
            <a:off x="7721600" y="4064000"/>
            <a:ext cx="4025900" cy="787400"/>
          </a:xfrm>
          <a:prstGeom prst="rect">
            <a:avLst/>
          </a:prstGeom>
          <a:noFill/>
        </p:spPr>
        <p:txBody>
          <a:bodyPr vert="horz" wrap="square" lIns="0" tIns="0" rIns="0" bIns="0" rtlCol="0" anchor="t">
            <a:noAutofit/>
          </a:bodyPr>
          <a:lstStyle/>
          <a:p>
            <a:r>
              <a:rPr lang="en-US" sz="1300">
                <a:solidFill>
                  <a:srgbClr val="262626"/>
                </a:solidFill>
                <a:latin typeface="Calibri" panose="020F0502020204030204" pitchFamily="34" charset="0"/>
              </a:rPr>
              <a:t>Log Analytics and diagnostic settings, with alerts on the HAProxy tier, NAT Gateway and data storage.</a:t>
            </a:r>
            <a:endParaRPr lang="en-CA" sz="1300">
              <a:solidFill>
                <a:srgbClr val="262626"/>
              </a:solidFill>
              <a:latin typeface="Calibri" panose="020F0502020204030204" pitchFamily="34" charset="0"/>
            </a:endParaRPr>
          </a:p>
        </p:txBody>
      </p:sp>
      <p:sp>
        <p:nvSpPr>
          <p:cNvPr id="34" name="Oval 33">
            <a:extLst>
              <a:ext uri="{FF2B5EF4-FFF2-40B4-BE49-F238E27FC236}">
                <a16:creationId xmlns:a16="http://schemas.microsoft.com/office/drawing/2014/main" id="{47D280EB-A0EF-2E93-848D-744C11EBABD4}"/>
              </a:ext>
            </a:extLst>
          </p:cNvPr>
          <p:cNvSpPr/>
          <p:nvPr/>
        </p:nvSpPr>
        <p:spPr>
          <a:xfrm>
            <a:off x="7264400" y="4927600"/>
            <a:ext cx="330200" cy="330200"/>
          </a:xfrm>
          <a:prstGeom prst="ellipse">
            <a:avLst/>
          </a:prstGeom>
          <a:solidFill>
            <a:srgbClr val="FFFFFF"/>
          </a:solidFill>
          <a:ln w="19050">
            <a:solidFill>
              <a:srgbClr val="F68D2E"/>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CA" sz="1200" b="1">
                <a:solidFill>
                  <a:srgbClr val="50152C"/>
                </a:solidFill>
                <a:latin typeface="Aptos Display" panose="020B0004020202020204" pitchFamily="34" charset="0"/>
              </a:rPr>
              <a:t>4</a:t>
            </a:r>
          </a:p>
        </p:txBody>
      </p:sp>
      <p:sp>
        <p:nvSpPr>
          <p:cNvPr id="35" name="TextBox 34">
            <a:extLst>
              <a:ext uri="{FF2B5EF4-FFF2-40B4-BE49-F238E27FC236}">
                <a16:creationId xmlns:a16="http://schemas.microsoft.com/office/drawing/2014/main" id="{E975F77A-9C20-5822-93D3-71B03472F324}"/>
              </a:ext>
            </a:extLst>
          </p:cNvPr>
          <p:cNvSpPr txBox="1"/>
          <p:nvPr/>
        </p:nvSpPr>
        <p:spPr>
          <a:xfrm>
            <a:off x="7721600" y="4965700"/>
            <a:ext cx="4025900" cy="254000"/>
          </a:xfrm>
          <a:prstGeom prst="rect">
            <a:avLst/>
          </a:prstGeom>
          <a:noFill/>
        </p:spPr>
        <p:txBody>
          <a:bodyPr vert="horz" wrap="square" lIns="0" tIns="0" rIns="0" bIns="0" rtlCol="0" anchor="t">
            <a:noAutofit/>
          </a:bodyPr>
          <a:lstStyle/>
          <a:p>
            <a:r>
              <a:rPr lang="en-CA" sz="1400" b="1">
                <a:solidFill>
                  <a:srgbClr val="50152C"/>
                </a:solidFill>
                <a:latin typeface="Aptos Display" panose="020B0004020202020204" pitchFamily="34" charset="0"/>
              </a:rPr>
              <a:t>Operational scripts</a:t>
            </a:r>
          </a:p>
        </p:txBody>
      </p:sp>
      <p:sp>
        <p:nvSpPr>
          <p:cNvPr id="36" name="TextBox 35">
            <a:extLst>
              <a:ext uri="{FF2B5EF4-FFF2-40B4-BE49-F238E27FC236}">
                <a16:creationId xmlns:a16="http://schemas.microsoft.com/office/drawing/2014/main" id="{29DF7AA7-36F5-37C6-850C-78F29F1CF069}"/>
              </a:ext>
            </a:extLst>
          </p:cNvPr>
          <p:cNvSpPr txBox="1"/>
          <p:nvPr/>
        </p:nvSpPr>
        <p:spPr>
          <a:xfrm>
            <a:off x="7721600" y="5257800"/>
            <a:ext cx="4025900" cy="787400"/>
          </a:xfrm>
          <a:prstGeom prst="rect">
            <a:avLst/>
          </a:prstGeom>
          <a:noFill/>
        </p:spPr>
        <p:txBody>
          <a:bodyPr vert="horz" wrap="square" lIns="0" tIns="0" rIns="0" bIns="0" rtlCol="0" anchor="t">
            <a:noAutofit/>
          </a:bodyPr>
          <a:lstStyle/>
          <a:p>
            <a:r>
              <a:rPr lang="en-US" sz="1300">
                <a:solidFill>
                  <a:srgbClr val="262626"/>
                </a:solidFill>
                <a:latin typeface="Calibri" panose="020F0502020204030204" pitchFamily="34" charset="0"/>
              </a:rPr>
              <a:t>Private endpoint approval, connectivity checks for classic and serverless compute, and handoff export.</a:t>
            </a:r>
            <a:endParaRPr lang="en-CA" sz="1300">
              <a:solidFill>
                <a:srgbClr val="262626"/>
              </a:solidFill>
              <a:latin typeface="Calibri" panose="020F0502020204030204" pitchFamily="34" charset="0"/>
            </a:endParaRPr>
          </a:p>
        </p:txBody>
      </p:sp>
    </p:spTree>
    <p:extLst>
      <p:ext uri="{BB962C8B-B14F-4D97-AF65-F5344CB8AC3E}">
        <p14:creationId xmlns:p14="http://schemas.microsoft.com/office/powerpoint/2010/main" val="13475760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E09D5-0DB8-82C5-9652-E53F606740EB}"/>
              </a:ext>
            </a:extLst>
          </p:cNvPr>
          <p:cNvSpPr>
            <a:spLocks noGrp="1"/>
          </p:cNvSpPr>
          <p:nvPr>
            <p:ph type="title"/>
          </p:nvPr>
        </p:nvSpPr>
        <p:spPr/>
        <p:txBody>
          <a:bodyPr/>
          <a:lstStyle/>
          <a:p>
            <a:r>
              <a:rPr lang="en-CA">
                <a:solidFill>
                  <a:srgbClr val="FFFFFF"/>
                </a:solidFill>
              </a:rPr>
              <a:t>Handover and Next Steps</a:t>
            </a:r>
          </a:p>
        </p:txBody>
      </p:sp>
      <p:sp>
        <p:nvSpPr>
          <p:cNvPr id="3" name="Text Placeholder 2">
            <a:extLst>
              <a:ext uri="{FF2B5EF4-FFF2-40B4-BE49-F238E27FC236}">
                <a16:creationId xmlns:a16="http://schemas.microsoft.com/office/drawing/2014/main" id="{DB18BF35-9639-472D-3329-F8573E8D4971}"/>
              </a:ext>
            </a:extLst>
          </p:cNvPr>
          <p:cNvSpPr>
            <a:spLocks noGrp="1"/>
          </p:cNvSpPr>
          <p:nvPr>
            <p:ph type="body" idx="1"/>
          </p:nvPr>
        </p:nvSpPr>
        <p:spPr/>
        <p:txBody>
          <a:bodyPr/>
          <a:lstStyle/>
          <a:p>
            <a:r>
              <a:rPr lang="en-US"/>
              <a:t>Ownership and what Baytex completes</a:t>
            </a:r>
            <a:endParaRPr lang="en-CA"/>
          </a:p>
        </p:txBody>
      </p:sp>
    </p:spTree>
    <p:extLst>
      <p:ext uri="{BB962C8B-B14F-4D97-AF65-F5344CB8AC3E}">
        <p14:creationId xmlns:p14="http://schemas.microsoft.com/office/powerpoint/2010/main" val="7841268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CFCA8-8845-9BB5-31A3-C83405832684}"/>
              </a:ext>
            </a:extLst>
          </p:cNvPr>
          <p:cNvSpPr>
            <a:spLocks noGrp="1"/>
          </p:cNvSpPr>
          <p:nvPr>
            <p:ph type="title"/>
          </p:nvPr>
        </p:nvSpPr>
        <p:spPr/>
        <p:txBody>
          <a:bodyPr>
            <a:normAutofit/>
          </a:bodyPr>
          <a:lstStyle/>
          <a:p>
            <a:r>
              <a:rPr lang="en-CA" b="1">
                <a:latin typeface="Aptos Display" panose="020B0004020202020204" pitchFamily="34" charset="0"/>
              </a:rPr>
              <a:t>Who Owns What</a:t>
            </a:r>
          </a:p>
        </p:txBody>
      </p:sp>
      <p:sp>
        <p:nvSpPr>
          <p:cNvPr id="4" name="Rectangle: Rounded Corners 3">
            <a:extLst>
              <a:ext uri="{FF2B5EF4-FFF2-40B4-BE49-F238E27FC236}">
                <a16:creationId xmlns:a16="http://schemas.microsoft.com/office/drawing/2014/main" id="{E98F0CF5-677A-C369-F38B-EC53649B899F}"/>
              </a:ext>
            </a:extLst>
          </p:cNvPr>
          <p:cNvSpPr/>
          <p:nvPr/>
        </p:nvSpPr>
        <p:spPr>
          <a:xfrm>
            <a:off x="2844800" y="1320800"/>
            <a:ext cx="2844800" cy="3327400"/>
          </a:xfrm>
          <a:prstGeom prst="roundRect">
            <a:avLst>
              <a:gd name="adj" fmla="val 5000"/>
            </a:avLst>
          </a:prstGeom>
          <a:solidFill>
            <a:srgbClr val="FFFFFF"/>
          </a:solidFill>
          <a:ln w="12700">
            <a:solidFill>
              <a:srgbClr val="F8D7C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Rectangle: Rounded Corners 4">
            <a:extLst>
              <a:ext uri="{FF2B5EF4-FFF2-40B4-BE49-F238E27FC236}">
                <a16:creationId xmlns:a16="http://schemas.microsoft.com/office/drawing/2014/main" id="{B0A84722-D1CD-D4C4-7372-2FAAEDE076A1}"/>
              </a:ext>
            </a:extLst>
          </p:cNvPr>
          <p:cNvSpPr/>
          <p:nvPr/>
        </p:nvSpPr>
        <p:spPr>
          <a:xfrm>
            <a:off x="2946400" y="1422400"/>
            <a:ext cx="2641600" cy="685800"/>
          </a:xfrm>
          <a:prstGeom prst="roundRect">
            <a:avLst>
              <a:gd name="adj" fmla="val 14000"/>
            </a:avLst>
          </a:prstGeom>
          <a:solidFill>
            <a:srgbClr val="50152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 name="TextBox 5">
            <a:extLst>
              <a:ext uri="{FF2B5EF4-FFF2-40B4-BE49-F238E27FC236}">
                <a16:creationId xmlns:a16="http://schemas.microsoft.com/office/drawing/2014/main" id="{A679F790-1255-0C5F-F4A1-762661B78244}"/>
              </a:ext>
            </a:extLst>
          </p:cNvPr>
          <p:cNvSpPr txBox="1"/>
          <p:nvPr/>
        </p:nvSpPr>
        <p:spPr>
          <a:xfrm>
            <a:off x="3098800" y="1498600"/>
            <a:ext cx="2336800" cy="279400"/>
          </a:xfrm>
          <a:prstGeom prst="rect">
            <a:avLst/>
          </a:prstGeom>
          <a:noFill/>
        </p:spPr>
        <p:txBody>
          <a:bodyPr vert="horz" wrap="square" lIns="0" tIns="0" rIns="0" bIns="0" rtlCol="0" anchor="t">
            <a:noAutofit/>
          </a:bodyPr>
          <a:lstStyle/>
          <a:p>
            <a:r>
              <a:rPr lang="en-CA" sz="1500" b="1">
                <a:solidFill>
                  <a:srgbClr val="FFFFFF"/>
                </a:solidFill>
                <a:latin typeface="Aptos Display" panose="020B0004020202020204" pitchFamily="34" charset="0"/>
              </a:rPr>
              <a:t>AMTRA</a:t>
            </a:r>
          </a:p>
        </p:txBody>
      </p:sp>
      <p:sp>
        <p:nvSpPr>
          <p:cNvPr id="7" name="TextBox 6">
            <a:extLst>
              <a:ext uri="{FF2B5EF4-FFF2-40B4-BE49-F238E27FC236}">
                <a16:creationId xmlns:a16="http://schemas.microsoft.com/office/drawing/2014/main" id="{BF51E2BB-1FE6-40D3-2302-9CEE0AFF9C67}"/>
              </a:ext>
            </a:extLst>
          </p:cNvPr>
          <p:cNvSpPr txBox="1"/>
          <p:nvPr/>
        </p:nvSpPr>
        <p:spPr>
          <a:xfrm>
            <a:off x="3098800" y="1803400"/>
            <a:ext cx="2336800" cy="203200"/>
          </a:xfrm>
          <a:prstGeom prst="rect">
            <a:avLst/>
          </a:prstGeom>
          <a:noFill/>
        </p:spPr>
        <p:txBody>
          <a:bodyPr vert="horz" wrap="square" lIns="0" tIns="0" rIns="0" bIns="0" rtlCol="0" anchor="t">
            <a:noAutofit/>
          </a:bodyPr>
          <a:lstStyle/>
          <a:p>
            <a:r>
              <a:rPr lang="en-US" sz="1100">
                <a:solidFill>
                  <a:srgbClr val="F3D9E0"/>
                </a:solidFill>
                <a:latin typeface="Calibri" panose="020F0502020204030204" pitchFamily="34" charset="0"/>
              </a:rPr>
              <a:t>Platform foundation in this repository</a:t>
            </a:r>
            <a:endParaRPr lang="en-CA" sz="1100">
              <a:solidFill>
                <a:srgbClr val="F3D9E0"/>
              </a:solidFill>
              <a:latin typeface="Calibri" panose="020F0502020204030204" pitchFamily="34" charset="0"/>
            </a:endParaRPr>
          </a:p>
        </p:txBody>
      </p:sp>
      <p:sp>
        <p:nvSpPr>
          <p:cNvPr id="8" name="TextBox 7">
            <a:extLst>
              <a:ext uri="{FF2B5EF4-FFF2-40B4-BE49-F238E27FC236}">
                <a16:creationId xmlns:a16="http://schemas.microsoft.com/office/drawing/2014/main" id="{68D28F73-90BB-70CC-E681-32D77CB516C4}"/>
              </a:ext>
            </a:extLst>
          </p:cNvPr>
          <p:cNvSpPr txBox="1"/>
          <p:nvPr/>
        </p:nvSpPr>
        <p:spPr>
          <a:xfrm>
            <a:off x="3022600" y="2286000"/>
            <a:ext cx="2489200" cy="2260600"/>
          </a:xfrm>
          <a:prstGeom prst="rect">
            <a:avLst/>
          </a:prstGeom>
          <a:noFill/>
        </p:spPr>
        <p:txBody>
          <a:bodyPr vert="horz" wrap="square" lIns="0" tIns="0" rIns="0" bIns="0" rtlCol="0" anchor="t">
            <a:noAutofit/>
          </a:bodyPr>
          <a:lstStyle/>
          <a:p>
            <a:pPr marL="203200" indent="-203200">
              <a:spcAft>
                <a:spcPts val="600"/>
              </a:spcAft>
              <a:buClr>
                <a:srgbClr val="F68D2E"/>
              </a:buClr>
              <a:buFont typeface="Wingdings" panose="05000000000000000000" pitchFamily="2" charset="2"/>
              <a:buChar char="Ø"/>
            </a:pPr>
            <a:r>
              <a:rPr lang="en-US" sz="1300">
                <a:solidFill>
                  <a:srgbClr val="262626"/>
                </a:solidFill>
                <a:latin typeface="Calibri" panose="020F0502020204030204" pitchFamily="34" charset="0"/>
              </a:rPr>
              <a:t>Network, workspace and data storage</a:t>
            </a:r>
          </a:p>
          <a:p>
            <a:pPr marL="203200" indent="-203200">
              <a:spcAft>
                <a:spcPts val="600"/>
              </a:spcAft>
              <a:buClr>
                <a:srgbClr val="F68D2E"/>
              </a:buClr>
              <a:buFont typeface="Wingdings" panose="05000000000000000000" pitchFamily="2" charset="2"/>
              <a:buChar char="Ø"/>
            </a:pPr>
            <a:r>
              <a:rPr lang="en-US" sz="1300">
                <a:solidFill>
                  <a:srgbClr val="262626"/>
                </a:solidFill>
                <a:latin typeface="Calibri" panose="020F0502020204030204" pitchFamily="34" charset="0"/>
              </a:rPr>
              <a:t>HAProxy connectivity and NCC</a:t>
            </a:r>
          </a:p>
          <a:p>
            <a:pPr marL="203200" indent="-203200">
              <a:spcAft>
                <a:spcPts val="600"/>
              </a:spcAft>
              <a:buClr>
                <a:srgbClr val="F68D2E"/>
              </a:buClr>
              <a:buFont typeface="Wingdings" panose="05000000000000000000" pitchFamily="2" charset="2"/>
              <a:buChar char="Ø"/>
            </a:pPr>
            <a:r>
              <a:rPr lang="en-US" sz="1300">
                <a:solidFill>
                  <a:srgbClr val="262626"/>
                </a:solidFill>
                <a:latin typeface="Calibri" panose="020F0502020204030204" pitchFamily="34" charset="0"/>
              </a:rPr>
              <a:t>Unity Catalog storage credential and external location</a:t>
            </a:r>
          </a:p>
          <a:p>
            <a:pPr marL="203200" indent="-203200">
              <a:spcAft>
                <a:spcPts val="600"/>
              </a:spcAft>
              <a:buClr>
                <a:srgbClr val="F68D2E"/>
              </a:buClr>
              <a:buFont typeface="Wingdings" panose="05000000000000000000" pitchFamily="2" charset="2"/>
              <a:buChar char="Ø"/>
            </a:pPr>
            <a:r>
              <a:rPr lang="en-US" sz="1300">
                <a:solidFill>
                  <a:srgbClr val="262626"/>
                </a:solidFill>
                <a:latin typeface="Calibri" panose="020F0502020204030204" pitchFamily="34" charset="0"/>
              </a:rPr>
              <a:t>Monitoring, Terraform state and pipelines</a:t>
            </a:r>
            <a:endParaRPr lang="en-CA" sz="1300">
              <a:solidFill>
                <a:srgbClr val="262626"/>
              </a:solidFill>
              <a:latin typeface="Calibri" panose="020F0502020204030204" pitchFamily="34" charset="0"/>
            </a:endParaRPr>
          </a:p>
        </p:txBody>
      </p:sp>
      <p:sp>
        <p:nvSpPr>
          <p:cNvPr id="9" name="Rectangle: Rounded Corners 8">
            <a:extLst>
              <a:ext uri="{FF2B5EF4-FFF2-40B4-BE49-F238E27FC236}">
                <a16:creationId xmlns:a16="http://schemas.microsoft.com/office/drawing/2014/main" id="{EE19E1B3-FF6A-3E09-FDBD-CEABF958C6D0}"/>
              </a:ext>
            </a:extLst>
          </p:cNvPr>
          <p:cNvSpPr/>
          <p:nvPr/>
        </p:nvSpPr>
        <p:spPr>
          <a:xfrm>
            <a:off x="5873750" y="1320800"/>
            <a:ext cx="2844800" cy="3327400"/>
          </a:xfrm>
          <a:prstGeom prst="roundRect">
            <a:avLst>
              <a:gd name="adj" fmla="val 5000"/>
            </a:avLst>
          </a:prstGeom>
          <a:solidFill>
            <a:srgbClr val="FFFFFF"/>
          </a:solidFill>
          <a:ln w="12700">
            <a:solidFill>
              <a:srgbClr val="F8D7C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Rectangle: Rounded Corners 9">
            <a:extLst>
              <a:ext uri="{FF2B5EF4-FFF2-40B4-BE49-F238E27FC236}">
                <a16:creationId xmlns:a16="http://schemas.microsoft.com/office/drawing/2014/main" id="{A094BDD4-104F-C6FD-0B93-E8B2D4548E9D}"/>
              </a:ext>
            </a:extLst>
          </p:cNvPr>
          <p:cNvSpPr/>
          <p:nvPr/>
        </p:nvSpPr>
        <p:spPr>
          <a:xfrm>
            <a:off x="5975350" y="1422400"/>
            <a:ext cx="2641600" cy="685800"/>
          </a:xfrm>
          <a:prstGeom prst="roundRect">
            <a:avLst>
              <a:gd name="adj" fmla="val 14000"/>
            </a:avLst>
          </a:prstGeom>
          <a:solidFill>
            <a:srgbClr val="50152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 name="TextBox 10">
            <a:extLst>
              <a:ext uri="{FF2B5EF4-FFF2-40B4-BE49-F238E27FC236}">
                <a16:creationId xmlns:a16="http://schemas.microsoft.com/office/drawing/2014/main" id="{3AC2300A-CCF2-A8BE-B6A9-7D6FDFB3B666}"/>
              </a:ext>
            </a:extLst>
          </p:cNvPr>
          <p:cNvSpPr txBox="1"/>
          <p:nvPr/>
        </p:nvSpPr>
        <p:spPr>
          <a:xfrm>
            <a:off x="6127750" y="1498600"/>
            <a:ext cx="2336800" cy="279400"/>
          </a:xfrm>
          <a:prstGeom prst="rect">
            <a:avLst/>
          </a:prstGeom>
          <a:noFill/>
        </p:spPr>
        <p:txBody>
          <a:bodyPr vert="horz" wrap="square" lIns="0" tIns="0" rIns="0" bIns="0" rtlCol="0" anchor="t">
            <a:noAutofit/>
          </a:bodyPr>
          <a:lstStyle/>
          <a:p>
            <a:r>
              <a:rPr lang="en-CA" sz="1500" b="1">
                <a:solidFill>
                  <a:srgbClr val="FFFFFF"/>
                </a:solidFill>
                <a:latin typeface="Aptos Display" panose="020B0004020202020204" pitchFamily="34" charset="0"/>
              </a:rPr>
              <a:t>Baytex Infrastructure</a:t>
            </a:r>
          </a:p>
        </p:txBody>
      </p:sp>
      <p:sp>
        <p:nvSpPr>
          <p:cNvPr id="12" name="TextBox 11">
            <a:extLst>
              <a:ext uri="{FF2B5EF4-FFF2-40B4-BE49-F238E27FC236}">
                <a16:creationId xmlns:a16="http://schemas.microsoft.com/office/drawing/2014/main" id="{16988FB8-436B-C111-F6DF-C033996ED26C}"/>
              </a:ext>
            </a:extLst>
          </p:cNvPr>
          <p:cNvSpPr txBox="1"/>
          <p:nvPr/>
        </p:nvSpPr>
        <p:spPr>
          <a:xfrm>
            <a:off x="6127750" y="1803400"/>
            <a:ext cx="2336800" cy="203200"/>
          </a:xfrm>
          <a:prstGeom prst="rect">
            <a:avLst/>
          </a:prstGeom>
          <a:noFill/>
        </p:spPr>
        <p:txBody>
          <a:bodyPr vert="horz" wrap="square" lIns="0" tIns="0" rIns="0" bIns="0" rtlCol="0" anchor="t">
            <a:noAutofit/>
          </a:bodyPr>
          <a:lstStyle/>
          <a:p>
            <a:r>
              <a:rPr lang="en-CA" sz="1100">
                <a:solidFill>
                  <a:srgbClr val="F3D9E0"/>
                </a:solidFill>
                <a:latin typeface="Calibri" panose="020F0502020204030204" pitchFamily="34" charset="0"/>
              </a:rPr>
              <a:t>Shared network and governance</a:t>
            </a:r>
          </a:p>
        </p:txBody>
      </p:sp>
      <p:sp>
        <p:nvSpPr>
          <p:cNvPr id="13" name="TextBox 12">
            <a:extLst>
              <a:ext uri="{FF2B5EF4-FFF2-40B4-BE49-F238E27FC236}">
                <a16:creationId xmlns:a16="http://schemas.microsoft.com/office/drawing/2014/main" id="{ECB0D2E3-BFE0-FCA1-3F9B-CDA2FEC6C3F7}"/>
              </a:ext>
            </a:extLst>
          </p:cNvPr>
          <p:cNvSpPr txBox="1"/>
          <p:nvPr/>
        </p:nvSpPr>
        <p:spPr>
          <a:xfrm>
            <a:off x="6051550" y="2286000"/>
            <a:ext cx="2489200" cy="2260600"/>
          </a:xfrm>
          <a:prstGeom prst="rect">
            <a:avLst/>
          </a:prstGeom>
          <a:noFill/>
        </p:spPr>
        <p:txBody>
          <a:bodyPr vert="horz" wrap="square" lIns="0" tIns="0" rIns="0" bIns="0" rtlCol="0" anchor="t">
            <a:noAutofit/>
          </a:bodyPr>
          <a:lstStyle/>
          <a:p>
            <a:pPr marL="203200" indent="-203200">
              <a:spcAft>
                <a:spcPts val="600"/>
              </a:spcAft>
              <a:buClr>
                <a:srgbClr val="F68D2E"/>
              </a:buClr>
              <a:buFont typeface="Wingdings" panose="05000000000000000000" pitchFamily="2" charset="2"/>
              <a:buChar char="Ø"/>
            </a:pPr>
            <a:r>
              <a:rPr lang="en-US" sz="1300">
                <a:solidFill>
                  <a:srgbClr val="262626"/>
                </a:solidFill>
                <a:latin typeface="Calibri" panose="020F0502020204030204" pitchFamily="34" charset="0"/>
              </a:rPr>
              <a:t>Hub VNet and peering to each spoke</a:t>
            </a:r>
          </a:p>
          <a:p>
            <a:pPr marL="203200" indent="-203200">
              <a:spcAft>
                <a:spcPts val="600"/>
              </a:spcAft>
              <a:buClr>
                <a:srgbClr val="F68D2E"/>
              </a:buClr>
              <a:buFont typeface="Wingdings" panose="05000000000000000000" pitchFamily="2" charset="2"/>
              <a:buChar char="Ø"/>
            </a:pPr>
            <a:r>
              <a:rPr lang="en-US" sz="1300">
                <a:solidFill>
                  <a:srgbClr val="262626"/>
                </a:solidFill>
                <a:latin typeface="Calibri" panose="020F0502020204030204" pitchFamily="34" charset="0"/>
              </a:rPr>
              <a:t>Cisco firewall rules, VPN and return routes</a:t>
            </a:r>
          </a:p>
          <a:p>
            <a:pPr marL="203200" indent="-203200">
              <a:spcAft>
                <a:spcPts val="600"/>
              </a:spcAft>
              <a:buClr>
                <a:srgbClr val="F68D2E"/>
              </a:buClr>
              <a:buFont typeface="Wingdings" panose="05000000000000000000" pitchFamily="2" charset="2"/>
              <a:buChar char="Ø"/>
            </a:pPr>
            <a:r>
              <a:rPr lang="en-US" sz="1300">
                <a:solidFill>
                  <a:srgbClr val="262626"/>
                </a:solidFill>
                <a:latin typeface="Calibri" panose="020F0502020204030204" pitchFamily="34" charset="0"/>
              </a:rPr>
              <a:t>Corporate DNS, Private DNS zones and records</a:t>
            </a:r>
          </a:p>
          <a:p>
            <a:pPr marL="203200" indent="-203200">
              <a:spcAft>
                <a:spcPts val="600"/>
              </a:spcAft>
              <a:buClr>
                <a:srgbClr val="F68D2E"/>
              </a:buClr>
              <a:buFont typeface="Wingdings" panose="05000000000000000000" pitchFamily="2" charset="2"/>
              <a:buChar char="Ø"/>
            </a:pPr>
            <a:r>
              <a:rPr lang="en-US" sz="1300">
                <a:solidFill>
                  <a:srgbClr val="262626"/>
                </a:solidFill>
                <a:latin typeface="Calibri" panose="020F0502020204030204" pitchFamily="34" charset="0"/>
              </a:rPr>
              <a:t>Connectivity testing from Databricks</a:t>
            </a:r>
            <a:endParaRPr lang="en-CA" sz="1300">
              <a:solidFill>
                <a:srgbClr val="262626"/>
              </a:solidFill>
              <a:latin typeface="Calibri" panose="020F0502020204030204" pitchFamily="34" charset="0"/>
            </a:endParaRPr>
          </a:p>
        </p:txBody>
      </p:sp>
      <p:sp>
        <p:nvSpPr>
          <p:cNvPr id="14" name="Rectangle: Rounded Corners 13">
            <a:extLst>
              <a:ext uri="{FF2B5EF4-FFF2-40B4-BE49-F238E27FC236}">
                <a16:creationId xmlns:a16="http://schemas.microsoft.com/office/drawing/2014/main" id="{156F7BA4-38D3-D30C-41AE-FF3C12CA3126}"/>
              </a:ext>
            </a:extLst>
          </p:cNvPr>
          <p:cNvSpPr/>
          <p:nvPr/>
        </p:nvSpPr>
        <p:spPr>
          <a:xfrm>
            <a:off x="8902700" y="1320800"/>
            <a:ext cx="2844800" cy="3327400"/>
          </a:xfrm>
          <a:prstGeom prst="roundRect">
            <a:avLst>
              <a:gd name="adj" fmla="val 5000"/>
            </a:avLst>
          </a:prstGeom>
          <a:solidFill>
            <a:srgbClr val="FFFFFF"/>
          </a:solidFill>
          <a:ln w="12700">
            <a:solidFill>
              <a:srgbClr val="F8D7C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Rectangle: Rounded Corners 14">
            <a:extLst>
              <a:ext uri="{FF2B5EF4-FFF2-40B4-BE49-F238E27FC236}">
                <a16:creationId xmlns:a16="http://schemas.microsoft.com/office/drawing/2014/main" id="{E4751A05-3F85-F74B-E1A1-C73B516DFBDE}"/>
              </a:ext>
            </a:extLst>
          </p:cNvPr>
          <p:cNvSpPr/>
          <p:nvPr/>
        </p:nvSpPr>
        <p:spPr>
          <a:xfrm>
            <a:off x="9004300" y="1422400"/>
            <a:ext cx="2641600" cy="685800"/>
          </a:xfrm>
          <a:prstGeom prst="roundRect">
            <a:avLst>
              <a:gd name="adj" fmla="val 14000"/>
            </a:avLst>
          </a:prstGeom>
          <a:solidFill>
            <a:srgbClr val="50152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 name="TextBox 15">
            <a:extLst>
              <a:ext uri="{FF2B5EF4-FFF2-40B4-BE49-F238E27FC236}">
                <a16:creationId xmlns:a16="http://schemas.microsoft.com/office/drawing/2014/main" id="{0038CF49-43DD-0914-27E1-95A52777086F}"/>
              </a:ext>
            </a:extLst>
          </p:cNvPr>
          <p:cNvSpPr txBox="1"/>
          <p:nvPr/>
        </p:nvSpPr>
        <p:spPr>
          <a:xfrm>
            <a:off x="9156700" y="1498600"/>
            <a:ext cx="2336800" cy="279400"/>
          </a:xfrm>
          <a:prstGeom prst="rect">
            <a:avLst/>
          </a:prstGeom>
          <a:noFill/>
        </p:spPr>
        <p:txBody>
          <a:bodyPr vert="horz" wrap="square" lIns="0" tIns="0" rIns="0" bIns="0" rtlCol="0" anchor="t">
            <a:noAutofit/>
          </a:bodyPr>
          <a:lstStyle/>
          <a:p>
            <a:r>
              <a:rPr lang="en-CA" sz="1500" b="1">
                <a:solidFill>
                  <a:srgbClr val="FFFFFF"/>
                </a:solidFill>
                <a:latin typeface="Aptos Display" panose="020B0004020202020204" pitchFamily="34" charset="0"/>
              </a:rPr>
              <a:t>Baytex BI</a:t>
            </a:r>
          </a:p>
        </p:txBody>
      </p:sp>
      <p:sp>
        <p:nvSpPr>
          <p:cNvPr id="17" name="TextBox 16">
            <a:extLst>
              <a:ext uri="{FF2B5EF4-FFF2-40B4-BE49-F238E27FC236}">
                <a16:creationId xmlns:a16="http://schemas.microsoft.com/office/drawing/2014/main" id="{526B40D2-0056-9031-452D-4AEDA4B12567}"/>
              </a:ext>
            </a:extLst>
          </p:cNvPr>
          <p:cNvSpPr txBox="1"/>
          <p:nvPr/>
        </p:nvSpPr>
        <p:spPr>
          <a:xfrm>
            <a:off x="9156700" y="1803400"/>
            <a:ext cx="2336800" cy="203200"/>
          </a:xfrm>
          <a:prstGeom prst="rect">
            <a:avLst/>
          </a:prstGeom>
          <a:noFill/>
        </p:spPr>
        <p:txBody>
          <a:bodyPr vert="horz" wrap="square" lIns="0" tIns="0" rIns="0" bIns="0" rtlCol="0" anchor="t">
            <a:noAutofit/>
          </a:bodyPr>
          <a:lstStyle/>
          <a:p>
            <a:r>
              <a:rPr lang="en-CA" sz="1100">
                <a:solidFill>
                  <a:srgbClr val="F3D9E0"/>
                </a:solidFill>
                <a:latin typeface="Calibri" panose="020F0502020204030204" pitchFamily="34" charset="0"/>
              </a:rPr>
              <a:t>Data governance and workloads</a:t>
            </a:r>
          </a:p>
        </p:txBody>
      </p:sp>
      <p:sp>
        <p:nvSpPr>
          <p:cNvPr id="18" name="TextBox 17">
            <a:extLst>
              <a:ext uri="{FF2B5EF4-FFF2-40B4-BE49-F238E27FC236}">
                <a16:creationId xmlns:a16="http://schemas.microsoft.com/office/drawing/2014/main" id="{950E913E-3786-1E35-1109-669D233C7F34}"/>
              </a:ext>
            </a:extLst>
          </p:cNvPr>
          <p:cNvSpPr txBox="1"/>
          <p:nvPr/>
        </p:nvSpPr>
        <p:spPr>
          <a:xfrm>
            <a:off x="9080500" y="2286000"/>
            <a:ext cx="2489200" cy="2260600"/>
          </a:xfrm>
          <a:prstGeom prst="rect">
            <a:avLst/>
          </a:prstGeom>
          <a:noFill/>
        </p:spPr>
        <p:txBody>
          <a:bodyPr vert="horz" wrap="square" lIns="0" tIns="0" rIns="0" bIns="0" rtlCol="0" anchor="t">
            <a:noAutofit/>
          </a:bodyPr>
          <a:lstStyle/>
          <a:p>
            <a:pPr marL="203200" indent="-203200">
              <a:spcAft>
                <a:spcPts val="600"/>
              </a:spcAft>
              <a:buClr>
                <a:srgbClr val="F68D2E"/>
              </a:buClr>
              <a:buFont typeface="Wingdings" panose="05000000000000000000" pitchFamily="2" charset="2"/>
              <a:buChar char="Ø"/>
            </a:pPr>
            <a:r>
              <a:rPr lang="en-US" sz="1300">
                <a:solidFill>
                  <a:srgbClr val="262626"/>
                </a:solidFill>
                <a:latin typeface="Calibri" panose="020F0502020204030204" pitchFamily="34" charset="0"/>
              </a:rPr>
              <a:t>Unity Catalog metastore</a:t>
            </a:r>
          </a:p>
          <a:p>
            <a:pPr marL="203200" indent="-203200">
              <a:spcAft>
                <a:spcPts val="600"/>
              </a:spcAft>
              <a:buClr>
                <a:srgbClr val="F68D2E"/>
              </a:buClr>
              <a:buFont typeface="Wingdings" panose="05000000000000000000" pitchFamily="2" charset="2"/>
              <a:buChar char="Ø"/>
            </a:pPr>
            <a:r>
              <a:rPr lang="en-US" sz="1300">
                <a:solidFill>
                  <a:srgbClr val="262626"/>
                </a:solidFill>
                <a:latin typeface="Calibri" panose="020F0502020204030204" pitchFamily="34" charset="0"/>
              </a:rPr>
              <a:t>Catalogs, schemas, grants and bindings</a:t>
            </a:r>
          </a:p>
          <a:p>
            <a:pPr marL="203200" indent="-203200">
              <a:spcAft>
                <a:spcPts val="600"/>
              </a:spcAft>
              <a:buClr>
                <a:srgbClr val="F68D2E"/>
              </a:buClr>
              <a:buFont typeface="Wingdings" panose="05000000000000000000" pitchFamily="2" charset="2"/>
              <a:buChar char="Ø"/>
            </a:pPr>
            <a:r>
              <a:rPr lang="en-US" sz="1300">
                <a:solidFill>
                  <a:srgbClr val="262626"/>
                </a:solidFill>
                <a:latin typeface="Calibri" panose="020F0502020204030204" pitchFamily="34" charset="0"/>
              </a:rPr>
              <a:t>Microsoft Entra groups used in Unity Catalog</a:t>
            </a:r>
          </a:p>
          <a:p>
            <a:pPr marL="203200" indent="-203200">
              <a:spcAft>
                <a:spcPts val="600"/>
              </a:spcAft>
              <a:buClr>
                <a:srgbClr val="F68D2E"/>
              </a:buClr>
              <a:buFont typeface="Wingdings" panose="05000000000000000000" pitchFamily="2" charset="2"/>
              <a:buChar char="Ø"/>
            </a:pPr>
            <a:r>
              <a:rPr lang="en-US" sz="1300">
                <a:solidFill>
                  <a:srgbClr val="262626"/>
                </a:solidFill>
                <a:latin typeface="Calibri" panose="020F0502020204030204" pitchFamily="34" charset="0"/>
              </a:rPr>
              <a:t>Notebooks, jobs, pipelines and data</a:t>
            </a:r>
            <a:endParaRPr lang="en-CA" sz="1300">
              <a:solidFill>
                <a:srgbClr val="262626"/>
              </a:solidFill>
              <a:latin typeface="Calibri" panose="020F0502020204030204" pitchFamily="34" charset="0"/>
            </a:endParaRPr>
          </a:p>
        </p:txBody>
      </p:sp>
      <p:sp>
        <p:nvSpPr>
          <p:cNvPr id="19" name="TextBox 18">
            <a:extLst>
              <a:ext uri="{FF2B5EF4-FFF2-40B4-BE49-F238E27FC236}">
                <a16:creationId xmlns:a16="http://schemas.microsoft.com/office/drawing/2014/main" id="{0896D8F1-FC9D-A1CA-F71B-EC01A8DF5679}"/>
              </a:ext>
            </a:extLst>
          </p:cNvPr>
          <p:cNvSpPr txBox="1"/>
          <p:nvPr/>
        </p:nvSpPr>
        <p:spPr>
          <a:xfrm>
            <a:off x="2844800" y="4876800"/>
            <a:ext cx="8902700" cy="558800"/>
          </a:xfrm>
          <a:prstGeom prst="rect">
            <a:avLst/>
          </a:prstGeom>
          <a:noFill/>
        </p:spPr>
        <p:txBody>
          <a:bodyPr vert="horz" wrap="square" lIns="0" tIns="0" rIns="0" bIns="0" rtlCol="0" anchor="t">
            <a:noAutofit/>
          </a:bodyPr>
          <a:lstStyle/>
          <a:p>
            <a:r>
              <a:rPr lang="en-US" sz="1300">
                <a:solidFill>
                  <a:srgbClr val="262626"/>
                </a:solidFill>
                <a:latin typeface="Calibri" panose="020F0502020204030204" pitchFamily="34" charset="0"/>
              </a:rPr>
              <a:t>Existing Azure and Databricks resources are not imported, renamed, modified or destroyed by this Terraform. VNet peering and Private DNS registration stay with Baytex, and either can move to Terraform later with one role grant.</a:t>
            </a:r>
            <a:endParaRPr lang="en-CA" sz="1300">
              <a:solidFill>
                <a:srgbClr val="262626"/>
              </a:solidFill>
              <a:latin typeface="Calibri" panose="020F0502020204030204" pitchFamily="34" charset="0"/>
            </a:endParaRPr>
          </a:p>
        </p:txBody>
      </p:sp>
    </p:spTree>
    <p:extLst>
      <p:ext uri="{BB962C8B-B14F-4D97-AF65-F5344CB8AC3E}">
        <p14:creationId xmlns:p14="http://schemas.microsoft.com/office/powerpoint/2010/main" val="29892486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F8AF1-5C6B-48FD-B73E-782A7FCFA09F}"/>
              </a:ext>
            </a:extLst>
          </p:cNvPr>
          <p:cNvSpPr>
            <a:spLocks noGrp="1"/>
          </p:cNvSpPr>
          <p:nvPr>
            <p:ph type="title"/>
          </p:nvPr>
        </p:nvSpPr>
        <p:spPr/>
        <p:txBody>
          <a:bodyPr>
            <a:normAutofit/>
          </a:bodyPr>
          <a:lstStyle/>
          <a:p>
            <a:r>
              <a:rPr lang="en-CA" b="1">
                <a:latin typeface="Aptos Display" panose="020B0004020202020204" pitchFamily="34" charset="0"/>
              </a:rPr>
              <a:t>Next Steps and Documentation</a:t>
            </a:r>
          </a:p>
        </p:txBody>
      </p:sp>
      <p:sp>
        <p:nvSpPr>
          <p:cNvPr id="4" name="TextBox 3">
            <a:extLst>
              <a:ext uri="{FF2B5EF4-FFF2-40B4-BE49-F238E27FC236}">
                <a16:creationId xmlns:a16="http://schemas.microsoft.com/office/drawing/2014/main" id="{A0DCA9EA-2685-5A5F-0C24-3D72F644043E}"/>
              </a:ext>
            </a:extLst>
          </p:cNvPr>
          <p:cNvSpPr txBox="1"/>
          <p:nvPr/>
        </p:nvSpPr>
        <p:spPr>
          <a:xfrm>
            <a:off x="2844800" y="1320800"/>
            <a:ext cx="4191000" cy="254000"/>
          </a:xfrm>
          <a:prstGeom prst="rect">
            <a:avLst/>
          </a:prstGeom>
          <a:noFill/>
        </p:spPr>
        <p:txBody>
          <a:bodyPr vert="horz" wrap="square" lIns="0" tIns="0" rIns="0" bIns="0" rtlCol="0" anchor="t">
            <a:noAutofit/>
          </a:bodyPr>
          <a:lstStyle/>
          <a:p>
            <a:r>
              <a:rPr lang="en-CA" sz="1400" b="1">
                <a:solidFill>
                  <a:srgbClr val="50152C"/>
                </a:solidFill>
                <a:latin typeface="Aptos Display" panose="020B0004020202020204" pitchFamily="34" charset="0"/>
              </a:rPr>
              <a:t>What Baytex completes</a:t>
            </a:r>
          </a:p>
        </p:txBody>
      </p:sp>
      <p:sp>
        <p:nvSpPr>
          <p:cNvPr id="5" name="Oval 4">
            <a:extLst>
              <a:ext uri="{FF2B5EF4-FFF2-40B4-BE49-F238E27FC236}">
                <a16:creationId xmlns:a16="http://schemas.microsoft.com/office/drawing/2014/main" id="{E5CABC36-D329-BC48-A8B3-82669C35D8C4}"/>
              </a:ext>
            </a:extLst>
          </p:cNvPr>
          <p:cNvSpPr/>
          <p:nvPr/>
        </p:nvSpPr>
        <p:spPr>
          <a:xfrm>
            <a:off x="2844800" y="1701800"/>
            <a:ext cx="279400" cy="279400"/>
          </a:xfrm>
          <a:prstGeom prst="ellipse">
            <a:avLst/>
          </a:prstGeom>
          <a:solidFill>
            <a:srgbClr val="FFFFFF"/>
          </a:solidFill>
          <a:ln w="19050">
            <a:solidFill>
              <a:srgbClr val="F68D2E"/>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CA" sz="1000" b="1">
                <a:solidFill>
                  <a:srgbClr val="50152C"/>
                </a:solidFill>
                <a:latin typeface="Aptos Display" panose="020B0004020202020204" pitchFamily="34" charset="0"/>
              </a:rPr>
              <a:t>1</a:t>
            </a:r>
          </a:p>
        </p:txBody>
      </p:sp>
      <p:sp>
        <p:nvSpPr>
          <p:cNvPr id="6" name="TextBox 5">
            <a:extLst>
              <a:ext uri="{FF2B5EF4-FFF2-40B4-BE49-F238E27FC236}">
                <a16:creationId xmlns:a16="http://schemas.microsoft.com/office/drawing/2014/main" id="{77561A69-54AE-CE83-81EF-4705670A7C93}"/>
              </a:ext>
            </a:extLst>
          </p:cNvPr>
          <p:cNvSpPr txBox="1"/>
          <p:nvPr/>
        </p:nvSpPr>
        <p:spPr>
          <a:xfrm>
            <a:off x="3225800" y="1714500"/>
            <a:ext cx="3886200" cy="660400"/>
          </a:xfrm>
          <a:prstGeom prst="rect">
            <a:avLst/>
          </a:prstGeom>
          <a:noFill/>
        </p:spPr>
        <p:txBody>
          <a:bodyPr vert="horz" wrap="square" lIns="0" tIns="0" rIns="0" bIns="0" rtlCol="0" anchor="t">
            <a:noAutofit/>
          </a:bodyPr>
          <a:lstStyle/>
          <a:p>
            <a:r>
              <a:rPr lang="en-US" sz="1300">
                <a:solidFill>
                  <a:srgbClr val="262626"/>
                </a:solidFill>
                <a:latin typeface="Calibri" panose="020F0502020204030204" pitchFamily="34" charset="0"/>
              </a:rPr>
              <a:t>Peer the hub and each spoke VNet in both directions</a:t>
            </a:r>
          </a:p>
          <a:p>
            <a:r>
              <a:rPr lang="en-US" sz="1100">
                <a:solidFill>
                  <a:srgbClr val="595959"/>
                </a:solidFill>
                <a:latin typeface="Calibri" panose="020F0502020204030204" pitchFamily="34" charset="0"/>
              </a:rPr>
              <a:t>Baytex Infrastructure</a:t>
            </a:r>
            <a:endParaRPr lang="en-CA" sz="1100">
              <a:solidFill>
                <a:srgbClr val="595959"/>
              </a:solidFill>
              <a:latin typeface="Calibri" panose="020F0502020204030204" pitchFamily="34" charset="0"/>
            </a:endParaRPr>
          </a:p>
        </p:txBody>
      </p:sp>
      <p:sp>
        <p:nvSpPr>
          <p:cNvPr id="7" name="Oval 6">
            <a:extLst>
              <a:ext uri="{FF2B5EF4-FFF2-40B4-BE49-F238E27FC236}">
                <a16:creationId xmlns:a16="http://schemas.microsoft.com/office/drawing/2014/main" id="{CD0F7606-A51B-F6B4-657F-E8C27F285CF4}"/>
              </a:ext>
            </a:extLst>
          </p:cNvPr>
          <p:cNvSpPr/>
          <p:nvPr/>
        </p:nvSpPr>
        <p:spPr>
          <a:xfrm>
            <a:off x="2844800" y="2438400"/>
            <a:ext cx="279400" cy="279400"/>
          </a:xfrm>
          <a:prstGeom prst="ellipse">
            <a:avLst/>
          </a:prstGeom>
          <a:solidFill>
            <a:srgbClr val="FFFFFF"/>
          </a:solidFill>
          <a:ln w="19050">
            <a:solidFill>
              <a:srgbClr val="F68D2E"/>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CA" sz="1000" b="1">
                <a:solidFill>
                  <a:srgbClr val="50152C"/>
                </a:solidFill>
                <a:latin typeface="Aptos Display" panose="020B0004020202020204" pitchFamily="34" charset="0"/>
              </a:rPr>
              <a:t>2</a:t>
            </a:r>
          </a:p>
        </p:txBody>
      </p:sp>
      <p:sp>
        <p:nvSpPr>
          <p:cNvPr id="8" name="TextBox 7">
            <a:extLst>
              <a:ext uri="{FF2B5EF4-FFF2-40B4-BE49-F238E27FC236}">
                <a16:creationId xmlns:a16="http://schemas.microsoft.com/office/drawing/2014/main" id="{45B1B853-97FC-1D4A-8641-1AED0E3884C5}"/>
              </a:ext>
            </a:extLst>
          </p:cNvPr>
          <p:cNvSpPr txBox="1"/>
          <p:nvPr/>
        </p:nvSpPr>
        <p:spPr>
          <a:xfrm>
            <a:off x="3225800" y="2451100"/>
            <a:ext cx="3886200" cy="660400"/>
          </a:xfrm>
          <a:prstGeom prst="rect">
            <a:avLst/>
          </a:prstGeom>
          <a:noFill/>
        </p:spPr>
        <p:txBody>
          <a:bodyPr vert="horz" wrap="square" lIns="0" tIns="0" rIns="0" bIns="0" rtlCol="0" anchor="t">
            <a:noAutofit/>
          </a:bodyPr>
          <a:lstStyle/>
          <a:p>
            <a:r>
              <a:rPr lang="en-US" sz="1300">
                <a:solidFill>
                  <a:srgbClr val="262626"/>
                </a:solidFill>
                <a:latin typeface="Calibri" panose="020F0502020204030204" pitchFamily="34" charset="0"/>
              </a:rPr>
              <a:t>Add DNS records for the storage private endpoints</a:t>
            </a:r>
          </a:p>
          <a:p>
            <a:r>
              <a:rPr lang="en-US" sz="1100">
                <a:solidFill>
                  <a:srgbClr val="595959"/>
                </a:solidFill>
                <a:latin typeface="Calibri" panose="020F0502020204030204" pitchFamily="34" charset="0"/>
              </a:rPr>
              <a:t>Baytex Infrastructure</a:t>
            </a:r>
            <a:endParaRPr lang="en-CA" sz="1100">
              <a:solidFill>
                <a:srgbClr val="595959"/>
              </a:solidFill>
              <a:latin typeface="Calibri" panose="020F0502020204030204" pitchFamily="34" charset="0"/>
            </a:endParaRPr>
          </a:p>
        </p:txBody>
      </p:sp>
      <p:sp>
        <p:nvSpPr>
          <p:cNvPr id="9" name="Oval 8">
            <a:extLst>
              <a:ext uri="{FF2B5EF4-FFF2-40B4-BE49-F238E27FC236}">
                <a16:creationId xmlns:a16="http://schemas.microsoft.com/office/drawing/2014/main" id="{BBA287F0-B968-3A21-6CED-63FB58B8797E}"/>
              </a:ext>
            </a:extLst>
          </p:cNvPr>
          <p:cNvSpPr/>
          <p:nvPr/>
        </p:nvSpPr>
        <p:spPr>
          <a:xfrm>
            <a:off x="2844800" y="3175000"/>
            <a:ext cx="279400" cy="279400"/>
          </a:xfrm>
          <a:prstGeom prst="ellipse">
            <a:avLst/>
          </a:prstGeom>
          <a:solidFill>
            <a:srgbClr val="FFFFFF"/>
          </a:solidFill>
          <a:ln w="19050">
            <a:solidFill>
              <a:srgbClr val="F68D2E"/>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CA" sz="1000" b="1">
                <a:solidFill>
                  <a:srgbClr val="50152C"/>
                </a:solidFill>
                <a:latin typeface="Aptos Display" panose="020B0004020202020204" pitchFamily="34" charset="0"/>
              </a:rPr>
              <a:t>3</a:t>
            </a:r>
          </a:p>
        </p:txBody>
      </p:sp>
      <p:sp>
        <p:nvSpPr>
          <p:cNvPr id="10" name="TextBox 9">
            <a:extLst>
              <a:ext uri="{FF2B5EF4-FFF2-40B4-BE49-F238E27FC236}">
                <a16:creationId xmlns:a16="http://schemas.microsoft.com/office/drawing/2014/main" id="{987D111E-D265-D4BF-FAB1-4E45699BC117}"/>
              </a:ext>
            </a:extLst>
          </p:cNvPr>
          <p:cNvSpPr txBox="1"/>
          <p:nvPr/>
        </p:nvSpPr>
        <p:spPr>
          <a:xfrm>
            <a:off x="3225800" y="3187700"/>
            <a:ext cx="3886200" cy="660400"/>
          </a:xfrm>
          <a:prstGeom prst="rect">
            <a:avLst/>
          </a:prstGeom>
          <a:noFill/>
        </p:spPr>
        <p:txBody>
          <a:bodyPr vert="horz" wrap="square" lIns="0" tIns="0" rIns="0" bIns="0" rtlCol="0" anchor="t">
            <a:noAutofit/>
          </a:bodyPr>
          <a:lstStyle/>
          <a:p>
            <a:r>
              <a:rPr lang="en-US" sz="1300">
                <a:solidFill>
                  <a:srgbClr val="262626"/>
                </a:solidFill>
                <a:latin typeface="Calibri" panose="020F0502020204030204" pitchFamily="34" charset="0"/>
              </a:rPr>
              <a:t>Add firewall rules to databases, spokes and Ubuntu mirrors</a:t>
            </a:r>
          </a:p>
          <a:p>
            <a:r>
              <a:rPr lang="en-US" sz="1100">
                <a:solidFill>
                  <a:srgbClr val="595959"/>
                </a:solidFill>
                <a:latin typeface="Calibri" panose="020F0502020204030204" pitchFamily="34" charset="0"/>
              </a:rPr>
              <a:t>Baytex Infrastructure</a:t>
            </a:r>
            <a:endParaRPr lang="en-CA" sz="1100">
              <a:solidFill>
                <a:srgbClr val="595959"/>
              </a:solidFill>
              <a:latin typeface="Calibri" panose="020F0502020204030204" pitchFamily="34" charset="0"/>
            </a:endParaRPr>
          </a:p>
        </p:txBody>
      </p:sp>
      <p:sp>
        <p:nvSpPr>
          <p:cNvPr id="11" name="Oval 10">
            <a:extLst>
              <a:ext uri="{FF2B5EF4-FFF2-40B4-BE49-F238E27FC236}">
                <a16:creationId xmlns:a16="http://schemas.microsoft.com/office/drawing/2014/main" id="{C6EDED9F-92A0-6B95-1BA9-D7C0F5A3AFB6}"/>
              </a:ext>
            </a:extLst>
          </p:cNvPr>
          <p:cNvSpPr/>
          <p:nvPr/>
        </p:nvSpPr>
        <p:spPr>
          <a:xfrm>
            <a:off x="2844800" y="3911600"/>
            <a:ext cx="279400" cy="279400"/>
          </a:xfrm>
          <a:prstGeom prst="ellipse">
            <a:avLst/>
          </a:prstGeom>
          <a:solidFill>
            <a:srgbClr val="FFFFFF"/>
          </a:solidFill>
          <a:ln w="19050">
            <a:solidFill>
              <a:srgbClr val="F68D2E"/>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CA" sz="1000" b="1">
                <a:solidFill>
                  <a:srgbClr val="50152C"/>
                </a:solidFill>
                <a:latin typeface="Aptos Display" panose="020B0004020202020204" pitchFamily="34" charset="0"/>
              </a:rPr>
              <a:t>4</a:t>
            </a:r>
          </a:p>
        </p:txBody>
      </p:sp>
      <p:sp>
        <p:nvSpPr>
          <p:cNvPr id="12" name="TextBox 11">
            <a:extLst>
              <a:ext uri="{FF2B5EF4-FFF2-40B4-BE49-F238E27FC236}">
                <a16:creationId xmlns:a16="http://schemas.microsoft.com/office/drawing/2014/main" id="{899E8A57-BA1C-A598-982D-E03BB571E71E}"/>
              </a:ext>
            </a:extLst>
          </p:cNvPr>
          <p:cNvSpPr txBox="1"/>
          <p:nvPr/>
        </p:nvSpPr>
        <p:spPr>
          <a:xfrm>
            <a:off x="3225800" y="3924300"/>
            <a:ext cx="3886200" cy="660400"/>
          </a:xfrm>
          <a:prstGeom prst="rect">
            <a:avLst/>
          </a:prstGeom>
          <a:noFill/>
        </p:spPr>
        <p:txBody>
          <a:bodyPr vert="horz" wrap="square" lIns="0" tIns="0" rIns="0" bIns="0" rtlCol="0" anchor="t">
            <a:noAutofit/>
          </a:bodyPr>
          <a:lstStyle/>
          <a:p>
            <a:r>
              <a:rPr lang="en-US" sz="1300">
                <a:solidFill>
                  <a:srgbClr val="262626"/>
                </a:solidFill>
                <a:latin typeface="Calibri" panose="020F0502020204030204" pitchFamily="34" charset="0"/>
              </a:rPr>
              <a:t>Add on-premises return routes to each spoke</a:t>
            </a:r>
          </a:p>
          <a:p>
            <a:r>
              <a:rPr lang="en-US" sz="1100">
                <a:solidFill>
                  <a:srgbClr val="595959"/>
                </a:solidFill>
                <a:latin typeface="Calibri" panose="020F0502020204030204" pitchFamily="34" charset="0"/>
              </a:rPr>
              <a:t>Baytex Infrastructure</a:t>
            </a:r>
            <a:endParaRPr lang="en-CA" sz="1100">
              <a:solidFill>
                <a:srgbClr val="595959"/>
              </a:solidFill>
              <a:latin typeface="Calibri" panose="020F0502020204030204" pitchFamily="34" charset="0"/>
            </a:endParaRPr>
          </a:p>
        </p:txBody>
      </p:sp>
      <p:sp>
        <p:nvSpPr>
          <p:cNvPr id="13" name="Oval 12">
            <a:extLst>
              <a:ext uri="{FF2B5EF4-FFF2-40B4-BE49-F238E27FC236}">
                <a16:creationId xmlns:a16="http://schemas.microsoft.com/office/drawing/2014/main" id="{97A0C329-A894-AE30-52AB-49EF4FA7380A}"/>
              </a:ext>
            </a:extLst>
          </p:cNvPr>
          <p:cNvSpPr/>
          <p:nvPr/>
        </p:nvSpPr>
        <p:spPr>
          <a:xfrm>
            <a:off x="2844800" y="4648200"/>
            <a:ext cx="279400" cy="279400"/>
          </a:xfrm>
          <a:prstGeom prst="ellipse">
            <a:avLst/>
          </a:prstGeom>
          <a:solidFill>
            <a:srgbClr val="FFFFFF"/>
          </a:solidFill>
          <a:ln w="19050">
            <a:solidFill>
              <a:srgbClr val="F68D2E"/>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CA" sz="1000" b="1">
                <a:solidFill>
                  <a:srgbClr val="50152C"/>
                </a:solidFill>
                <a:latin typeface="Aptos Display" panose="020B0004020202020204" pitchFamily="34" charset="0"/>
              </a:rPr>
              <a:t>5</a:t>
            </a:r>
          </a:p>
        </p:txBody>
      </p:sp>
      <p:sp>
        <p:nvSpPr>
          <p:cNvPr id="14" name="TextBox 13">
            <a:extLst>
              <a:ext uri="{FF2B5EF4-FFF2-40B4-BE49-F238E27FC236}">
                <a16:creationId xmlns:a16="http://schemas.microsoft.com/office/drawing/2014/main" id="{FFBA5980-15A8-9539-71D4-0BB37A3A5B93}"/>
              </a:ext>
            </a:extLst>
          </p:cNvPr>
          <p:cNvSpPr txBox="1"/>
          <p:nvPr/>
        </p:nvSpPr>
        <p:spPr>
          <a:xfrm>
            <a:off x="3225800" y="4660900"/>
            <a:ext cx="3886200" cy="660400"/>
          </a:xfrm>
          <a:prstGeom prst="rect">
            <a:avLst/>
          </a:prstGeom>
          <a:noFill/>
        </p:spPr>
        <p:txBody>
          <a:bodyPr vert="horz" wrap="square" lIns="0" tIns="0" rIns="0" bIns="0" rtlCol="0" anchor="t">
            <a:noAutofit/>
          </a:bodyPr>
          <a:lstStyle/>
          <a:p>
            <a:r>
              <a:rPr lang="en-US" sz="1300">
                <a:solidFill>
                  <a:srgbClr val="262626"/>
                </a:solidFill>
                <a:latin typeface="Calibri" panose="020F0502020204030204" pitchFamily="34" charset="0"/>
              </a:rPr>
              <a:t>Test connectivity from classic and serverless compute</a:t>
            </a:r>
          </a:p>
          <a:p>
            <a:r>
              <a:rPr lang="en-US" sz="1100">
                <a:solidFill>
                  <a:srgbClr val="595959"/>
                </a:solidFill>
                <a:latin typeface="Calibri" panose="020F0502020204030204" pitchFamily="34" charset="0"/>
              </a:rPr>
              <a:t>Baytex Infrastructure</a:t>
            </a:r>
            <a:endParaRPr lang="en-CA" sz="1100">
              <a:solidFill>
                <a:srgbClr val="595959"/>
              </a:solidFill>
              <a:latin typeface="Calibri" panose="020F0502020204030204" pitchFamily="34" charset="0"/>
            </a:endParaRPr>
          </a:p>
        </p:txBody>
      </p:sp>
      <p:sp>
        <p:nvSpPr>
          <p:cNvPr id="15" name="Oval 14">
            <a:extLst>
              <a:ext uri="{FF2B5EF4-FFF2-40B4-BE49-F238E27FC236}">
                <a16:creationId xmlns:a16="http://schemas.microsoft.com/office/drawing/2014/main" id="{958F6516-3732-C9A7-D452-EE009DE31FFF}"/>
              </a:ext>
            </a:extLst>
          </p:cNvPr>
          <p:cNvSpPr/>
          <p:nvPr/>
        </p:nvSpPr>
        <p:spPr>
          <a:xfrm>
            <a:off x="2844800" y="5384800"/>
            <a:ext cx="279400" cy="279400"/>
          </a:xfrm>
          <a:prstGeom prst="ellipse">
            <a:avLst/>
          </a:prstGeom>
          <a:solidFill>
            <a:srgbClr val="FFFFFF"/>
          </a:solidFill>
          <a:ln w="19050">
            <a:solidFill>
              <a:srgbClr val="F68D2E"/>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CA" sz="1000" b="1">
                <a:solidFill>
                  <a:srgbClr val="50152C"/>
                </a:solidFill>
                <a:latin typeface="Aptos Display" panose="020B0004020202020204" pitchFamily="34" charset="0"/>
              </a:rPr>
              <a:t>6</a:t>
            </a:r>
          </a:p>
        </p:txBody>
      </p:sp>
      <p:sp>
        <p:nvSpPr>
          <p:cNvPr id="16" name="TextBox 15">
            <a:extLst>
              <a:ext uri="{FF2B5EF4-FFF2-40B4-BE49-F238E27FC236}">
                <a16:creationId xmlns:a16="http://schemas.microsoft.com/office/drawing/2014/main" id="{9E233EB1-69A4-2C6E-61CA-59062C899678}"/>
              </a:ext>
            </a:extLst>
          </p:cNvPr>
          <p:cNvSpPr txBox="1"/>
          <p:nvPr/>
        </p:nvSpPr>
        <p:spPr>
          <a:xfrm>
            <a:off x="3225800" y="5397500"/>
            <a:ext cx="3886200" cy="660400"/>
          </a:xfrm>
          <a:prstGeom prst="rect">
            <a:avLst/>
          </a:prstGeom>
          <a:noFill/>
        </p:spPr>
        <p:txBody>
          <a:bodyPr vert="horz" wrap="square" lIns="0" tIns="0" rIns="0" bIns="0" rtlCol="0" anchor="t">
            <a:noAutofit/>
          </a:bodyPr>
          <a:lstStyle/>
          <a:p>
            <a:r>
              <a:rPr lang="en-US" sz="1300">
                <a:solidFill>
                  <a:srgbClr val="262626"/>
                </a:solidFill>
                <a:latin typeface="Calibri" panose="020F0502020204030204" pitchFamily="34" charset="0"/>
              </a:rPr>
              <a:t>Create catalogs stored in the platform’s external location</a:t>
            </a:r>
          </a:p>
          <a:p>
            <a:r>
              <a:rPr lang="en-US" sz="1100">
                <a:solidFill>
                  <a:srgbClr val="595959"/>
                </a:solidFill>
                <a:latin typeface="Calibri" panose="020F0502020204030204" pitchFamily="34" charset="0"/>
              </a:rPr>
              <a:t>Baytex BI</a:t>
            </a:r>
            <a:endParaRPr lang="en-CA" sz="1100">
              <a:solidFill>
                <a:srgbClr val="595959"/>
              </a:solidFill>
              <a:latin typeface="Calibri" panose="020F0502020204030204" pitchFamily="34" charset="0"/>
            </a:endParaRPr>
          </a:p>
        </p:txBody>
      </p:sp>
      <p:sp>
        <p:nvSpPr>
          <p:cNvPr id="17" name="TextBox 16">
            <a:extLst>
              <a:ext uri="{FF2B5EF4-FFF2-40B4-BE49-F238E27FC236}">
                <a16:creationId xmlns:a16="http://schemas.microsoft.com/office/drawing/2014/main" id="{17565CF2-C593-AD94-6C84-89AA24BFAACD}"/>
              </a:ext>
            </a:extLst>
          </p:cNvPr>
          <p:cNvSpPr txBox="1"/>
          <p:nvPr/>
        </p:nvSpPr>
        <p:spPr>
          <a:xfrm>
            <a:off x="7366000" y="1320800"/>
            <a:ext cx="4381500" cy="254000"/>
          </a:xfrm>
          <a:prstGeom prst="rect">
            <a:avLst/>
          </a:prstGeom>
          <a:noFill/>
        </p:spPr>
        <p:txBody>
          <a:bodyPr vert="horz" wrap="square" lIns="0" tIns="0" rIns="0" bIns="0" rtlCol="0" anchor="t">
            <a:noAutofit/>
          </a:bodyPr>
          <a:lstStyle/>
          <a:p>
            <a:r>
              <a:rPr lang="en-US" sz="1400" b="1">
                <a:solidFill>
                  <a:srgbClr val="50152C"/>
                </a:solidFill>
                <a:latin typeface="Aptos Display" panose="020B0004020202020204" pitchFamily="34" charset="0"/>
              </a:rPr>
              <a:t>Where to find the details</a:t>
            </a:r>
            <a:endParaRPr lang="en-CA" sz="1400" b="1">
              <a:solidFill>
                <a:srgbClr val="50152C"/>
              </a:solidFill>
              <a:latin typeface="Aptos Display" panose="020B0004020202020204" pitchFamily="34" charset="0"/>
            </a:endParaRPr>
          </a:p>
        </p:txBody>
      </p:sp>
      <p:graphicFrame>
        <p:nvGraphicFramePr>
          <p:cNvPr id="18" name="Table 17">
            <a:extLst>
              <a:ext uri="{FF2B5EF4-FFF2-40B4-BE49-F238E27FC236}">
                <a16:creationId xmlns:a16="http://schemas.microsoft.com/office/drawing/2014/main" id="{8B0B3ACB-06F5-C470-B18A-7ABF684AE1F0}"/>
              </a:ext>
            </a:extLst>
          </p:cNvPr>
          <p:cNvGraphicFramePr>
            <a:graphicFrameLocks noGrp="1"/>
          </p:cNvGraphicFramePr>
          <p:nvPr>
            <p:extLst>
              <p:ext uri="{D42A27DB-BD31-4B8C-83A1-F6EECF244321}">
                <p14:modId xmlns:p14="http://schemas.microsoft.com/office/powerpoint/2010/main" val="3675992949"/>
              </p:ext>
            </p:extLst>
          </p:nvPr>
        </p:nvGraphicFramePr>
        <p:xfrm>
          <a:off x="7366000" y="1701800"/>
          <a:ext cx="4381500" cy="1828800"/>
        </p:xfrm>
        <a:graphic>
          <a:graphicData uri="http://schemas.openxmlformats.org/drawingml/2006/table">
            <a:tbl>
              <a:tblPr firstRow="1" bandRow="1">
                <a:tableStyleId>{5940675A-B579-460E-94D1-54222C63F5DA}</a:tableStyleId>
              </a:tblPr>
              <a:tblGrid>
                <a:gridCol w="1270000">
                  <a:extLst>
                    <a:ext uri="{9D8B030D-6E8A-4147-A177-3AD203B41FA5}">
                      <a16:colId xmlns:a16="http://schemas.microsoft.com/office/drawing/2014/main" val="43554548"/>
                    </a:ext>
                  </a:extLst>
                </a:gridCol>
                <a:gridCol w="3111500">
                  <a:extLst>
                    <a:ext uri="{9D8B030D-6E8A-4147-A177-3AD203B41FA5}">
                      <a16:colId xmlns:a16="http://schemas.microsoft.com/office/drawing/2014/main" val="1370554775"/>
                    </a:ext>
                  </a:extLst>
                </a:gridCol>
              </a:tblGrid>
              <a:tr h="304800">
                <a:tc>
                  <a:txBody>
                    <a:bodyPr/>
                    <a:lstStyle/>
                    <a:p>
                      <a:pPr algn="l"/>
                      <a:r>
                        <a:rPr lang="en-CA" sz="1200" b="1">
                          <a:solidFill>
                            <a:srgbClr val="FFFFFF"/>
                          </a:solidFill>
                          <a:latin typeface="Calibri" panose="020F0502020204030204" pitchFamily="34" charset="0"/>
                        </a:rPr>
                        <a:t>Stage</a:t>
                      </a:r>
                    </a:p>
                  </a:txBody>
                  <a:tcPr marL="76200" marR="76200" marT="38100" marB="38100" anchor="ctr">
                    <a:lnL w="9525" cmpd="sng">
                      <a:solidFill>
                        <a:srgbClr val="ED7D31"/>
                      </a:solidFill>
                    </a:lnL>
                    <a:lnR w="9525" cmpd="sng">
                      <a:solidFill>
                        <a:srgbClr val="ED7D31"/>
                      </a:solidFill>
                    </a:lnR>
                    <a:lnT w="9525" cmpd="sng">
                      <a:solidFill>
                        <a:srgbClr val="ED7D31"/>
                      </a:solidFill>
                    </a:lnT>
                    <a:lnB w="9525" cmpd="sng">
                      <a:solidFill>
                        <a:srgbClr val="ED7D31"/>
                      </a:solidFill>
                    </a:lnB>
                    <a:solidFill>
                      <a:srgbClr val="ED7D31"/>
                    </a:solidFill>
                  </a:tcPr>
                </a:tc>
                <a:tc>
                  <a:txBody>
                    <a:bodyPr/>
                    <a:lstStyle/>
                    <a:p>
                      <a:pPr algn="l"/>
                      <a:r>
                        <a:rPr lang="en-CA" sz="1200" b="1">
                          <a:solidFill>
                            <a:srgbClr val="FFFFFF"/>
                          </a:solidFill>
                          <a:latin typeface="Calibri" panose="020F0502020204030204" pitchFamily="34" charset="0"/>
                        </a:rPr>
                        <a:t>Documents</a:t>
                      </a:r>
                    </a:p>
                  </a:txBody>
                  <a:tcPr marL="76200" marR="76200" marT="38100" marB="38100" anchor="ctr">
                    <a:lnL w="9525" cmpd="sng">
                      <a:solidFill>
                        <a:srgbClr val="ED7D31"/>
                      </a:solidFill>
                    </a:lnL>
                    <a:lnR w="9525" cmpd="sng">
                      <a:solidFill>
                        <a:srgbClr val="ED7D31"/>
                      </a:solidFill>
                    </a:lnR>
                    <a:lnT w="9525" cmpd="sng">
                      <a:solidFill>
                        <a:srgbClr val="ED7D31"/>
                      </a:solidFill>
                    </a:lnT>
                    <a:lnB w="9525" cmpd="sng">
                      <a:solidFill>
                        <a:srgbClr val="ED7D31"/>
                      </a:solidFill>
                    </a:lnB>
                    <a:solidFill>
                      <a:srgbClr val="ED7D31"/>
                    </a:solidFill>
                  </a:tcPr>
                </a:tc>
                <a:extLst>
                  <a:ext uri="{0D108BD9-81ED-4DB2-BD59-A6C34878D82A}">
                    <a16:rowId xmlns:a16="http://schemas.microsoft.com/office/drawing/2014/main" val="2230109431"/>
                  </a:ext>
                </a:extLst>
              </a:tr>
              <a:tr h="304800">
                <a:tc>
                  <a:txBody>
                    <a:bodyPr/>
                    <a:lstStyle/>
                    <a:p>
                      <a:pPr algn="l"/>
                      <a:r>
                        <a:rPr lang="en-CA" sz="1200" b="1">
                          <a:solidFill>
                            <a:srgbClr val="262626"/>
                          </a:solidFill>
                          <a:latin typeface="Calibri" panose="020F0502020204030204" pitchFamily="34" charset="0"/>
                        </a:rPr>
                        <a:t>Understand</a:t>
                      </a:r>
                    </a:p>
                  </a:txBody>
                  <a:tcPr marL="76200" marR="76200" marT="38100" marB="38100" anchor="ctr">
                    <a:lnL w="9525" cmpd="sng">
                      <a:solidFill>
                        <a:srgbClr val="ED7D31"/>
                      </a:solidFill>
                    </a:lnL>
                    <a:lnR w="9525" cmpd="sng">
                      <a:solidFill>
                        <a:srgbClr val="ED7D31"/>
                      </a:solidFill>
                    </a:lnR>
                    <a:lnT w="9525" cmpd="sng">
                      <a:solidFill>
                        <a:srgbClr val="ED7D31"/>
                      </a:solidFill>
                    </a:lnT>
                    <a:lnB w="9525" cmpd="sng">
                      <a:solidFill>
                        <a:srgbClr val="ED7D31"/>
                      </a:solidFill>
                    </a:lnB>
                    <a:solidFill>
                      <a:srgbClr val="FCECE8"/>
                    </a:solidFill>
                  </a:tcPr>
                </a:tc>
                <a:tc>
                  <a:txBody>
                    <a:bodyPr/>
                    <a:lstStyle/>
                    <a:p>
                      <a:pPr algn="l"/>
                      <a:r>
                        <a:rPr lang="en-US" sz="1200" b="0">
                          <a:solidFill>
                            <a:srgbClr val="262626"/>
                          </a:solidFill>
                          <a:latin typeface="Calibri" panose="020F0502020204030204" pitchFamily="34" charset="0"/>
                        </a:rPr>
                        <a:t>Architecture and boundaries; Configuration reference</a:t>
                      </a:r>
                      <a:endParaRPr lang="en-CA" sz="1200" b="0">
                        <a:solidFill>
                          <a:srgbClr val="262626"/>
                        </a:solidFill>
                        <a:latin typeface="Calibri" panose="020F0502020204030204" pitchFamily="34" charset="0"/>
                      </a:endParaRPr>
                    </a:p>
                  </a:txBody>
                  <a:tcPr marL="76200" marR="76200" marT="38100" marB="38100" anchor="ctr">
                    <a:lnL w="9525" cmpd="sng">
                      <a:solidFill>
                        <a:srgbClr val="ED7D31"/>
                      </a:solidFill>
                    </a:lnL>
                    <a:lnR w="9525" cmpd="sng">
                      <a:solidFill>
                        <a:srgbClr val="ED7D31"/>
                      </a:solidFill>
                    </a:lnR>
                    <a:lnT w="9525" cmpd="sng">
                      <a:solidFill>
                        <a:srgbClr val="ED7D31"/>
                      </a:solidFill>
                    </a:lnT>
                    <a:lnB w="9525" cmpd="sng">
                      <a:solidFill>
                        <a:srgbClr val="ED7D31"/>
                      </a:solidFill>
                    </a:lnB>
                    <a:solidFill>
                      <a:srgbClr val="FCECE8"/>
                    </a:solidFill>
                  </a:tcPr>
                </a:tc>
                <a:extLst>
                  <a:ext uri="{0D108BD9-81ED-4DB2-BD59-A6C34878D82A}">
                    <a16:rowId xmlns:a16="http://schemas.microsoft.com/office/drawing/2014/main" val="3719773500"/>
                  </a:ext>
                </a:extLst>
              </a:tr>
              <a:tr h="304800">
                <a:tc>
                  <a:txBody>
                    <a:bodyPr/>
                    <a:lstStyle/>
                    <a:p>
                      <a:pPr algn="l"/>
                      <a:r>
                        <a:rPr lang="en-CA" sz="1200" b="1">
                          <a:solidFill>
                            <a:srgbClr val="262626"/>
                          </a:solidFill>
                          <a:latin typeface="Calibri" panose="020F0502020204030204" pitchFamily="34" charset="0"/>
                        </a:rPr>
                        <a:t>Prepare</a:t>
                      </a:r>
                    </a:p>
                  </a:txBody>
                  <a:tcPr marL="76200" marR="76200" marT="38100" marB="38100" anchor="ctr">
                    <a:lnL w="9525" cmpd="sng">
                      <a:solidFill>
                        <a:srgbClr val="ED7D31"/>
                      </a:solidFill>
                    </a:lnL>
                    <a:lnR w="9525" cmpd="sng">
                      <a:solidFill>
                        <a:srgbClr val="ED7D31"/>
                      </a:solidFill>
                    </a:lnR>
                    <a:lnT w="9525" cmpd="sng">
                      <a:solidFill>
                        <a:srgbClr val="ED7D31"/>
                      </a:solidFill>
                    </a:lnT>
                    <a:lnB w="9525" cmpd="sng">
                      <a:solidFill>
                        <a:srgbClr val="ED7D31"/>
                      </a:solidFill>
                    </a:lnB>
                    <a:solidFill>
                      <a:srgbClr val="FFFFFF"/>
                    </a:solidFill>
                  </a:tcPr>
                </a:tc>
                <a:tc>
                  <a:txBody>
                    <a:bodyPr/>
                    <a:lstStyle/>
                    <a:p>
                      <a:pPr algn="l"/>
                      <a:r>
                        <a:rPr lang="en-US" sz="1200" b="0">
                          <a:solidFill>
                            <a:srgbClr val="262626"/>
                          </a:solidFill>
                          <a:latin typeface="Calibri" panose="020F0502020204030204" pitchFamily="34" charset="0"/>
                        </a:rPr>
                        <a:t>Required inputs; GitHub setup; Pre-deployment checklist</a:t>
                      </a:r>
                      <a:endParaRPr lang="en-CA" sz="1200" b="0">
                        <a:solidFill>
                          <a:srgbClr val="262626"/>
                        </a:solidFill>
                        <a:latin typeface="Calibri" panose="020F0502020204030204" pitchFamily="34" charset="0"/>
                      </a:endParaRPr>
                    </a:p>
                  </a:txBody>
                  <a:tcPr marL="76200" marR="76200" marT="38100" marB="38100" anchor="ctr">
                    <a:lnL w="9525" cmpd="sng">
                      <a:solidFill>
                        <a:srgbClr val="ED7D31"/>
                      </a:solidFill>
                    </a:lnL>
                    <a:lnR w="9525" cmpd="sng">
                      <a:solidFill>
                        <a:srgbClr val="ED7D31"/>
                      </a:solidFill>
                    </a:lnR>
                    <a:lnT w="9525" cmpd="sng">
                      <a:solidFill>
                        <a:srgbClr val="ED7D31"/>
                      </a:solidFill>
                    </a:lnT>
                    <a:lnB w="9525" cmpd="sng">
                      <a:solidFill>
                        <a:srgbClr val="ED7D31"/>
                      </a:solidFill>
                    </a:lnB>
                    <a:solidFill>
                      <a:srgbClr val="FFFFFF"/>
                    </a:solidFill>
                  </a:tcPr>
                </a:tc>
                <a:extLst>
                  <a:ext uri="{0D108BD9-81ED-4DB2-BD59-A6C34878D82A}">
                    <a16:rowId xmlns:a16="http://schemas.microsoft.com/office/drawing/2014/main" val="373238046"/>
                  </a:ext>
                </a:extLst>
              </a:tr>
              <a:tr h="304800">
                <a:tc>
                  <a:txBody>
                    <a:bodyPr/>
                    <a:lstStyle/>
                    <a:p>
                      <a:pPr algn="l"/>
                      <a:r>
                        <a:rPr lang="en-CA" sz="1200" b="1">
                          <a:solidFill>
                            <a:srgbClr val="262626"/>
                          </a:solidFill>
                          <a:latin typeface="Calibri" panose="020F0502020204030204" pitchFamily="34" charset="0"/>
                        </a:rPr>
                        <a:t>Deploy and operate</a:t>
                      </a:r>
                    </a:p>
                  </a:txBody>
                  <a:tcPr marL="76200" marR="76200" marT="38100" marB="38100" anchor="ctr">
                    <a:lnL w="9525" cmpd="sng">
                      <a:solidFill>
                        <a:srgbClr val="ED7D31"/>
                      </a:solidFill>
                    </a:lnL>
                    <a:lnR w="9525" cmpd="sng">
                      <a:solidFill>
                        <a:srgbClr val="ED7D31"/>
                      </a:solidFill>
                    </a:lnR>
                    <a:lnT w="9525" cmpd="sng">
                      <a:solidFill>
                        <a:srgbClr val="ED7D31"/>
                      </a:solidFill>
                    </a:lnT>
                    <a:lnB w="9525" cmpd="sng">
                      <a:solidFill>
                        <a:srgbClr val="ED7D31"/>
                      </a:solidFill>
                    </a:lnB>
                    <a:solidFill>
                      <a:srgbClr val="FCECE8"/>
                    </a:solidFill>
                  </a:tcPr>
                </a:tc>
                <a:tc>
                  <a:txBody>
                    <a:bodyPr/>
                    <a:lstStyle/>
                    <a:p>
                      <a:pPr algn="l"/>
                      <a:r>
                        <a:rPr lang="en-US" sz="1200" b="0">
                          <a:solidFill>
                            <a:srgbClr val="262626"/>
                          </a:solidFill>
                          <a:latin typeface="Calibri" panose="020F0502020204030204" pitchFamily="34" charset="0"/>
                        </a:rPr>
                        <a:t>Deployment runbook; Workflows; Local runs</a:t>
                      </a:r>
                      <a:endParaRPr lang="en-CA" sz="1200" b="0">
                        <a:solidFill>
                          <a:srgbClr val="262626"/>
                        </a:solidFill>
                        <a:latin typeface="Calibri" panose="020F0502020204030204" pitchFamily="34" charset="0"/>
                      </a:endParaRPr>
                    </a:p>
                  </a:txBody>
                  <a:tcPr marL="76200" marR="76200" marT="38100" marB="38100" anchor="ctr">
                    <a:lnL w="9525" cmpd="sng">
                      <a:solidFill>
                        <a:srgbClr val="ED7D31"/>
                      </a:solidFill>
                    </a:lnL>
                    <a:lnR w="9525" cmpd="sng">
                      <a:solidFill>
                        <a:srgbClr val="ED7D31"/>
                      </a:solidFill>
                    </a:lnR>
                    <a:lnT w="9525" cmpd="sng">
                      <a:solidFill>
                        <a:srgbClr val="ED7D31"/>
                      </a:solidFill>
                    </a:lnT>
                    <a:lnB w="9525" cmpd="sng">
                      <a:solidFill>
                        <a:srgbClr val="ED7D31"/>
                      </a:solidFill>
                    </a:lnB>
                    <a:solidFill>
                      <a:srgbClr val="FCECE8"/>
                    </a:solidFill>
                  </a:tcPr>
                </a:tc>
                <a:extLst>
                  <a:ext uri="{0D108BD9-81ED-4DB2-BD59-A6C34878D82A}">
                    <a16:rowId xmlns:a16="http://schemas.microsoft.com/office/drawing/2014/main" val="1810647714"/>
                  </a:ext>
                </a:extLst>
              </a:tr>
              <a:tr h="304800">
                <a:tc>
                  <a:txBody>
                    <a:bodyPr/>
                    <a:lstStyle/>
                    <a:p>
                      <a:pPr algn="l"/>
                      <a:r>
                        <a:rPr lang="en-CA" sz="1200" b="1">
                          <a:solidFill>
                            <a:srgbClr val="262626"/>
                          </a:solidFill>
                          <a:latin typeface="Calibri" panose="020F0502020204030204" pitchFamily="34" charset="0"/>
                        </a:rPr>
                        <a:t>Hand off and accept</a:t>
                      </a:r>
                    </a:p>
                  </a:txBody>
                  <a:tcPr marL="76200" marR="76200" marT="38100" marB="38100" anchor="ctr">
                    <a:lnL w="9525" cmpd="sng">
                      <a:solidFill>
                        <a:srgbClr val="ED7D31"/>
                      </a:solidFill>
                    </a:lnL>
                    <a:lnR w="9525" cmpd="sng">
                      <a:solidFill>
                        <a:srgbClr val="ED7D31"/>
                      </a:solidFill>
                    </a:lnR>
                    <a:lnT w="9525" cmpd="sng">
                      <a:solidFill>
                        <a:srgbClr val="ED7D31"/>
                      </a:solidFill>
                    </a:lnT>
                    <a:lnB w="9525" cmpd="sng">
                      <a:solidFill>
                        <a:srgbClr val="ED7D31"/>
                      </a:solidFill>
                    </a:lnB>
                    <a:solidFill>
                      <a:srgbClr val="FFFFFF"/>
                    </a:solidFill>
                  </a:tcPr>
                </a:tc>
                <a:tc>
                  <a:txBody>
                    <a:bodyPr/>
                    <a:lstStyle/>
                    <a:p>
                      <a:pPr algn="l"/>
                      <a:r>
                        <a:rPr lang="en-US" sz="1200" b="0">
                          <a:solidFill>
                            <a:srgbClr val="262626"/>
                          </a:solidFill>
                          <a:latin typeface="Calibri" panose="020F0502020204030204" pitchFamily="34" charset="0"/>
                        </a:rPr>
                        <a:t>Firewall and DNS handoff; Unity Catalog handoff; Validation and acceptance</a:t>
                      </a:r>
                      <a:endParaRPr lang="en-CA" sz="1200" b="0">
                        <a:solidFill>
                          <a:srgbClr val="262626"/>
                        </a:solidFill>
                        <a:latin typeface="Calibri" panose="020F0502020204030204" pitchFamily="34" charset="0"/>
                      </a:endParaRPr>
                    </a:p>
                  </a:txBody>
                  <a:tcPr marL="76200" marR="76200" marT="38100" marB="38100" anchor="ctr">
                    <a:lnL w="9525" cmpd="sng">
                      <a:solidFill>
                        <a:srgbClr val="ED7D31"/>
                      </a:solidFill>
                    </a:lnL>
                    <a:lnR w="9525" cmpd="sng">
                      <a:solidFill>
                        <a:srgbClr val="ED7D31"/>
                      </a:solidFill>
                    </a:lnR>
                    <a:lnT w="9525" cmpd="sng">
                      <a:solidFill>
                        <a:srgbClr val="ED7D31"/>
                      </a:solidFill>
                    </a:lnT>
                    <a:lnB w="9525" cmpd="sng">
                      <a:solidFill>
                        <a:srgbClr val="ED7D31"/>
                      </a:solidFill>
                    </a:lnB>
                    <a:solidFill>
                      <a:srgbClr val="FFFFFF"/>
                    </a:solidFill>
                  </a:tcPr>
                </a:tc>
                <a:extLst>
                  <a:ext uri="{0D108BD9-81ED-4DB2-BD59-A6C34878D82A}">
                    <a16:rowId xmlns:a16="http://schemas.microsoft.com/office/drawing/2014/main" val="1276648781"/>
                  </a:ext>
                </a:extLst>
              </a:tr>
              <a:tr h="304800">
                <a:tc>
                  <a:txBody>
                    <a:bodyPr/>
                    <a:lstStyle/>
                    <a:p>
                      <a:pPr algn="l"/>
                      <a:r>
                        <a:rPr lang="en-CA" sz="1200" b="1">
                          <a:solidFill>
                            <a:srgbClr val="262626"/>
                          </a:solidFill>
                          <a:latin typeface="Calibri" panose="020F0502020204030204" pitchFamily="34" charset="0"/>
                        </a:rPr>
                        <a:t>Reference</a:t>
                      </a:r>
                    </a:p>
                  </a:txBody>
                  <a:tcPr marL="76200" marR="76200" marT="38100" marB="38100" anchor="ctr">
                    <a:lnL w="9525" cmpd="sng">
                      <a:solidFill>
                        <a:srgbClr val="ED7D31"/>
                      </a:solidFill>
                    </a:lnL>
                    <a:lnR w="9525" cmpd="sng">
                      <a:solidFill>
                        <a:srgbClr val="ED7D31"/>
                      </a:solidFill>
                    </a:lnR>
                    <a:lnT w="9525" cmpd="sng">
                      <a:solidFill>
                        <a:srgbClr val="ED7D31"/>
                      </a:solidFill>
                    </a:lnT>
                    <a:lnB w="9525" cmpd="sng">
                      <a:solidFill>
                        <a:srgbClr val="ED7D31"/>
                      </a:solidFill>
                    </a:lnB>
                    <a:solidFill>
                      <a:srgbClr val="FCECE8"/>
                    </a:solidFill>
                  </a:tcPr>
                </a:tc>
                <a:tc>
                  <a:txBody>
                    <a:bodyPr/>
                    <a:lstStyle/>
                    <a:p>
                      <a:pPr algn="l"/>
                      <a:r>
                        <a:rPr lang="en-US" sz="1200" b="0">
                          <a:solidFill>
                            <a:srgbClr val="262626"/>
                          </a:solidFill>
                          <a:latin typeface="Calibri" panose="020F0502020204030204" pitchFamily="34" charset="0"/>
                        </a:rPr>
                        <a:t>Baytex Docs folder: disaster recovery, data lake backup and recovery, change control</a:t>
                      </a:r>
                      <a:endParaRPr lang="en-CA" sz="1200" b="0">
                        <a:solidFill>
                          <a:srgbClr val="262626"/>
                        </a:solidFill>
                        <a:latin typeface="Calibri" panose="020F0502020204030204" pitchFamily="34" charset="0"/>
                      </a:endParaRPr>
                    </a:p>
                  </a:txBody>
                  <a:tcPr marL="76200" marR="76200" marT="38100" marB="38100" anchor="ctr">
                    <a:lnL w="9525" cmpd="sng">
                      <a:solidFill>
                        <a:srgbClr val="ED7D31"/>
                      </a:solidFill>
                    </a:lnL>
                    <a:lnR w="9525" cmpd="sng">
                      <a:solidFill>
                        <a:srgbClr val="ED7D31"/>
                      </a:solidFill>
                    </a:lnR>
                    <a:lnT w="9525" cmpd="sng">
                      <a:solidFill>
                        <a:srgbClr val="ED7D31"/>
                      </a:solidFill>
                    </a:lnT>
                    <a:lnB w="9525" cmpd="sng">
                      <a:solidFill>
                        <a:srgbClr val="ED7D31"/>
                      </a:solidFill>
                    </a:lnB>
                    <a:solidFill>
                      <a:srgbClr val="FCECE8"/>
                    </a:solidFill>
                  </a:tcPr>
                </a:tc>
                <a:extLst>
                  <a:ext uri="{0D108BD9-81ED-4DB2-BD59-A6C34878D82A}">
                    <a16:rowId xmlns:a16="http://schemas.microsoft.com/office/drawing/2014/main" val="1946921360"/>
                  </a:ext>
                </a:extLst>
              </a:tr>
            </a:tbl>
          </a:graphicData>
        </a:graphic>
      </p:graphicFrame>
    </p:spTree>
    <p:extLst>
      <p:ext uri="{BB962C8B-B14F-4D97-AF65-F5344CB8AC3E}">
        <p14:creationId xmlns:p14="http://schemas.microsoft.com/office/powerpoint/2010/main" val="30373131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A5EAE-B01B-3EB3-5932-58F13B7BFC5C}"/>
              </a:ext>
            </a:extLst>
          </p:cNvPr>
          <p:cNvSpPr>
            <a:spLocks noGrp="1"/>
          </p:cNvSpPr>
          <p:nvPr>
            <p:ph type="title"/>
          </p:nvPr>
        </p:nvSpPr>
        <p:spPr/>
        <p:txBody>
          <a:bodyPr/>
          <a:lstStyle/>
          <a:p>
            <a:r>
              <a:rPr lang="en-CA"/>
              <a:t>Thank You</a:t>
            </a:r>
          </a:p>
        </p:txBody>
      </p:sp>
      <p:sp>
        <p:nvSpPr>
          <p:cNvPr id="3" name="Text Placeholder 2">
            <a:extLst>
              <a:ext uri="{FF2B5EF4-FFF2-40B4-BE49-F238E27FC236}">
                <a16:creationId xmlns:a16="http://schemas.microsoft.com/office/drawing/2014/main" id="{0A639898-C5EE-69F1-27B1-2544649E9829}"/>
              </a:ext>
            </a:extLst>
          </p:cNvPr>
          <p:cNvSpPr>
            <a:spLocks noGrp="1"/>
          </p:cNvSpPr>
          <p:nvPr>
            <p:ph type="body" idx="1"/>
          </p:nvPr>
        </p:nvSpPr>
        <p:spPr/>
        <p:txBody>
          <a:bodyPr/>
          <a:lstStyle/>
          <a:p>
            <a:r>
              <a:rPr lang="en-CA"/>
              <a:t>Questions and discussion</a:t>
            </a:r>
          </a:p>
        </p:txBody>
      </p:sp>
    </p:spTree>
    <p:extLst>
      <p:ext uri="{BB962C8B-B14F-4D97-AF65-F5344CB8AC3E}">
        <p14:creationId xmlns:p14="http://schemas.microsoft.com/office/powerpoint/2010/main" val="2852663900"/>
      </p:ext>
    </p:extLst>
  </p:cSld>
  <p:clrMapOvr>
    <a:masterClrMapping/>
  </p:clrMapOvr>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50152C"/>
      </a:dk2>
      <a:lt2>
        <a:srgbClr val="E7E6E6"/>
      </a:lt2>
      <a:accent1>
        <a:srgbClr val="4472C4"/>
      </a:accent1>
      <a:accent2>
        <a:srgbClr val="ED7D31"/>
      </a:accent2>
      <a:accent3>
        <a:srgbClr val="A5A5A5"/>
      </a:accent3>
      <a:accent4>
        <a:srgbClr val="FFC000"/>
      </a:accent4>
      <a:accent5>
        <a:srgbClr val="5B9BD5"/>
      </a:accent5>
      <a:accent6>
        <a:srgbClr val="70AD47"/>
      </a:accent6>
      <a:hlink>
        <a:srgbClr val="6CACE4"/>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D30D59F9F8CA040AD2D02C75D428C6A" ma:contentTypeVersion="15" ma:contentTypeDescription="Create a new document." ma:contentTypeScope="" ma:versionID="d528c5fc96ffee2f76ff91af6f7a0e82">
  <xsd:schema xmlns:xsd="http://www.w3.org/2001/XMLSchema" xmlns:xs="http://www.w3.org/2001/XMLSchema" xmlns:p="http://schemas.microsoft.com/office/2006/metadata/properties" xmlns:ns2="e5dc3355-895e-4590-b4c7-4f5232d98d4d" xmlns:ns3="627bab78-14fc-4e23-afda-2c560885cdf7" targetNamespace="http://schemas.microsoft.com/office/2006/metadata/properties" ma:root="true" ma:fieldsID="28a0a332483fd71b4decf37aab205911" ns2:_="" ns3:_="">
    <xsd:import namespace="e5dc3355-895e-4590-b4c7-4f5232d98d4d"/>
    <xsd:import namespace="627bab78-14fc-4e23-afda-2c560885cdf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ServiceObjectDetectorVersion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5dc3355-895e-4590-b4c7-4f5232d98d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afe75fc-57ff-461a-b1c9-cfa43d3728c1"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627bab78-14fc-4e23-afda-2c560885cdf7"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15" nillable="true" ma:displayName="Taxonomy Catch All Column" ma:hidden="true" ma:list="{fc1d520c-813a-4290-8731-903e49e4352f}" ma:internalName="TaxCatchAll" ma:readOnly="false" ma:showField="CatchAllData" ma:web="627bab78-14fc-4e23-afda-2c560885cdf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e5dc3355-895e-4590-b4c7-4f5232d98d4d">
      <Terms xmlns="http://schemas.microsoft.com/office/infopath/2007/PartnerControls"/>
    </lcf76f155ced4ddcb4097134ff3c332f>
    <TaxCatchAll xmlns="627bab78-14fc-4e23-afda-2c560885cdf7" xsi:nil="true"/>
  </documentManagement>
</p:properties>
</file>

<file path=customXml/itemProps1.xml><?xml version="1.0" encoding="utf-8"?>
<ds:datastoreItem xmlns:ds="http://schemas.openxmlformats.org/officeDocument/2006/customXml" ds:itemID="{35DB550E-5A45-4E20-8C54-D677A8D94FD5}">
  <ds:schemaRefs>
    <ds:schemaRef ds:uri="http://schemas.microsoft.com/sharepoint/v3/contenttype/forms"/>
  </ds:schemaRefs>
</ds:datastoreItem>
</file>

<file path=customXml/itemProps2.xml><?xml version="1.0" encoding="utf-8"?>
<ds:datastoreItem xmlns:ds="http://schemas.openxmlformats.org/officeDocument/2006/customXml" ds:itemID="{6B5ECAA5-5F58-48AC-A724-79870B8A0736}">
  <ds:schemaRefs>
    <ds:schemaRef ds:uri="627bab78-14fc-4e23-afda-2c560885cdf7"/>
    <ds:schemaRef ds:uri="e5dc3355-895e-4590-b4c7-4f5232d98d4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D2C819DA-9FA6-4A8D-BD49-D9DE4ACDFAA9}">
  <ds:schemaRefs>
    <ds:schemaRef ds:uri="http://purl.org/dc/dcmitype/"/>
    <ds:schemaRef ds:uri="http://schemas.microsoft.com/office/2006/documentManagement/types"/>
    <ds:schemaRef ds:uri="http://purl.org/dc/terms/"/>
    <ds:schemaRef ds:uri="http://schemas.openxmlformats.org/package/2006/metadata/core-properties"/>
    <ds:schemaRef ds:uri="http://schemas.microsoft.com/office/2006/metadata/properties"/>
    <ds:schemaRef ds:uri="http://www.w3.org/XML/1998/namespace"/>
    <ds:schemaRef ds:uri="http://purl.org/dc/elements/1.1/"/>
    <ds:schemaRef ds:uri="627bab78-14fc-4e23-afda-2c560885cdf7"/>
    <ds:schemaRef ds:uri="http://schemas.microsoft.com/office/infopath/2007/PartnerControls"/>
    <ds:schemaRef ds:uri="e5dc3355-895e-4590-b4c7-4f5232d98d4d"/>
  </ds:schemaRefs>
</ds:datastoreItem>
</file>

<file path=docProps/app.xml><?xml version="1.0" encoding="utf-8"?>
<Properties xmlns="http://schemas.openxmlformats.org/officeDocument/2006/extended-properties" xmlns:vt="http://schemas.openxmlformats.org/officeDocument/2006/docPropsVTypes">
  <TotalTime>1</TotalTime>
  <Words>2430</Words>
  <Application>Microsoft Office PowerPoint</Application>
  <PresentationFormat>Widescreen</PresentationFormat>
  <Paragraphs>390</Paragraphs>
  <Slides>18</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Aptos Display</vt:lpstr>
      <vt:lpstr>Arial</vt:lpstr>
      <vt:lpstr>Wingdings</vt:lpstr>
      <vt:lpstr>Calibri</vt:lpstr>
      <vt:lpstr>Consolas</vt:lpstr>
      <vt:lpstr>Office Theme</vt:lpstr>
      <vt:lpstr>Azure Databricks Platform Handoff</vt:lpstr>
      <vt:lpstr>Platform Overview</vt:lpstr>
      <vt:lpstr>What We Built</vt:lpstr>
      <vt:lpstr>Platform Architecture</vt:lpstr>
      <vt:lpstr>Environment Architecture</vt:lpstr>
      <vt:lpstr>What Each Environment Contains</vt:lpstr>
      <vt:lpstr>Address Ranges and Subscriptions</vt:lpstr>
      <vt:lpstr>How It Works</vt:lpstr>
      <vt:lpstr>How Traffic Flows</vt:lpstr>
      <vt:lpstr>Serverless Access to On-premises</vt:lpstr>
      <vt:lpstr>Data Access and Unity Catalog</vt:lpstr>
      <vt:lpstr>Security by Design</vt:lpstr>
      <vt:lpstr>How Changes Are Deployed</vt:lpstr>
      <vt:lpstr>Running the Platform Day to Day</vt:lpstr>
      <vt:lpstr>Handover and Next Steps</vt:lpstr>
      <vt:lpstr>Who Owns What</vt:lpstr>
      <vt:lpstr>Next Steps and Documentation</vt:lpstr>
      <vt:lpstr>Thank You</vt:lpstr>
    </vt:vector>
  </TitlesOfParts>
  <Company>AMTRA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Baytex Azure Databricks Platform Handoff</dc:title>
  <dc:creator>AMTRA</dc:creator>
  <cp:lastModifiedBy>Vedant Patel</cp:lastModifiedBy>
  <cp:revision>2</cp:revision>
  <dcterms:created xsi:type="dcterms:W3CDTF">2024-01-18T14:07:40Z</dcterms:created>
  <dcterms:modified xsi:type="dcterms:W3CDTF">2026-10-28T23:15:02Z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0x010100CD30D59F9F8CA040AD2D02C75D428C6A</vt:lpwstr>
  </property>
  <property fmtid="{D5CDD505-2E9C-101B-9397-08002B2CF9AE}" pid="3" name="MediaServiceImageTags">
    <vt:lpwstr/>
  </property>
</Properties>
</file>